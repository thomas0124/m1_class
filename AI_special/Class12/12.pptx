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E1"/>
    <a:srgbClr val="E2F0D9"/>
    <a:srgbClr val="008000"/>
    <a:srgbClr val="FFF7FF"/>
    <a:srgbClr val="F9F9F9"/>
    <a:srgbClr val="F2F8EE"/>
    <a:srgbClr val="FFE1FF"/>
    <a:srgbClr val="ECF3FA"/>
    <a:srgbClr val="E5F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939" autoAdjust="0"/>
  </p:normalViewPr>
  <p:slideViewPr>
    <p:cSldViewPr snapToGrid="0">
      <p:cViewPr varScale="1">
        <p:scale>
          <a:sx n="80" d="100"/>
          <a:sy n="80" d="100"/>
        </p:scale>
        <p:origin x="782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3.emf"/><Relationship Id="rId7" Type="http://schemas.openxmlformats.org/officeDocument/2006/relationships/image" Target="../media/image8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2.emf"/><Relationship Id="rId7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image" Target="../media/image30.wmf"/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12" Type="http://schemas.openxmlformats.org/officeDocument/2006/relationships/image" Target="../media/image29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11" Type="http://schemas.openxmlformats.org/officeDocument/2006/relationships/image" Target="../media/image28.wmf"/><Relationship Id="rId5" Type="http://schemas.openxmlformats.org/officeDocument/2006/relationships/image" Target="../media/image22.wmf"/><Relationship Id="rId15" Type="http://schemas.openxmlformats.org/officeDocument/2006/relationships/image" Target="../media/image32.wmf"/><Relationship Id="rId10" Type="http://schemas.openxmlformats.org/officeDocument/2006/relationships/image" Target="../media/image27.wmf"/><Relationship Id="rId4" Type="http://schemas.openxmlformats.org/officeDocument/2006/relationships/image" Target="../media/image21.wmf"/><Relationship Id="rId9" Type="http://schemas.openxmlformats.org/officeDocument/2006/relationships/image" Target="../media/image26.wmf"/><Relationship Id="rId14" Type="http://schemas.openxmlformats.org/officeDocument/2006/relationships/image" Target="../media/image31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35.wmf"/><Relationship Id="rId7" Type="http://schemas.openxmlformats.org/officeDocument/2006/relationships/image" Target="../media/image38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7" Type="http://schemas.openxmlformats.org/officeDocument/2006/relationships/image" Target="../media/image42.wmf"/><Relationship Id="rId2" Type="http://schemas.openxmlformats.org/officeDocument/2006/relationships/image" Target="../media/image40.wmf"/><Relationship Id="rId1" Type="http://schemas.openxmlformats.org/officeDocument/2006/relationships/image" Target="../media/image37.wmf"/><Relationship Id="rId6" Type="http://schemas.openxmlformats.org/officeDocument/2006/relationships/image" Target="../media/image38.wmf"/><Relationship Id="rId5" Type="http://schemas.openxmlformats.org/officeDocument/2006/relationships/image" Target="../media/image21.wmf"/><Relationship Id="rId4" Type="http://schemas.openxmlformats.org/officeDocument/2006/relationships/image" Target="../media/image4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6" Type="http://schemas.openxmlformats.org/officeDocument/2006/relationships/image" Target="../media/image39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49.wmf"/><Relationship Id="rId1" Type="http://schemas.openxmlformats.org/officeDocument/2006/relationships/image" Target="../media/image39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image" Target="../media/image57.wmf"/><Relationship Id="rId7" Type="http://schemas.openxmlformats.org/officeDocument/2006/relationships/image" Target="../media/image61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11" Type="http://schemas.openxmlformats.org/officeDocument/2006/relationships/image" Target="../media/image65.wmf"/><Relationship Id="rId5" Type="http://schemas.openxmlformats.org/officeDocument/2006/relationships/image" Target="../media/image59.wmf"/><Relationship Id="rId10" Type="http://schemas.openxmlformats.org/officeDocument/2006/relationships/image" Target="../media/image64.wmf"/><Relationship Id="rId4" Type="http://schemas.openxmlformats.org/officeDocument/2006/relationships/image" Target="../media/image58.wmf"/><Relationship Id="rId9" Type="http://schemas.openxmlformats.org/officeDocument/2006/relationships/image" Target="../media/image63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image" Target="../media/image57.wmf"/><Relationship Id="rId7" Type="http://schemas.openxmlformats.org/officeDocument/2006/relationships/image" Target="../media/image64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67.wmf"/><Relationship Id="rId11" Type="http://schemas.openxmlformats.org/officeDocument/2006/relationships/image" Target="../media/image71.emf"/><Relationship Id="rId5" Type="http://schemas.openxmlformats.org/officeDocument/2006/relationships/image" Target="../media/image66.wmf"/><Relationship Id="rId10" Type="http://schemas.openxmlformats.org/officeDocument/2006/relationships/image" Target="../media/image70.wmf"/><Relationship Id="rId4" Type="http://schemas.openxmlformats.org/officeDocument/2006/relationships/image" Target="../media/image58.wmf"/><Relationship Id="rId9" Type="http://schemas.openxmlformats.org/officeDocument/2006/relationships/image" Target="../media/image69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image" Target="../media/image74.wmf"/><Relationship Id="rId7" Type="http://schemas.openxmlformats.org/officeDocument/2006/relationships/image" Target="../media/image78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6" Type="http://schemas.openxmlformats.org/officeDocument/2006/relationships/image" Target="../media/image77.wmf"/><Relationship Id="rId5" Type="http://schemas.openxmlformats.org/officeDocument/2006/relationships/image" Target="../media/image76.wmf"/><Relationship Id="rId10" Type="http://schemas.openxmlformats.org/officeDocument/2006/relationships/image" Target="../media/image81.wmf"/><Relationship Id="rId4" Type="http://schemas.openxmlformats.org/officeDocument/2006/relationships/image" Target="../media/image75.wmf"/><Relationship Id="rId9" Type="http://schemas.openxmlformats.org/officeDocument/2006/relationships/image" Target="../media/image80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image" Target="../media/image89.wmf"/><Relationship Id="rId3" Type="http://schemas.openxmlformats.org/officeDocument/2006/relationships/image" Target="../media/image80.wmf"/><Relationship Id="rId7" Type="http://schemas.openxmlformats.org/officeDocument/2006/relationships/image" Target="../media/image78.wmf"/><Relationship Id="rId12" Type="http://schemas.openxmlformats.org/officeDocument/2006/relationships/image" Target="../media/image88.wmf"/><Relationship Id="rId2" Type="http://schemas.openxmlformats.org/officeDocument/2006/relationships/image" Target="../media/image79.wmf"/><Relationship Id="rId1" Type="http://schemas.openxmlformats.org/officeDocument/2006/relationships/image" Target="../media/image76.wmf"/><Relationship Id="rId6" Type="http://schemas.openxmlformats.org/officeDocument/2006/relationships/image" Target="../media/image77.wmf"/><Relationship Id="rId11" Type="http://schemas.openxmlformats.org/officeDocument/2006/relationships/image" Target="../media/image87.wmf"/><Relationship Id="rId5" Type="http://schemas.openxmlformats.org/officeDocument/2006/relationships/image" Target="../media/image83.wmf"/><Relationship Id="rId10" Type="http://schemas.openxmlformats.org/officeDocument/2006/relationships/image" Target="../media/image86.wmf"/><Relationship Id="rId4" Type="http://schemas.openxmlformats.org/officeDocument/2006/relationships/image" Target="../media/image82.wmf"/><Relationship Id="rId9" Type="http://schemas.openxmlformats.org/officeDocument/2006/relationships/image" Target="../media/image85.wmf"/><Relationship Id="rId14" Type="http://schemas.openxmlformats.org/officeDocument/2006/relationships/image" Target="../media/image90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image" Target="../media/image93.wmf"/><Relationship Id="rId7" Type="http://schemas.openxmlformats.org/officeDocument/2006/relationships/image" Target="../media/image97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6" Type="http://schemas.openxmlformats.org/officeDocument/2006/relationships/image" Target="../media/image96.wmf"/><Relationship Id="rId5" Type="http://schemas.openxmlformats.org/officeDocument/2006/relationships/image" Target="../media/image95.wmf"/><Relationship Id="rId4" Type="http://schemas.openxmlformats.org/officeDocument/2006/relationships/image" Target="../media/image94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image" Target="../media/image95.wmf"/><Relationship Id="rId7" Type="http://schemas.openxmlformats.org/officeDocument/2006/relationships/image" Target="../media/image102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Relationship Id="rId6" Type="http://schemas.openxmlformats.org/officeDocument/2006/relationships/image" Target="../media/image101.wmf"/><Relationship Id="rId11" Type="http://schemas.openxmlformats.org/officeDocument/2006/relationships/image" Target="../media/image106.wmf"/><Relationship Id="rId5" Type="http://schemas.openxmlformats.org/officeDocument/2006/relationships/image" Target="../media/image100.wmf"/><Relationship Id="rId10" Type="http://schemas.openxmlformats.org/officeDocument/2006/relationships/image" Target="../media/image105.wmf"/><Relationship Id="rId4" Type="http://schemas.openxmlformats.org/officeDocument/2006/relationships/image" Target="../media/image99.wmf"/><Relationship Id="rId9" Type="http://schemas.openxmlformats.org/officeDocument/2006/relationships/image" Target="../media/image104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image" Target="../media/image108.wmf"/><Relationship Id="rId7" Type="http://schemas.openxmlformats.org/officeDocument/2006/relationships/image" Target="../media/image112.wmf"/><Relationship Id="rId2" Type="http://schemas.openxmlformats.org/officeDocument/2006/relationships/image" Target="../media/image92.wmf"/><Relationship Id="rId1" Type="http://schemas.openxmlformats.org/officeDocument/2006/relationships/image" Target="../media/image107.wmf"/><Relationship Id="rId6" Type="http://schemas.openxmlformats.org/officeDocument/2006/relationships/image" Target="../media/image111.wmf"/><Relationship Id="rId5" Type="http://schemas.openxmlformats.org/officeDocument/2006/relationships/image" Target="../media/image110.wmf"/><Relationship Id="rId4" Type="http://schemas.openxmlformats.org/officeDocument/2006/relationships/image" Target="../media/image109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image" Target="../media/image120.wmf"/><Relationship Id="rId3" Type="http://schemas.openxmlformats.org/officeDocument/2006/relationships/image" Target="../media/image110.wmf"/><Relationship Id="rId7" Type="http://schemas.openxmlformats.org/officeDocument/2006/relationships/image" Target="../media/image114.wmf"/><Relationship Id="rId12" Type="http://schemas.openxmlformats.org/officeDocument/2006/relationships/image" Target="../media/image119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6" Type="http://schemas.openxmlformats.org/officeDocument/2006/relationships/image" Target="../media/image101.wmf"/><Relationship Id="rId11" Type="http://schemas.openxmlformats.org/officeDocument/2006/relationships/image" Target="../media/image118.wmf"/><Relationship Id="rId5" Type="http://schemas.openxmlformats.org/officeDocument/2006/relationships/image" Target="../media/image100.wmf"/><Relationship Id="rId15" Type="http://schemas.openxmlformats.org/officeDocument/2006/relationships/image" Target="../media/image122.wmf"/><Relationship Id="rId10" Type="http://schemas.openxmlformats.org/officeDocument/2006/relationships/image" Target="../media/image117.wmf"/><Relationship Id="rId4" Type="http://schemas.openxmlformats.org/officeDocument/2006/relationships/image" Target="../media/image113.wmf"/><Relationship Id="rId9" Type="http://schemas.openxmlformats.org/officeDocument/2006/relationships/image" Target="../media/image116.wmf"/><Relationship Id="rId14" Type="http://schemas.openxmlformats.org/officeDocument/2006/relationships/image" Target="../media/image121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3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2AE6F6-0660-4CF5-85EA-3FECDD464FB2}" type="datetimeFigureOut">
              <a:rPr kumimoji="1" lang="ja-JP" altLang="en-US" smtClean="0"/>
              <a:t>2025/5/17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CAD8D0-B2D3-4150-8A4B-1A161997F1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304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CAD8D0-B2D3-4150-8A4B-1A161997F1D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2679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CAD8D0-B2D3-4150-8A4B-1A161997F1D2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7322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CAD8D0-B2D3-4150-8A4B-1A161997F1D2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6118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CAD8D0-B2D3-4150-8A4B-1A161997F1D2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3584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C6678-68AB-4665-9A51-0766848E856B}" type="datetimeFigureOut">
              <a:rPr kumimoji="1" lang="ja-JP" altLang="en-US" smtClean="0"/>
              <a:t>2025/5/17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3334E-0416-4F03-9F66-C90E4363FB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6094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C6678-68AB-4665-9A51-0766848E856B}" type="datetimeFigureOut">
              <a:rPr kumimoji="1" lang="ja-JP" altLang="en-US" smtClean="0"/>
              <a:t>2025/5/17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3334E-0416-4F03-9F66-C90E4363FB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771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C6678-68AB-4665-9A51-0766848E856B}" type="datetimeFigureOut">
              <a:rPr kumimoji="1" lang="ja-JP" altLang="en-US" smtClean="0"/>
              <a:t>2025/5/17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3334E-0416-4F03-9F66-C90E4363FB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5372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C6678-68AB-4665-9A51-0766848E856B}" type="datetimeFigureOut">
              <a:rPr kumimoji="1" lang="ja-JP" altLang="en-US" smtClean="0"/>
              <a:t>2025/5/17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3334E-0416-4F03-9F66-C90E4363FB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8814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C6678-68AB-4665-9A51-0766848E856B}" type="datetimeFigureOut">
              <a:rPr kumimoji="1" lang="ja-JP" altLang="en-US" smtClean="0"/>
              <a:t>2025/5/17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3334E-0416-4F03-9F66-C90E4363FB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1140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C6678-68AB-4665-9A51-0766848E856B}" type="datetimeFigureOut">
              <a:rPr kumimoji="1" lang="ja-JP" altLang="en-US" smtClean="0"/>
              <a:t>2025/5/17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3334E-0416-4F03-9F66-C90E4363FB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081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C6678-68AB-4665-9A51-0766848E856B}" type="datetimeFigureOut">
              <a:rPr kumimoji="1" lang="ja-JP" altLang="en-US" smtClean="0"/>
              <a:t>2025/5/17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3334E-0416-4F03-9F66-C90E4363FB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885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C6678-68AB-4665-9A51-0766848E856B}" type="datetimeFigureOut">
              <a:rPr kumimoji="1" lang="ja-JP" altLang="en-US" smtClean="0"/>
              <a:t>2025/5/17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3334E-0416-4F03-9F66-C90E4363FB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0085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C6678-68AB-4665-9A51-0766848E856B}" type="datetimeFigureOut">
              <a:rPr kumimoji="1" lang="ja-JP" altLang="en-US" smtClean="0"/>
              <a:t>2025/5/17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3334E-0416-4F03-9F66-C90E4363FB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437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C6678-68AB-4665-9A51-0766848E856B}" type="datetimeFigureOut">
              <a:rPr kumimoji="1" lang="ja-JP" altLang="en-US" smtClean="0"/>
              <a:t>2025/5/17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3334E-0416-4F03-9F66-C90E4363FB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7528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C6678-68AB-4665-9A51-0766848E856B}" type="datetimeFigureOut">
              <a:rPr kumimoji="1" lang="ja-JP" altLang="en-US" smtClean="0"/>
              <a:t>2025/5/17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3334E-0416-4F03-9F66-C90E4363FB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1567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C6678-68AB-4665-9A51-0766848E856B}" type="datetimeFigureOut">
              <a:rPr kumimoji="1" lang="ja-JP" altLang="en-US" smtClean="0"/>
              <a:t>2025/5/17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3334E-0416-4F03-9F66-C90E4363FB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9785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13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oleObject" Target="../embeddings/oleObject10.bin"/><Relationship Id="rId17" Type="http://schemas.openxmlformats.org/officeDocument/2006/relationships/image" Target="../media/image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wmf"/><Relationship Id="rId11" Type="http://schemas.openxmlformats.org/officeDocument/2006/relationships/image" Target="../media/image5.wmf"/><Relationship Id="rId5" Type="http://schemas.openxmlformats.org/officeDocument/2006/relationships/oleObject" Target="../embeddings/oleObject6.bin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9.bin"/><Relationship Id="rId19" Type="http://schemas.openxmlformats.org/officeDocument/2006/relationships/image" Target="../media/image9.e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8.bin"/><Relationship Id="rId14" Type="http://schemas.openxmlformats.org/officeDocument/2006/relationships/oleObject" Target="../embeddings/oleObject1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wai-chem.co.jp/products/targetmol/virtual-screening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17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14.wmf"/><Relationship Id="rId17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13.e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15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wmf"/><Relationship Id="rId18" Type="http://schemas.openxmlformats.org/officeDocument/2006/relationships/oleObject" Target="../embeddings/oleObject29.bin"/><Relationship Id="rId26" Type="http://schemas.openxmlformats.org/officeDocument/2006/relationships/oleObject" Target="../embeddings/oleObject33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26.wmf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24.wmf"/><Relationship Id="rId25" Type="http://schemas.openxmlformats.org/officeDocument/2006/relationships/image" Target="../media/image28.wmf"/><Relationship Id="rId33" Type="http://schemas.openxmlformats.org/officeDocument/2006/relationships/image" Target="../media/image3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29" Type="http://schemas.openxmlformats.org/officeDocument/2006/relationships/image" Target="../media/image30.wmf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1.wmf"/><Relationship Id="rId24" Type="http://schemas.openxmlformats.org/officeDocument/2006/relationships/oleObject" Target="../embeddings/oleObject32.bin"/><Relationship Id="rId32" Type="http://schemas.openxmlformats.org/officeDocument/2006/relationships/oleObject" Target="../embeddings/oleObject36.bin"/><Relationship Id="rId5" Type="http://schemas.openxmlformats.org/officeDocument/2006/relationships/image" Target="../media/image18.wmf"/><Relationship Id="rId15" Type="http://schemas.openxmlformats.org/officeDocument/2006/relationships/image" Target="../media/image23.wmf"/><Relationship Id="rId23" Type="http://schemas.openxmlformats.org/officeDocument/2006/relationships/image" Target="../media/image27.wmf"/><Relationship Id="rId28" Type="http://schemas.openxmlformats.org/officeDocument/2006/relationships/oleObject" Target="../embeddings/oleObject34.bin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25.wmf"/><Relationship Id="rId31" Type="http://schemas.openxmlformats.org/officeDocument/2006/relationships/image" Target="../media/image31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0.wmf"/><Relationship Id="rId14" Type="http://schemas.openxmlformats.org/officeDocument/2006/relationships/oleObject" Target="../embeddings/oleObject27.bin"/><Relationship Id="rId22" Type="http://schemas.openxmlformats.org/officeDocument/2006/relationships/oleObject" Target="../embeddings/oleObject31.bin"/><Relationship Id="rId27" Type="http://schemas.openxmlformats.org/officeDocument/2006/relationships/image" Target="../media/image29.wmf"/><Relationship Id="rId30" Type="http://schemas.openxmlformats.org/officeDocument/2006/relationships/oleObject" Target="../embeddings/oleObject35.bin"/><Relationship Id="rId8" Type="http://schemas.openxmlformats.org/officeDocument/2006/relationships/oleObject" Target="../embeddings/oleObject2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41.bin"/><Relationship Id="rId18" Type="http://schemas.openxmlformats.org/officeDocument/2006/relationships/image" Target="../media/image39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36.wmf"/><Relationship Id="rId17" Type="http://schemas.openxmlformats.org/officeDocument/2006/relationships/oleObject" Target="../embeddings/oleObject4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2.bin"/><Relationship Id="rId10" Type="http://schemas.openxmlformats.org/officeDocument/2006/relationships/image" Target="../media/image21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37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48.bin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21.wmf"/><Relationship Id="rId17" Type="http://schemas.openxmlformats.org/officeDocument/2006/relationships/image" Target="../media/image4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0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45.bin"/><Relationship Id="rId15" Type="http://schemas.openxmlformats.org/officeDocument/2006/relationships/image" Target="../media/image38.wmf"/><Relationship Id="rId10" Type="http://schemas.openxmlformats.org/officeDocument/2006/relationships/image" Target="../media/image41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47.bin"/><Relationship Id="rId14" Type="http://schemas.openxmlformats.org/officeDocument/2006/relationships/oleObject" Target="../embeddings/oleObject49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oleObject" Target="../embeddings/oleObject58.bin"/><Relationship Id="rId18" Type="http://schemas.openxmlformats.org/officeDocument/2006/relationships/oleObject" Target="../embeddings/oleObject62.bin"/><Relationship Id="rId3" Type="http://schemas.openxmlformats.org/officeDocument/2006/relationships/oleObject" Target="../embeddings/oleObject51.bin"/><Relationship Id="rId21" Type="http://schemas.openxmlformats.org/officeDocument/2006/relationships/oleObject" Target="../embeddings/oleObject64.bin"/><Relationship Id="rId7" Type="http://schemas.openxmlformats.org/officeDocument/2006/relationships/oleObject" Target="../embeddings/oleObject53.bin"/><Relationship Id="rId12" Type="http://schemas.openxmlformats.org/officeDocument/2006/relationships/oleObject" Target="../embeddings/oleObject57.bin"/><Relationship Id="rId17" Type="http://schemas.openxmlformats.org/officeDocument/2006/relationships/image" Target="../media/image4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1.bin"/><Relationship Id="rId20" Type="http://schemas.openxmlformats.org/officeDocument/2006/relationships/image" Target="../media/image46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44.wmf"/><Relationship Id="rId11" Type="http://schemas.openxmlformats.org/officeDocument/2006/relationships/image" Target="../media/image48.png"/><Relationship Id="rId24" Type="http://schemas.openxmlformats.org/officeDocument/2006/relationships/image" Target="../media/image39.wmf"/><Relationship Id="rId5" Type="http://schemas.openxmlformats.org/officeDocument/2006/relationships/oleObject" Target="../embeddings/oleObject52.bin"/><Relationship Id="rId15" Type="http://schemas.openxmlformats.org/officeDocument/2006/relationships/oleObject" Target="../embeddings/oleObject60.bin"/><Relationship Id="rId23" Type="http://schemas.openxmlformats.org/officeDocument/2006/relationships/oleObject" Target="../embeddings/oleObject65.bin"/><Relationship Id="rId10" Type="http://schemas.openxmlformats.org/officeDocument/2006/relationships/oleObject" Target="../embeddings/oleObject56.bin"/><Relationship Id="rId19" Type="http://schemas.openxmlformats.org/officeDocument/2006/relationships/oleObject" Target="../embeddings/oleObject63.bin"/><Relationship Id="rId4" Type="http://schemas.openxmlformats.org/officeDocument/2006/relationships/image" Target="../media/image43.wmf"/><Relationship Id="rId9" Type="http://schemas.openxmlformats.org/officeDocument/2006/relationships/oleObject" Target="../embeddings/oleObject55.bin"/><Relationship Id="rId14" Type="http://schemas.openxmlformats.org/officeDocument/2006/relationships/oleObject" Target="../embeddings/oleObject59.bin"/><Relationship Id="rId22" Type="http://schemas.openxmlformats.org/officeDocument/2006/relationships/image" Target="../media/image4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5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7.bin"/><Relationship Id="rId10" Type="http://schemas.openxmlformats.org/officeDocument/2006/relationships/image" Target="../media/image50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68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52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59.wmf"/><Relationship Id="rId18" Type="http://schemas.openxmlformats.org/officeDocument/2006/relationships/oleObject" Target="../embeddings/oleObject80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63.wmf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77.bin"/><Relationship Id="rId17" Type="http://schemas.openxmlformats.org/officeDocument/2006/relationships/image" Target="../media/image61.wmf"/><Relationship Id="rId25" Type="http://schemas.openxmlformats.org/officeDocument/2006/relationships/image" Target="../media/image6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9.bin"/><Relationship Id="rId20" Type="http://schemas.openxmlformats.org/officeDocument/2006/relationships/oleObject" Target="../embeddings/oleObject81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58.wmf"/><Relationship Id="rId24" Type="http://schemas.openxmlformats.org/officeDocument/2006/relationships/oleObject" Target="../embeddings/oleObject83.bin"/><Relationship Id="rId5" Type="http://schemas.openxmlformats.org/officeDocument/2006/relationships/image" Target="../media/image55.wmf"/><Relationship Id="rId15" Type="http://schemas.openxmlformats.org/officeDocument/2006/relationships/image" Target="../media/image60.wmf"/><Relationship Id="rId23" Type="http://schemas.openxmlformats.org/officeDocument/2006/relationships/image" Target="../media/image64.wmf"/><Relationship Id="rId10" Type="http://schemas.openxmlformats.org/officeDocument/2006/relationships/oleObject" Target="../embeddings/oleObject76.bin"/><Relationship Id="rId19" Type="http://schemas.openxmlformats.org/officeDocument/2006/relationships/image" Target="../media/image62.wmf"/><Relationship Id="rId4" Type="http://schemas.openxmlformats.org/officeDocument/2006/relationships/oleObject" Target="../embeddings/oleObject73.bin"/><Relationship Id="rId9" Type="http://schemas.openxmlformats.org/officeDocument/2006/relationships/image" Target="../media/image57.wmf"/><Relationship Id="rId14" Type="http://schemas.openxmlformats.org/officeDocument/2006/relationships/oleObject" Target="../embeddings/oleObject78.bin"/><Relationship Id="rId22" Type="http://schemas.openxmlformats.org/officeDocument/2006/relationships/oleObject" Target="../embeddings/oleObject8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oleObject" Target="../embeddings/oleObject89.bin"/><Relationship Id="rId18" Type="http://schemas.openxmlformats.org/officeDocument/2006/relationships/image" Target="../media/image68.wmf"/><Relationship Id="rId3" Type="http://schemas.openxmlformats.org/officeDocument/2006/relationships/oleObject" Target="../embeddings/oleObject84.bin"/><Relationship Id="rId21" Type="http://schemas.openxmlformats.org/officeDocument/2006/relationships/oleObject" Target="../embeddings/oleObject93.bin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66.wmf"/><Relationship Id="rId17" Type="http://schemas.openxmlformats.org/officeDocument/2006/relationships/oleObject" Target="../embeddings/oleObject9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4.wmf"/><Relationship Id="rId20" Type="http://schemas.openxmlformats.org/officeDocument/2006/relationships/image" Target="../media/image69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88.bin"/><Relationship Id="rId24" Type="http://schemas.openxmlformats.org/officeDocument/2006/relationships/image" Target="../media/image71.emf"/><Relationship Id="rId5" Type="http://schemas.openxmlformats.org/officeDocument/2006/relationships/oleObject" Target="../embeddings/oleObject85.bin"/><Relationship Id="rId15" Type="http://schemas.openxmlformats.org/officeDocument/2006/relationships/oleObject" Target="../embeddings/oleObject90.bin"/><Relationship Id="rId23" Type="http://schemas.openxmlformats.org/officeDocument/2006/relationships/oleObject" Target="../embeddings/oleObject94.bin"/><Relationship Id="rId10" Type="http://schemas.openxmlformats.org/officeDocument/2006/relationships/image" Target="../media/image58.wmf"/><Relationship Id="rId19" Type="http://schemas.openxmlformats.org/officeDocument/2006/relationships/oleObject" Target="../embeddings/oleObject92.bin"/><Relationship Id="rId4" Type="http://schemas.openxmlformats.org/officeDocument/2006/relationships/image" Target="../media/image55.wmf"/><Relationship Id="rId9" Type="http://schemas.openxmlformats.org/officeDocument/2006/relationships/oleObject" Target="../embeddings/oleObject87.bin"/><Relationship Id="rId14" Type="http://schemas.openxmlformats.org/officeDocument/2006/relationships/image" Target="../media/image67.wmf"/><Relationship Id="rId22" Type="http://schemas.openxmlformats.org/officeDocument/2006/relationships/image" Target="../media/image7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100.bin"/><Relationship Id="rId18" Type="http://schemas.openxmlformats.org/officeDocument/2006/relationships/image" Target="../media/image79.wmf"/><Relationship Id="rId3" Type="http://schemas.openxmlformats.org/officeDocument/2006/relationships/oleObject" Target="../embeddings/oleObject95.bin"/><Relationship Id="rId21" Type="http://schemas.openxmlformats.org/officeDocument/2006/relationships/oleObject" Target="../embeddings/oleObject104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8.wmf"/><Relationship Id="rId20" Type="http://schemas.openxmlformats.org/officeDocument/2006/relationships/image" Target="../media/image80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1.bin"/><Relationship Id="rId10" Type="http://schemas.openxmlformats.org/officeDocument/2006/relationships/image" Target="../media/image75.wmf"/><Relationship Id="rId19" Type="http://schemas.openxmlformats.org/officeDocument/2006/relationships/oleObject" Target="../embeddings/oleObject103.bin"/><Relationship Id="rId4" Type="http://schemas.openxmlformats.org/officeDocument/2006/relationships/image" Target="../media/image72.w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77.wmf"/><Relationship Id="rId22" Type="http://schemas.openxmlformats.org/officeDocument/2006/relationships/image" Target="../media/image81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13" Type="http://schemas.openxmlformats.org/officeDocument/2006/relationships/oleObject" Target="../embeddings/oleObject110.bin"/><Relationship Id="rId18" Type="http://schemas.openxmlformats.org/officeDocument/2006/relationships/image" Target="../media/image84.wmf"/><Relationship Id="rId26" Type="http://schemas.openxmlformats.org/officeDocument/2006/relationships/image" Target="../media/image88.wmf"/><Relationship Id="rId3" Type="http://schemas.openxmlformats.org/officeDocument/2006/relationships/oleObject" Target="../embeddings/oleObject105.bin"/><Relationship Id="rId21" Type="http://schemas.openxmlformats.org/officeDocument/2006/relationships/oleObject" Target="../embeddings/oleObject114.bin"/><Relationship Id="rId7" Type="http://schemas.openxmlformats.org/officeDocument/2006/relationships/oleObject" Target="../embeddings/oleObject107.bin"/><Relationship Id="rId12" Type="http://schemas.openxmlformats.org/officeDocument/2006/relationships/image" Target="../media/image83.wmf"/><Relationship Id="rId17" Type="http://schemas.openxmlformats.org/officeDocument/2006/relationships/oleObject" Target="../embeddings/oleObject112.bin"/><Relationship Id="rId25" Type="http://schemas.openxmlformats.org/officeDocument/2006/relationships/oleObject" Target="../embeddings/oleObject1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8.wmf"/><Relationship Id="rId20" Type="http://schemas.openxmlformats.org/officeDocument/2006/relationships/image" Target="../media/image85.wmf"/><Relationship Id="rId29" Type="http://schemas.openxmlformats.org/officeDocument/2006/relationships/oleObject" Target="../embeddings/oleObject118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9.wmf"/><Relationship Id="rId11" Type="http://schemas.openxmlformats.org/officeDocument/2006/relationships/oleObject" Target="../embeddings/oleObject109.bin"/><Relationship Id="rId24" Type="http://schemas.openxmlformats.org/officeDocument/2006/relationships/image" Target="../media/image87.wmf"/><Relationship Id="rId5" Type="http://schemas.openxmlformats.org/officeDocument/2006/relationships/oleObject" Target="../embeddings/oleObject106.bin"/><Relationship Id="rId15" Type="http://schemas.openxmlformats.org/officeDocument/2006/relationships/oleObject" Target="../embeddings/oleObject111.bin"/><Relationship Id="rId23" Type="http://schemas.openxmlformats.org/officeDocument/2006/relationships/oleObject" Target="../embeddings/oleObject115.bin"/><Relationship Id="rId28" Type="http://schemas.openxmlformats.org/officeDocument/2006/relationships/image" Target="../media/image89.wmf"/><Relationship Id="rId10" Type="http://schemas.openxmlformats.org/officeDocument/2006/relationships/image" Target="../media/image82.wmf"/><Relationship Id="rId19" Type="http://schemas.openxmlformats.org/officeDocument/2006/relationships/oleObject" Target="../embeddings/oleObject113.bin"/><Relationship Id="rId4" Type="http://schemas.openxmlformats.org/officeDocument/2006/relationships/image" Target="../media/image76.wmf"/><Relationship Id="rId9" Type="http://schemas.openxmlformats.org/officeDocument/2006/relationships/oleObject" Target="../embeddings/oleObject108.bin"/><Relationship Id="rId14" Type="http://schemas.openxmlformats.org/officeDocument/2006/relationships/image" Target="../media/image77.wmf"/><Relationship Id="rId22" Type="http://schemas.openxmlformats.org/officeDocument/2006/relationships/image" Target="../media/image86.wmf"/><Relationship Id="rId27" Type="http://schemas.openxmlformats.org/officeDocument/2006/relationships/oleObject" Target="../embeddings/oleObject117.bin"/><Relationship Id="rId30" Type="http://schemas.openxmlformats.org/officeDocument/2006/relationships/image" Target="../media/image90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13" Type="http://schemas.openxmlformats.org/officeDocument/2006/relationships/oleObject" Target="../embeddings/oleObject124.bin"/><Relationship Id="rId18" Type="http://schemas.openxmlformats.org/officeDocument/2006/relationships/image" Target="../media/image98.wmf"/><Relationship Id="rId3" Type="http://schemas.openxmlformats.org/officeDocument/2006/relationships/oleObject" Target="../embeddings/oleObject119.bin"/><Relationship Id="rId7" Type="http://schemas.openxmlformats.org/officeDocument/2006/relationships/oleObject" Target="../embeddings/oleObject121.bin"/><Relationship Id="rId12" Type="http://schemas.openxmlformats.org/officeDocument/2006/relationships/image" Target="../media/image95.wmf"/><Relationship Id="rId17" Type="http://schemas.openxmlformats.org/officeDocument/2006/relationships/oleObject" Target="../embeddings/oleObject1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7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2.wmf"/><Relationship Id="rId11" Type="http://schemas.openxmlformats.org/officeDocument/2006/relationships/oleObject" Target="../embeddings/oleObject123.bin"/><Relationship Id="rId5" Type="http://schemas.openxmlformats.org/officeDocument/2006/relationships/oleObject" Target="../embeddings/oleObject120.bin"/><Relationship Id="rId15" Type="http://schemas.openxmlformats.org/officeDocument/2006/relationships/oleObject" Target="../embeddings/oleObject125.bin"/><Relationship Id="rId10" Type="http://schemas.openxmlformats.org/officeDocument/2006/relationships/image" Target="../media/image94.wmf"/><Relationship Id="rId4" Type="http://schemas.openxmlformats.org/officeDocument/2006/relationships/image" Target="../media/image91.wmf"/><Relationship Id="rId9" Type="http://schemas.openxmlformats.org/officeDocument/2006/relationships/oleObject" Target="../embeddings/oleObject122.bin"/><Relationship Id="rId14" Type="http://schemas.openxmlformats.org/officeDocument/2006/relationships/image" Target="../media/image96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9.bin"/><Relationship Id="rId13" Type="http://schemas.openxmlformats.org/officeDocument/2006/relationships/image" Target="../media/image100.wmf"/><Relationship Id="rId18" Type="http://schemas.openxmlformats.org/officeDocument/2006/relationships/oleObject" Target="../embeddings/oleObject134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104.wmf"/><Relationship Id="rId7" Type="http://schemas.openxmlformats.org/officeDocument/2006/relationships/image" Target="../media/image94.wmf"/><Relationship Id="rId12" Type="http://schemas.openxmlformats.org/officeDocument/2006/relationships/oleObject" Target="../embeddings/oleObject131.bin"/><Relationship Id="rId17" Type="http://schemas.openxmlformats.org/officeDocument/2006/relationships/image" Target="../media/image102.wmf"/><Relationship Id="rId25" Type="http://schemas.openxmlformats.org/officeDocument/2006/relationships/image" Target="../media/image10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3.bin"/><Relationship Id="rId20" Type="http://schemas.openxmlformats.org/officeDocument/2006/relationships/oleObject" Target="../embeddings/oleObject135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28.bin"/><Relationship Id="rId11" Type="http://schemas.openxmlformats.org/officeDocument/2006/relationships/image" Target="../media/image99.wmf"/><Relationship Id="rId24" Type="http://schemas.openxmlformats.org/officeDocument/2006/relationships/oleObject" Target="../embeddings/oleObject137.bin"/><Relationship Id="rId5" Type="http://schemas.openxmlformats.org/officeDocument/2006/relationships/image" Target="../media/image93.wmf"/><Relationship Id="rId15" Type="http://schemas.openxmlformats.org/officeDocument/2006/relationships/image" Target="../media/image101.wmf"/><Relationship Id="rId23" Type="http://schemas.openxmlformats.org/officeDocument/2006/relationships/image" Target="../media/image105.wmf"/><Relationship Id="rId10" Type="http://schemas.openxmlformats.org/officeDocument/2006/relationships/oleObject" Target="../embeddings/oleObject130.bin"/><Relationship Id="rId19" Type="http://schemas.openxmlformats.org/officeDocument/2006/relationships/image" Target="../media/image103.wmf"/><Relationship Id="rId4" Type="http://schemas.openxmlformats.org/officeDocument/2006/relationships/oleObject" Target="../embeddings/oleObject127.bin"/><Relationship Id="rId9" Type="http://schemas.openxmlformats.org/officeDocument/2006/relationships/image" Target="../media/image95.wmf"/><Relationship Id="rId14" Type="http://schemas.openxmlformats.org/officeDocument/2006/relationships/oleObject" Target="../embeddings/oleObject132.bin"/><Relationship Id="rId22" Type="http://schemas.openxmlformats.org/officeDocument/2006/relationships/oleObject" Target="../embeddings/oleObject136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13" Type="http://schemas.openxmlformats.org/officeDocument/2006/relationships/oleObject" Target="../embeddings/oleObject143.bin"/><Relationship Id="rId18" Type="http://schemas.openxmlformats.org/officeDocument/2006/relationships/image" Target="../media/image98.wmf"/><Relationship Id="rId3" Type="http://schemas.openxmlformats.org/officeDocument/2006/relationships/oleObject" Target="../embeddings/oleObject138.bin"/><Relationship Id="rId7" Type="http://schemas.openxmlformats.org/officeDocument/2006/relationships/oleObject" Target="../embeddings/oleObject140.bin"/><Relationship Id="rId12" Type="http://schemas.openxmlformats.org/officeDocument/2006/relationships/image" Target="../media/image110.wmf"/><Relationship Id="rId17" Type="http://schemas.openxmlformats.org/officeDocument/2006/relationships/oleObject" Target="../embeddings/oleObject14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2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2.wmf"/><Relationship Id="rId11" Type="http://schemas.openxmlformats.org/officeDocument/2006/relationships/oleObject" Target="../embeddings/oleObject142.bin"/><Relationship Id="rId5" Type="http://schemas.openxmlformats.org/officeDocument/2006/relationships/oleObject" Target="../embeddings/oleObject139.bin"/><Relationship Id="rId15" Type="http://schemas.openxmlformats.org/officeDocument/2006/relationships/oleObject" Target="../embeddings/oleObject144.bin"/><Relationship Id="rId10" Type="http://schemas.openxmlformats.org/officeDocument/2006/relationships/image" Target="../media/image109.wmf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41.bin"/><Relationship Id="rId14" Type="http://schemas.openxmlformats.org/officeDocument/2006/relationships/image" Target="../media/image111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oleObject" Target="../embeddings/oleObject151.bin"/><Relationship Id="rId18" Type="http://schemas.openxmlformats.org/officeDocument/2006/relationships/image" Target="../media/image115.wmf"/><Relationship Id="rId26" Type="http://schemas.openxmlformats.org/officeDocument/2006/relationships/image" Target="../media/image119.wmf"/><Relationship Id="rId3" Type="http://schemas.openxmlformats.org/officeDocument/2006/relationships/oleObject" Target="../embeddings/oleObject146.bin"/><Relationship Id="rId21" Type="http://schemas.openxmlformats.org/officeDocument/2006/relationships/oleObject" Target="../embeddings/oleObject155.bin"/><Relationship Id="rId7" Type="http://schemas.openxmlformats.org/officeDocument/2006/relationships/oleObject" Target="../embeddings/oleObject148.bin"/><Relationship Id="rId12" Type="http://schemas.openxmlformats.org/officeDocument/2006/relationships/image" Target="../media/image100.wmf"/><Relationship Id="rId17" Type="http://schemas.openxmlformats.org/officeDocument/2006/relationships/oleObject" Target="../embeddings/oleObject153.bin"/><Relationship Id="rId25" Type="http://schemas.openxmlformats.org/officeDocument/2006/relationships/oleObject" Target="../embeddings/oleObject15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4.wmf"/><Relationship Id="rId20" Type="http://schemas.openxmlformats.org/officeDocument/2006/relationships/image" Target="../media/image116.wmf"/><Relationship Id="rId29" Type="http://schemas.openxmlformats.org/officeDocument/2006/relationships/oleObject" Target="../embeddings/oleObject159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9.wmf"/><Relationship Id="rId11" Type="http://schemas.openxmlformats.org/officeDocument/2006/relationships/oleObject" Target="../embeddings/oleObject150.bin"/><Relationship Id="rId24" Type="http://schemas.openxmlformats.org/officeDocument/2006/relationships/image" Target="../media/image118.wmf"/><Relationship Id="rId32" Type="http://schemas.openxmlformats.org/officeDocument/2006/relationships/image" Target="../media/image122.wmf"/><Relationship Id="rId5" Type="http://schemas.openxmlformats.org/officeDocument/2006/relationships/oleObject" Target="../embeddings/oleObject147.bin"/><Relationship Id="rId15" Type="http://schemas.openxmlformats.org/officeDocument/2006/relationships/oleObject" Target="../embeddings/oleObject152.bin"/><Relationship Id="rId23" Type="http://schemas.openxmlformats.org/officeDocument/2006/relationships/oleObject" Target="../embeddings/oleObject156.bin"/><Relationship Id="rId28" Type="http://schemas.openxmlformats.org/officeDocument/2006/relationships/image" Target="../media/image120.wmf"/><Relationship Id="rId10" Type="http://schemas.openxmlformats.org/officeDocument/2006/relationships/image" Target="../media/image113.wmf"/><Relationship Id="rId19" Type="http://schemas.openxmlformats.org/officeDocument/2006/relationships/oleObject" Target="../embeddings/oleObject154.bin"/><Relationship Id="rId31" Type="http://schemas.openxmlformats.org/officeDocument/2006/relationships/oleObject" Target="../embeddings/oleObject160.bin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149.bin"/><Relationship Id="rId14" Type="http://schemas.openxmlformats.org/officeDocument/2006/relationships/image" Target="../media/image101.wmf"/><Relationship Id="rId22" Type="http://schemas.openxmlformats.org/officeDocument/2006/relationships/image" Target="../media/image117.wmf"/><Relationship Id="rId27" Type="http://schemas.openxmlformats.org/officeDocument/2006/relationships/oleObject" Target="../embeddings/oleObject158.bin"/><Relationship Id="rId30" Type="http://schemas.openxmlformats.org/officeDocument/2006/relationships/image" Target="../media/image121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123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3" Type="http://schemas.openxmlformats.org/officeDocument/2006/relationships/oleObject" Target="../embeddings/oleObject162.bin"/><Relationship Id="rId7" Type="http://schemas.openxmlformats.org/officeDocument/2006/relationships/oleObject" Target="../embeddings/oleObject16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25.wmf"/><Relationship Id="rId5" Type="http://schemas.openxmlformats.org/officeDocument/2006/relationships/oleObject" Target="../embeddings/oleObject163.bin"/><Relationship Id="rId4" Type="http://schemas.openxmlformats.org/officeDocument/2006/relationships/image" Target="../media/image12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 anchor="ctr">
            <a:normAutofit/>
          </a:bodyPr>
          <a:lstStyle/>
          <a:p>
            <a:r>
              <a:rPr lang="ja-JP" altLang="en-US" sz="4800" dirty="0"/>
              <a:t>人工知能特論</a:t>
            </a:r>
            <a:br>
              <a:rPr kumimoji="1" lang="en-US" altLang="ja-JP" sz="4800" dirty="0"/>
            </a:br>
            <a:r>
              <a:rPr lang="en-US" altLang="ja-JP" sz="4000"/>
              <a:t>#12 </a:t>
            </a:r>
            <a:r>
              <a:rPr lang="ja-JP" altLang="en-US" sz="4000" dirty="0"/>
              <a:t>分子データの表現</a:t>
            </a:r>
            <a:endParaRPr kumimoji="1" lang="ja-JP" altLang="en-US" sz="4800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kumimoji="1" lang="ja-JP" altLang="en-US" sz="3200" dirty="0"/>
              <a:t>米澤 弘毅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36204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dirty="0"/>
              <a:t>分子生成モデル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14399" y="179429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定義</a:t>
            </a:r>
            <a:endParaRPr kumimoji="1" lang="ja-JP" altLang="en-US" sz="2800" dirty="0"/>
          </a:p>
        </p:txBody>
      </p:sp>
      <p:graphicFrame>
        <p:nvGraphicFramePr>
          <p:cNvPr id="3" name="オブジェクト 2">
            <a:extLst>
              <a:ext uri="{FF2B5EF4-FFF2-40B4-BE49-F238E27FC236}">
                <a16:creationId xmlns:a16="http://schemas.microsoft.com/office/drawing/2014/main" id="{5390616E-C404-4060-87F8-850BF93682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696185"/>
              </p:ext>
            </p:extLst>
          </p:nvPr>
        </p:nvGraphicFramePr>
        <p:xfrm>
          <a:off x="2295525" y="2317515"/>
          <a:ext cx="558360" cy="390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" name="Equation" r:id="rId4" imgW="253800" imgH="177480" progId="Equation.DSMT4">
                  <p:embed/>
                </p:oleObj>
              </mc:Choice>
              <mc:Fallback>
                <p:oleObj name="Equation" r:id="rId4" imgW="253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95525" y="2317515"/>
                        <a:ext cx="558360" cy="3904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A58EA80D-0546-422B-BF74-9F24C4129E60}"/>
              </a:ext>
            </a:extLst>
          </p:cNvPr>
          <p:cNvSpPr txBox="1"/>
          <p:nvPr/>
        </p:nvSpPr>
        <p:spPr>
          <a:xfrm>
            <a:off x="2787210" y="2317515"/>
            <a:ext cx="2515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:</a:t>
            </a:r>
            <a:r>
              <a:rPr kumimoji="1" lang="ja-JP" altLang="en-US" sz="2400" dirty="0"/>
              <a:t> 分子全体の集合</a:t>
            </a:r>
          </a:p>
        </p:txBody>
      </p:sp>
      <p:graphicFrame>
        <p:nvGraphicFramePr>
          <p:cNvPr id="6" name="オブジェクト 5">
            <a:extLst>
              <a:ext uri="{FF2B5EF4-FFF2-40B4-BE49-F238E27FC236}">
                <a16:creationId xmlns:a16="http://schemas.microsoft.com/office/drawing/2014/main" id="{D58446F9-1DB8-4305-8CBD-F894CD0334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2995821"/>
              </p:ext>
            </p:extLst>
          </p:nvPr>
        </p:nvGraphicFramePr>
        <p:xfrm>
          <a:off x="2309385" y="2847647"/>
          <a:ext cx="1089000" cy="558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" name="Equation" r:id="rId6" imgW="495000" imgH="253800" progId="Equation.DSMT4">
                  <p:embed/>
                </p:oleObj>
              </mc:Choice>
              <mc:Fallback>
                <p:oleObj name="Equation" r:id="rId6" imgW="4950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09385" y="2847647"/>
                        <a:ext cx="1089000" cy="5583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9B97EC5C-04A8-4FD8-A72D-51BF27DFA829}"/>
              </a:ext>
            </a:extLst>
          </p:cNvPr>
          <p:cNvSpPr txBox="1"/>
          <p:nvPr/>
        </p:nvSpPr>
        <p:spPr>
          <a:xfrm>
            <a:off x="3330135" y="2913537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:</a:t>
            </a:r>
            <a:r>
              <a:rPr lang="ja-JP" altLang="en-US" sz="2400" dirty="0"/>
              <a:t> </a:t>
            </a:r>
            <a:endParaRPr kumimoji="1" lang="ja-JP" altLang="en-US" sz="2400" dirty="0"/>
          </a:p>
        </p:txBody>
      </p:sp>
      <p:graphicFrame>
        <p:nvGraphicFramePr>
          <p:cNvPr id="7" name="オブジェクト 6">
            <a:extLst>
              <a:ext uri="{FF2B5EF4-FFF2-40B4-BE49-F238E27FC236}">
                <a16:creationId xmlns:a16="http://schemas.microsoft.com/office/drawing/2014/main" id="{7A765B2C-2E01-478B-B675-854BB90D04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077326"/>
              </p:ext>
            </p:extLst>
          </p:nvPr>
        </p:nvGraphicFramePr>
        <p:xfrm>
          <a:off x="3510633" y="2932358"/>
          <a:ext cx="563563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" name="Equation" r:id="rId8" imgW="563603" imgH="388345" progId="Equation.DSMT4">
                  <p:embed/>
                </p:oleObj>
              </mc:Choice>
              <mc:Fallback>
                <p:oleObj name="Equation" r:id="rId8" imgW="563603" imgH="38834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10633" y="2932358"/>
                        <a:ext cx="563563" cy="388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D1299B62-46FA-4D3C-9190-9BB13F3869AE}"/>
              </a:ext>
            </a:extLst>
          </p:cNvPr>
          <p:cNvSpPr txBox="1"/>
          <p:nvPr/>
        </p:nvSpPr>
        <p:spPr>
          <a:xfrm>
            <a:off x="4006826" y="2924568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上の確率分布全体の集合</a:t>
            </a:r>
            <a:endParaRPr kumimoji="1" lang="ja-JP" altLang="en-US" sz="2400" dirty="0"/>
          </a:p>
        </p:txBody>
      </p:sp>
      <p:graphicFrame>
        <p:nvGraphicFramePr>
          <p:cNvPr id="8" name="オブジェクト 7">
            <a:extLst>
              <a:ext uri="{FF2B5EF4-FFF2-40B4-BE49-F238E27FC236}">
                <a16:creationId xmlns:a16="http://schemas.microsoft.com/office/drawing/2014/main" id="{74973BC9-6AD6-4C89-AF1D-82FBF0522C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042422"/>
              </p:ext>
            </p:extLst>
          </p:nvPr>
        </p:nvGraphicFramePr>
        <p:xfrm>
          <a:off x="2309385" y="3441092"/>
          <a:ext cx="1620432" cy="558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" name="Equation" r:id="rId10" imgW="736560" imgH="253800" progId="Equation.DSMT4">
                  <p:embed/>
                </p:oleObj>
              </mc:Choice>
              <mc:Fallback>
                <p:oleObj name="Equation" r:id="rId10" imgW="7365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309385" y="3441092"/>
                        <a:ext cx="1620432" cy="5583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DF2078FE-F61A-410D-934A-1EEB3F3ABDC4}"/>
              </a:ext>
            </a:extLst>
          </p:cNvPr>
          <p:cNvSpPr txBox="1"/>
          <p:nvPr/>
        </p:nvSpPr>
        <p:spPr>
          <a:xfrm>
            <a:off x="3929817" y="3484826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でサンプリングが効率的にできるもの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BFA2A941-8DDA-4258-89BF-932CA6133BF1}"/>
              </a:ext>
            </a:extLst>
          </p:cNvPr>
          <p:cNvSpPr txBox="1"/>
          <p:nvPr/>
        </p:nvSpPr>
        <p:spPr>
          <a:xfrm>
            <a:off x="914399" y="4278876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分子生成モデルの問題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B6887FDA-DFA3-44FC-B84E-33B8A56E3110}"/>
              </a:ext>
            </a:extLst>
          </p:cNvPr>
          <p:cNvSpPr txBox="1"/>
          <p:nvPr/>
        </p:nvSpPr>
        <p:spPr>
          <a:xfrm>
            <a:off x="2295525" y="4858847"/>
            <a:ext cx="46891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分布学習問題 </a:t>
            </a:r>
            <a:r>
              <a:rPr lang="en-US" altLang="ja-JP" sz="2000" dirty="0"/>
              <a:t>(distribution learning)</a:t>
            </a:r>
            <a:endParaRPr kumimoji="1" lang="ja-JP" altLang="en-US" sz="2400" dirty="0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30F6F408-ABB7-4445-B1FC-225FD38BED5D}"/>
              </a:ext>
            </a:extLst>
          </p:cNvPr>
          <p:cNvSpPr txBox="1"/>
          <p:nvPr/>
        </p:nvSpPr>
        <p:spPr>
          <a:xfrm>
            <a:off x="2830670" y="5286563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+</a:t>
            </a:r>
            <a:endParaRPr kumimoji="1" lang="ja-JP" altLang="en-US" sz="2400" dirty="0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A230F587-C051-4EE3-B248-09671B40BA32}"/>
              </a:ext>
            </a:extLst>
          </p:cNvPr>
          <p:cNvSpPr txBox="1"/>
          <p:nvPr/>
        </p:nvSpPr>
        <p:spPr>
          <a:xfrm>
            <a:off x="2295525" y="5748228"/>
            <a:ext cx="5311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分子最適化問題 </a:t>
            </a:r>
            <a:r>
              <a:rPr lang="en-US" altLang="ja-JP" sz="2000" dirty="0"/>
              <a:t>(molecular optimization)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713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3">
            <a:extLst>
              <a:ext uri="{FF2B5EF4-FFF2-40B4-BE49-F238E27FC236}">
                <a16:creationId xmlns:a16="http://schemas.microsoft.com/office/drawing/2014/main" id="{614700EE-E282-4F5F-AB86-ACFED29A825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dirty="0"/>
              <a:t>分布学習問題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5DE2C63-5D66-45E5-8729-93F76888DB8B}"/>
              </a:ext>
            </a:extLst>
          </p:cNvPr>
          <p:cNvSpPr txBox="1"/>
          <p:nvPr/>
        </p:nvSpPr>
        <p:spPr>
          <a:xfrm>
            <a:off x="914399" y="179429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定義</a:t>
            </a:r>
            <a:endParaRPr kumimoji="1" lang="ja-JP" altLang="en-US" sz="2800" dirty="0"/>
          </a:p>
        </p:txBody>
      </p:sp>
      <p:graphicFrame>
        <p:nvGraphicFramePr>
          <p:cNvPr id="5" name="オブジェクト 4">
            <a:extLst>
              <a:ext uri="{FF2B5EF4-FFF2-40B4-BE49-F238E27FC236}">
                <a16:creationId xmlns:a16="http://schemas.microsoft.com/office/drawing/2014/main" id="{4A3E11E7-950F-4CBC-A55B-20EA89E2D5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1873299"/>
              </p:ext>
            </p:extLst>
          </p:nvPr>
        </p:nvGraphicFramePr>
        <p:xfrm>
          <a:off x="2295525" y="2317515"/>
          <a:ext cx="558360" cy="390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6" name="Equation" r:id="rId3" imgW="253800" imgH="177480" progId="Equation.DSMT4">
                  <p:embed/>
                </p:oleObj>
              </mc:Choice>
              <mc:Fallback>
                <p:oleObj name="Equation" r:id="rId3" imgW="253800" imgH="177480" progId="Equation.DSMT4">
                  <p:embed/>
                  <p:pic>
                    <p:nvPicPr>
                      <p:cNvPr id="3" name="オブジェクト 2">
                        <a:extLst>
                          <a:ext uri="{FF2B5EF4-FFF2-40B4-BE49-F238E27FC236}">
                            <a16:creationId xmlns:a16="http://schemas.microsoft.com/office/drawing/2014/main" id="{5390616E-C404-4060-87F8-850BF93682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95525" y="2317515"/>
                        <a:ext cx="558360" cy="3904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5E523CD-2AE0-430D-BDA7-3DAE22DA24A6}"/>
              </a:ext>
            </a:extLst>
          </p:cNvPr>
          <p:cNvSpPr txBox="1"/>
          <p:nvPr/>
        </p:nvSpPr>
        <p:spPr>
          <a:xfrm>
            <a:off x="2787210" y="2317515"/>
            <a:ext cx="40543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:</a:t>
            </a:r>
            <a:r>
              <a:rPr kumimoji="1" lang="ja-JP" altLang="en-US" sz="2400" dirty="0"/>
              <a:t> 興味のある分子全体の集合</a:t>
            </a:r>
          </a:p>
        </p:txBody>
      </p:sp>
      <p:graphicFrame>
        <p:nvGraphicFramePr>
          <p:cNvPr id="9" name="オブジェクト 8">
            <a:extLst>
              <a:ext uri="{FF2B5EF4-FFF2-40B4-BE49-F238E27FC236}">
                <a16:creationId xmlns:a16="http://schemas.microsoft.com/office/drawing/2014/main" id="{39B61F29-CF1A-47E9-AAF2-36C072634C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940208"/>
              </p:ext>
            </p:extLst>
          </p:nvPr>
        </p:nvGraphicFramePr>
        <p:xfrm>
          <a:off x="2309385" y="2847647"/>
          <a:ext cx="1089000" cy="558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7" name="Equation" r:id="rId5" imgW="495000" imgH="253800" progId="Equation.DSMT4">
                  <p:embed/>
                </p:oleObj>
              </mc:Choice>
              <mc:Fallback>
                <p:oleObj name="Equation" r:id="rId5" imgW="495000" imgH="253800" progId="Equation.DSMT4">
                  <p:embed/>
                  <p:pic>
                    <p:nvPicPr>
                      <p:cNvPr id="6" name="オブジェクト 5">
                        <a:extLst>
                          <a:ext uri="{FF2B5EF4-FFF2-40B4-BE49-F238E27FC236}">
                            <a16:creationId xmlns:a16="http://schemas.microsoft.com/office/drawing/2014/main" id="{D58446F9-1DB8-4305-8CBD-F894CD0334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09385" y="2847647"/>
                        <a:ext cx="1089000" cy="5583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C98E0E6-1EA8-4F69-A562-5E61136B99FC}"/>
              </a:ext>
            </a:extLst>
          </p:cNvPr>
          <p:cNvSpPr txBox="1"/>
          <p:nvPr/>
        </p:nvSpPr>
        <p:spPr>
          <a:xfrm>
            <a:off x="3330135" y="2913537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:</a:t>
            </a:r>
            <a:r>
              <a:rPr lang="ja-JP" altLang="en-US" sz="2400" dirty="0"/>
              <a:t> </a:t>
            </a:r>
            <a:endParaRPr kumimoji="1" lang="ja-JP" altLang="en-US" sz="2400" dirty="0"/>
          </a:p>
        </p:txBody>
      </p:sp>
      <p:graphicFrame>
        <p:nvGraphicFramePr>
          <p:cNvPr id="11" name="オブジェクト 10">
            <a:extLst>
              <a:ext uri="{FF2B5EF4-FFF2-40B4-BE49-F238E27FC236}">
                <a16:creationId xmlns:a16="http://schemas.microsoft.com/office/drawing/2014/main" id="{8541E42F-F103-49B6-9F76-502C128ED4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5944428"/>
              </p:ext>
            </p:extLst>
          </p:nvPr>
        </p:nvGraphicFramePr>
        <p:xfrm>
          <a:off x="3510633" y="2932358"/>
          <a:ext cx="563563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8" name="Equation" r:id="rId7" imgW="563603" imgH="388345" progId="Equation.DSMT4">
                  <p:embed/>
                </p:oleObj>
              </mc:Choice>
              <mc:Fallback>
                <p:oleObj name="Equation" r:id="rId7" imgW="563603" imgH="388345" progId="Equation.DSMT4">
                  <p:embed/>
                  <p:pic>
                    <p:nvPicPr>
                      <p:cNvPr id="7" name="オブジェクト 6">
                        <a:extLst>
                          <a:ext uri="{FF2B5EF4-FFF2-40B4-BE49-F238E27FC236}">
                            <a16:creationId xmlns:a16="http://schemas.microsoft.com/office/drawing/2014/main" id="{7A765B2C-2E01-478B-B675-854BB90D04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10633" y="2932358"/>
                        <a:ext cx="563563" cy="388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7EE4130-919B-4969-829C-D8C304BE0553}"/>
              </a:ext>
            </a:extLst>
          </p:cNvPr>
          <p:cNvSpPr txBox="1"/>
          <p:nvPr/>
        </p:nvSpPr>
        <p:spPr>
          <a:xfrm>
            <a:off x="4006826" y="2924568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上の確率分布全体の集合</a:t>
            </a:r>
            <a:endParaRPr kumimoji="1" lang="ja-JP" altLang="en-US" sz="2400" dirty="0"/>
          </a:p>
        </p:txBody>
      </p:sp>
      <p:graphicFrame>
        <p:nvGraphicFramePr>
          <p:cNvPr id="13" name="オブジェクト 12">
            <a:extLst>
              <a:ext uri="{FF2B5EF4-FFF2-40B4-BE49-F238E27FC236}">
                <a16:creationId xmlns:a16="http://schemas.microsoft.com/office/drawing/2014/main" id="{1573EDEF-12E6-4728-85EE-4BC5298A27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8427989"/>
              </p:ext>
            </p:extLst>
          </p:nvPr>
        </p:nvGraphicFramePr>
        <p:xfrm>
          <a:off x="2309385" y="3448882"/>
          <a:ext cx="563563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9" name="Equation" r:id="rId9" imgW="563603" imgH="388345" progId="Equation.DSMT4">
                  <p:embed/>
                </p:oleObj>
              </mc:Choice>
              <mc:Fallback>
                <p:oleObj name="Equation" r:id="rId9" imgW="563603" imgH="388345" progId="Equation.DSMT4">
                  <p:embed/>
                  <p:pic>
                    <p:nvPicPr>
                      <p:cNvPr id="11" name="オブジェクト 10">
                        <a:extLst>
                          <a:ext uri="{FF2B5EF4-FFF2-40B4-BE49-F238E27FC236}">
                            <a16:creationId xmlns:a16="http://schemas.microsoft.com/office/drawing/2014/main" id="{8541E42F-F103-49B6-9F76-502C128ED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09385" y="3448882"/>
                        <a:ext cx="563563" cy="388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35F5045-4E9F-458D-B41C-D016E1E28B7B}"/>
              </a:ext>
            </a:extLst>
          </p:cNvPr>
          <p:cNvSpPr txBox="1"/>
          <p:nvPr/>
        </p:nvSpPr>
        <p:spPr>
          <a:xfrm>
            <a:off x="2805578" y="3441092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上の任意の確率分布</a:t>
            </a:r>
            <a:endParaRPr kumimoji="1" lang="ja-JP" altLang="en-US" sz="2400" dirty="0"/>
          </a:p>
        </p:txBody>
      </p:sp>
      <p:graphicFrame>
        <p:nvGraphicFramePr>
          <p:cNvPr id="15" name="オブジェクト 14">
            <a:extLst>
              <a:ext uri="{FF2B5EF4-FFF2-40B4-BE49-F238E27FC236}">
                <a16:creationId xmlns:a16="http://schemas.microsoft.com/office/drawing/2014/main" id="{D7738C76-0029-449B-8EC2-F423BDEC4A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915513"/>
              </p:ext>
            </p:extLst>
          </p:nvPr>
        </p:nvGraphicFramePr>
        <p:xfrm>
          <a:off x="5654675" y="3384550"/>
          <a:ext cx="1731963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0" name="Equation" r:id="rId10" imgW="787320" imgH="253800" progId="Equation.DSMT4">
                  <p:embed/>
                </p:oleObj>
              </mc:Choice>
              <mc:Fallback>
                <p:oleObj name="Equation" r:id="rId10" imgW="787320" imgH="253800" progId="Equation.DSMT4">
                  <p:embed/>
                  <p:pic>
                    <p:nvPicPr>
                      <p:cNvPr id="8" name="オブジェクト 7">
                        <a:extLst>
                          <a:ext uri="{FF2B5EF4-FFF2-40B4-BE49-F238E27FC236}">
                            <a16:creationId xmlns:a16="http://schemas.microsoft.com/office/drawing/2014/main" id="{74973BC9-6AD6-4C89-AF1D-82FBF0522C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654675" y="3384550"/>
                        <a:ext cx="1731963" cy="557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オブジェクト 15">
            <a:extLst>
              <a:ext uri="{FF2B5EF4-FFF2-40B4-BE49-F238E27FC236}">
                <a16:creationId xmlns:a16="http://schemas.microsoft.com/office/drawing/2014/main" id="{1B40A761-7F7F-4F91-B84C-28E63B4875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078356"/>
              </p:ext>
            </p:extLst>
          </p:nvPr>
        </p:nvGraphicFramePr>
        <p:xfrm>
          <a:off x="2386610" y="3968647"/>
          <a:ext cx="418968" cy="502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1" name="Equation" r:id="rId12" imgW="190440" imgH="228600" progId="Equation.DSMT4">
                  <p:embed/>
                </p:oleObj>
              </mc:Choice>
              <mc:Fallback>
                <p:oleObj name="Equation" r:id="rId12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386610" y="3968647"/>
                        <a:ext cx="418968" cy="502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2847609-2E35-478F-A80A-3A6BE73FE956}"/>
              </a:ext>
            </a:extLst>
          </p:cNvPr>
          <p:cNvSpPr txBox="1"/>
          <p:nvPr/>
        </p:nvSpPr>
        <p:spPr>
          <a:xfrm>
            <a:off x="2700020" y="4046420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にそれぞれ独立に従う分子の集合</a:t>
            </a:r>
          </a:p>
        </p:txBody>
      </p:sp>
      <p:graphicFrame>
        <p:nvGraphicFramePr>
          <p:cNvPr id="18" name="オブジェクト 17">
            <a:extLst>
              <a:ext uri="{FF2B5EF4-FFF2-40B4-BE49-F238E27FC236}">
                <a16:creationId xmlns:a16="http://schemas.microsoft.com/office/drawing/2014/main" id="{A877B6FA-EE4F-4277-A5B4-C7412CE769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6186744"/>
              </p:ext>
            </p:extLst>
          </p:nvPr>
        </p:nvGraphicFramePr>
        <p:xfrm>
          <a:off x="7386638" y="4043590"/>
          <a:ext cx="3184632" cy="558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2" name="Equation" r:id="rId14" imgW="1447560" imgH="253800" progId="Equation.DSMT4">
                  <p:embed/>
                </p:oleObj>
              </mc:Choice>
              <mc:Fallback>
                <p:oleObj name="Equation" r:id="rId14" imgW="14475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386638" y="4043590"/>
                        <a:ext cx="3184632" cy="5583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オブジェクト 18">
            <a:extLst>
              <a:ext uri="{FF2B5EF4-FFF2-40B4-BE49-F238E27FC236}">
                <a16:creationId xmlns:a16="http://schemas.microsoft.com/office/drawing/2014/main" id="{7F8105D5-6C62-4D13-98E0-95717123A8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932805"/>
              </p:ext>
            </p:extLst>
          </p:nvPr>
        </p:nvGraphicFramePr>
        <p:xfrm>
          <a:off x="3944938" y="4733925"/>
          <a:ext cx="418968" cy="362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" name="Equation" r:id="rId16" imgW="190440" imgH="164880" progId="Equation.DSMT4">
                  <p:embed/>
                </p:oleObj>
              </mc:Choice>
              <mc:Fallback>
                <p:oleObj name="Equation" r:id="rId16" imgW="19044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944938" y="4733925"/>
                        <a:ext cx="418968" cy="3627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矢印: 右 19">
            <a:extLst>
              <a:ext uri="{FF2B5EF4-FFF2-40B4-BE49-F238E27FC236}">
                <a16:creationId xmlns:a16="http://schemas.microsoft.com/office/drawing/2014/main" id="{ACF3B874-7836-413F-83D5-35EAB2938903}"/>
              </a:ext>
            </a:extLst>
          </p:cNvPr>
          <p:cNvSpPr/>
          <p:nvPr/>
        </p:nvSpPr>
        <p:spPr>
          <a:xfrm>
            <a:off x="4409943" y="4858143"/>
            <a:ext cx="657225" cy="1524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21" name="オブジェクト 20">
            <a:extLst>
              <a:ext uri="{FF2B5EF4-FFF2-40B4-BE49-F238E27FC236}">
                <a16:creationId xmlns:a16="http://schemas.microsoft.com/office/drawing/2014/main" id="{85DF5AA0-B88C-45BE-9002-3CECD2CFC1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527621"/>
              </p:ext>
            </p:extLst>
          </p:nvPr>
        </p:nvGraphicFramePr>
        <p:xfrm>
          <a:off x="5113205" y="4637438"/>
          <a:ext cx="4191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4" name="Equation" r:id="rId18" imgW="418961" imgH="502920" progId="Equation.DSMT4">
                  <p:embed/>
                </p:oleObj>
              </mc:Choice>
              <mc:Fallback>
                <p:oleObj name="Equation" r:id="rId18" imgW="418961" imgH="502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113205" y="4637438"/>
                        <a:ext cx="419100" cy="50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134FADF-6E84-47A9-BBAA-4CD67BBC703D}"/>
              </a:ext>
            </a:extLst>
          </p:cNvPr>
          <p:cNvSpPr txBox="1"/>
          <p:nvPr/>
        </p:nvSpPr>
        <p:spPr>
          <a:xfrm>
            <a:off x="4409943" y="5143623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なるべく近い確率分布を求めたい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69521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3">
            <a:extLst>
              <a:ext uri="{FF2B5EF4-FFF2-40B4-BE49-F238E27FC236}">
                <a16:creationId xmlns:a16="http://schemas.microsoft.com/office/drawing/2014/main" id="{7D5961EB-D701-4C3B-B936-5A09579F728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dirty="0"/>
              <a:t>分布学習問題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CF2978A-DD9C-4EA1-869D-65E89C2FEEA5}"/>
              </a:ext>
            </a:extLst>
          </p:cNvPr>
          <p:cNvSpPr txBox="1"/>
          <p:nvPr/>
        </p:nvSpPr>
        <p:spPr>
          <a:xfrm>
            <a:off x="914399" y="179429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意義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2432F12-4BE5-4F58-A4AD-D8C4D2CF7B93}"/>
              </a:ext>
            </a:extLst>
          </p:cNvPr>
          <p:cNvSpPr txBox="1"/>
          <p:nvPr/>
        </p:nvSpPr>
        <p:spPr>
          <a:xfrm>
            <a:off x="2368110" y="2317515"/>
            <a:ext cx="8521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持っているデータセットに近い </a:t>
            </a:r>
            <a:r>
              <a:rPr lang="en-US" altLang="ja-JP" sz="2400" dirty="0"/>
              <a:t>but </a:t>
            </a:r>
            <a:r>
              <a:rPr lang="ja-JP" altLang="en-US" sz="2400" dirty="0"/>
              <a:t>異なる分子を大量に生成</a:t>
            </a:r>
            <a:endParaRPr kumimoji="1" lang="ja-JP" altLang="en-US" sz="2400" dirty="0"/>
          </a:p>
        </p:txBody>
      </p:sp>
      <p:sp>
        <p:nvSpPr>
          <p:cNvPr id="5" name="矢印: 下 4">
            <a:extLst>
              <a:ext uri="{FF2B5EF4-FFF2-40B4-BE49-F238E27FC236}">
                <a16:creationId xmlns:a16="http://schemas.microsoft.com/office/drawing/2014/main" id="{56C8FF46-C085-42E6-8F57-4D6E61D250A5}"/>
              </a:ext>
            </a:extLst>
          </p:cNvPr>
          <p:cNvSpPr/>
          <p:nvPr/>
        </p:nvSpPr>
        <p:spPr>
          <a:xfrm>
            <a:off x="6433789" y="2779180"/>
            <a:ext cx="390525" cy="333375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903DEC0-66D0-4F73-BBAB-8CBB157A13EF}"/>
              </a:ext>
            </a:extLst>
          </p:cNvPr>
          <p:cNvSpPr txBox="1"/>
          <p:nvPr/>
        </p:nvSpPr>
        <p:spPr>
          <a:xfrm>
            <a:off x="2368108" y="3214912"/>
            <a:ext cx="7351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医薬品のバーチャルスクリーニング </a:t>
            </a:r>
            <a:r>
              <a:rPr kumimoji="1" lang="en-US" altLang="ja-JP" sz="2000" dirty="0"/>
              <a:t>(virtual screening)</a:t>
            </a:r>
            <a:endParaRPr kumimoji="1" lang="ja-JP" altLang="en-US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A88A2AE-EA33-4857-BA08-D85105BE083B}"/>
              </a:ext>
            </a:extLst>
          </p:cNvPr>
          <p:cNvSpPr txBox="1"/>
          <p:nvPr/>
        </p:nvSpPr>
        <p:spPr>
          <a:xfrm>
            <a:off x="7178233" y="3778934"/>
            <a:ext cx="39260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(cf. </a:t>
            </a:r>
            <a:r>
              <a:rPr kumimoji="1" lang="ja-JP" altLang="en-US" sz="2000" dirty="0">
                <a:hlinkClick r:id="rId2"/>
              </a:rPr>
              <a:t>岩井科学薬品株式会社の</a:t>
            </a:r>
            <a:r>
              <a:rPr kumimoji="1" lang="en-US" altLang="ja-JP" sz="2000" dirty="0">
                <a:hlinkClick r:id="rId2"/>
              </a:rPr>
              <a:t>HP</a:t>
            </a:r>
            <a:r>
              <a:rPr kumimoji="1" lang="en-US" altLang="ja-JP" sz="2000" dirty="0"/>
              <a:t>)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23645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3">
            <a:extLst>
              <a:ext uri="{FF2B5EF4-FFF2-40B4-BE49-F238E27FC236}">
                <a16:creationId xmlns:a16="http://schemas.microsoft.com/office/drawing/2014/main" id="{43A92458-BB27-489C-9C89-685369320C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dirty="0"/>
              <a:t>分子生成モデルの構成要素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6C5D84C-6E20-47AF-A776-B31B3505DD01}"/>
              </a:ext>
            </a:extLst>
          </p:cNvPr>
          <p:cNvSpPr txBox="1"/>
          <p:nvPr/>
        </p:nvSpPr>
        <p:spPr>
          <a:xfrm>
            <a:off x="914399" y="179429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分子構造の表現</a:t>
            </a:r>
            <a:endParaRPr kumimoji="1" lang="ja-JP" altLang="en-US" sz="2800" dirty="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72F62268-2F7A-4D05-9AC9-A326103493CD}"/>
              </a:ext>
            </a:extLst>
          </p:cNvPr>
          <p:cNvCxnSpPr>
            <a:cxnSpLocks noChangeAspect="1"/>
          </p:cNvCxnSpPr>
          <p:nvPr/>
        </p:nvCxnSpPr>
        <p:spPr>
          <a:xfrm rot="-300000" flipH="1">
            <a:off x="2606784" y="2736594"/>
            <a:ext cx="288000" cy="1765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CF4757B7-E209-4DC2-BE8E-4E9C876D3028}"/>
              </a:ext>
            </a:extLst>
          </p:cNvPr>
          <p:cNvCxnSpPr/>
          <p:nvPr/>
        </p:nvCxnSpPr>
        <p:spPr>
          <a:xfrm>
            <a:off x="3343275" y="2956048"/>
            <a:ext cx="0" cy="3364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六角形 16">
            <a:extLst>
              <a:ext uri="{FF2B5EF4-FFF2-40B4-BE49-F238E27FC236}">
                <a16:creationId xmlns:a16="http://schemas.microsoft.com/office/drawing/2014/main" id="{4C494623-1AF3-48C0-9DB1-F1A4C32F122A}"/>
              </a:ext>
            </a:extLst>
          </p:cNvPr>
          <p:cNvSpPr/>
          <p:nvPr/>
        </p:nvSpPr>
        <p:spPr>
          <a:xfrm rot="1620000">
            <a:off x="2474147" y="2738497"/>
            <a:ext cx="961263" cy="828675"/>
          </a:xfrm>
          <a:prstGeom prst="hex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5CD86063-A183-4919-BE62-1C47BDA7D177}"/>
              </a:ext>
            </a:extLst>
          </p:cNvPr>
          <p:cNvCxnSpPr>
            <a:cxnSpLocks noChangeAspect="1"/>
          </p:cNvCxnSpPr>
          <p:nvPr/>
        </p:nvCxnSpPr>
        <p:spPr>
          <a:xfrm rot="3540000" flipH="1">
            <a:off x="2623298" y="3386594"/>
            <a:ext cx="302400" cy="1853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3CBF1DD0-76DD-43FC-8CC7-07B43D1C2878}"/>
              </a:ext>
            </a:extLst>
          </p:cNvPr>
          <p:cNvCxnSpPr/>
          <p:nvPr/>
        </p:nvCxnSpPr>
        <p:spPr>
          <a:xfrm>
            <a:off x="3612573" y="3124259"/>
            <a:ext cx="15840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4FAE1DE-DACC-4EA4-8E54-EEED37E0C43A}"/>
              </a:ext>
            </a:extLst>
          </p:cNvPr>
          <p:cNvSpPr txBox="1"/>
          <p:nvPr/>
        </p:nvSpPr>
        <p:spPr>
          <a:xfrm>
            <a:off x="5238016" y="2892184"/>
            <a:ext cx="1659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c1ccccc1</a:t>
            </a:r>
            <a:endParaRPr kumimoji="1" lang="ja-JP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5A8401F-C08D-4FD3-8284-B9FAF39D57AF}"/>
              </a:ext>
            </a:extLst>
          </p:cNvPr>
          <p:cNvSpPr txBox="1"/>
          <p:nvPr/>
        </p:nvSpPr>
        <p:spPr>
          <a:xfrm>
            <a:off x="7153795" y="2893172"/>
            <a:ext cx="2699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SMILES/SELFIES</a:t>
            </a:r>
            <a:endParaRPr kumimoji="1" lang="ja-JP" altLang="en-US" sz="2400" dirty="0"/>
          </a:p>
        </p:txBody>
      </p: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3AFC4DED-D6D9-4D49-93A9-A1909DC903B2}"/>
              </a:ext>
            </a:extLst>
          </p:cNvPr>
          <p:cNvCxnSpPr>
            <a:cxnSpLocks/>
          </p:cNvCxnSpPr>
          <p:nvPr/>
        </p:nvCxnSpPr>
        <p:spPr>
          <a:xfrm>
            <a:off x="3612573" y="3123016"/>
            <a:ext cx="1584000" cy="1031541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B2CCE739-890E-422E-9988-ED2B78E39245}"/>
              </a:ext>
            </a:extLst>
          </p:cNvPr>
          <p:cNvSpPr/>
          <p:nvPr/>
        </p:nvSpPr>
        <p:spPr>
          <a:xfrm>
            <a:off x="5377070" y="3538914"/>
            <a:ext cx="258417" cy="12219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8415024A-E2F4-4242-8435-A9C10D3842DF}"/>
              </a:ext>
            </a:extLst>
          </p:cNvPr>
          <p:cNvSpPr/>
          <p:nvPr/>
        </p:nvSpPr>
        <p:spPr>
          <a:xfrm>
            <a:off x="5434278" y="3638786"/>
            <a:ext cx="144000" cy="144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EB107AFF-2069-4983-A3F0-5495C7D6E67F}"/>
              </a:ext>
            </a:extLst>
          </p:cNvPr>
          <p:cNvSpPr/>
          <p:nvPr/>
        </p:nvSpPr>
        <p:spPr>
          <a:xfrm>
            <a:off x="5434278" y="3895851"/>
            <a:ext cx="144000" cy="144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B7147FF3-E6C0-45C2-8958-0F1D8ED9A5AE}"/>
              </a:ext>
            </a:extLst>
          </p:cNvPr>
          <p:cNvSpPr/>
          <p:nvPr/>
        </p:nvSpPr>
        <p:spPr>
          <a:xfrm>
            <a:off x="5434278" y="4129121"/>
            <a:ext cx="144000" cy="144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2D6D3DF7-AEE6-4655-B6DD-E1BF9D6B32C3}"/>
              </a:ext>
            </a:extLst>
          </p:cNvPr>
          <p:cNvSpPr/>
          <p:nvPr/>
        </p:nvSpPr>
        <p:spPr>
          <a:xfrm>
            <a:off x="5434278" y="4386186"/>
            <a:ext cx="144000" cy="144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57B8946-C495-4E78-B1EE-FF5DCE046C65}"/>
              </a:ext>
            </a:extLst>
          </p:cNvPr>
          <p:cNvSpPr txBox="1"/>
          <p:nvPr/>
        </p:nvSpPr>
        <p:spPr>
          <a:xfrm>
            <a:off x="6067730" y="3970288"/>
            <a:ext cx="4642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分子記述子</a:t>
            </a:r>
            <a:r>
              <a:rPr lang="en-US" altLang="ja-JP" sz="2400" dirty="0"/>
              <a:t>/</a:t>
            </a:r>
            <a:r>
              <a:rPr lang="ja-JP" altLang="en-US" sz="2400" dirty="0"/>
              <a:t>フィンガープリント</a:t>
            </a:r>
            <a:endParaRPr lang="en-US" altLang="ja-JP" sz="2400" dirty="0"/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0B255146-6F96-4236-9254-8D0768D96226}"/>
              </a:ext>
            </a:extLst>
          </p:cNvPr>
          <p:cNvCxnSpPr/>
          <p:nvPr/>
        </p:nvCxnSpPr>
        <p:spPr>
          <a:xfrm>
            <a:off x="4394634" y="4149878"/>
            <a:ext cx="0" cy="13265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35FAE097-65F9-4AF5-AF04-6EA2C312BAFB}"/>
              </a:ext>
            </a:extLst>
          </p:cNvPr>
          <p:cNvCxnSpPr/>
          <p:nvPr/>
        </p:nvCxnSpPr>
        <p:spPr>
          <a:xfrm>
            <a:off x="4404573" y="5476461"/>
            <a:ext cx="7920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台形 40">
            <a:extLst>
              <a:ext uri="{FF2B5EF4-FFF2-40B4-BE49-F238E27FC236}">
                <a16:creationId xmlns:a16="http://schemas.microsoft.com/office/drawing/2014/main" id="{96323AE8-9CFE-4498-88E3-82BC09EED793}"/>
              </a:ext>
            </a:extLst>
          </p:cNvPr>
          <p:cNvSpPr/>
          <p:nvPr/>
        </p:nvSpPr>
        <p:spPr>
          <a:xfrm rot="5400000">
            <a:off x="5163533" y="5153440"/>
            <a:ext cx="943906" cy="646043"/>
          </a:xfrm>
          <a:prstGeom prst="trapezoi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8BA22C0-83B4-43CD-B1C5-A28C5F1186AD}"/>
              </a:ext>
            </a:extLst>
          </p:cNvPr>
          <p:cNvSpPr txBox="1"/>
          <p:nvPr/>
        </p:nvSpPr>
        <p:spPr>
          <a:xfrm>
            <a:off x="5246414" y="5295323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GNN</a:t>
            </a:r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31CA9B16-FA66-498D-ACFC-B3553336452E}"/>
              </a:ext>
            </a:extLst>
          </p:cNvPr>
          <p:cNvCxnSpPr/>
          <p:nvPr/>
        </p:nvCxnSpPr>
        <p:spPr>
          <a:xfrm>
            <a:off x="6067730" y="5476461"/>
            <a:ext cx="3600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48550E66-9464-4B4D-B0F2-1C5E8EA0EE8C}"/>
              </a:ext>
            </a:extLst>
          </p:cNvPr>
          <p:cNvSpPr/>
          <p:nvPr/>
        </p:nvSpPr>
        <p:spPr>
          <a:xfrm>
            <a:off x="6573079" y="4971242"/>
            <a:ext cx="258417" cy="12219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27B31AD9-A505-4D9B-BC31-9FE03774FE0B}"/>
              </a:ext>
            </a:extLst>
          </p:cNvPr>
          <p:cNvSpPr/>
          <p:nvPr/>
        </p:nvSpPr>
        <p:spPr>
          <a:xfrm>
            <a:off x="6630287" y="5071114"/>
            <a:ext cx="144000" cy="144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4DDE3CA9-6706-41AD-9124-95356C7AE557}"/>
              </a:ext>
            </a:extLst>
          </p:cNvPr>
          <p:cNvSpPr/>
          <p:nvPr/>
        </p:nvSpPr>
        <p:spPr>
          <a:xfrm>
            <a:off x="6630287" y="5328179"/>
            <a:ext cx="144000" cy="144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639BD216-E26E-40F0-BFD3-F83AA2E50BE4}"/>
              </a:ext>
            </a:extLst>
          </p:cNvPr>
          <p:cNvSpPr/>
          <p:nvPr/>
        </p:nvSpPr>
        <p:spPr>
          <a:xfrm>
            <a:off x="6630287" y="5561449"/>
            <a:ext cx="144000" cy="144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0DF69405-1DD2-458E-8BBE-8CDC3045F702}"/>
              </a:ext>
            </a:extLst>
          </p:cNvPr>
          <p:cNvSpPr/>
          <p:nvPr/>
        </p:nvSpPr>
        <p:spPr>
          <a:xfrm>
            <a:off x="6630287" y="5818514"/>
            <a:ext cx="144000" cy="144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04AE4B96-2DC5-4D91-8FD6-27B31473B1FC}"/>
              </a:ext>
            </a:extLst>
          </p:cNvPr>
          <p:cNvSpPr txBox="1"/>
          <p:nvPr/>
        </p:nvSpPr>
        <p:spPr>
          <a:xfrm>
            <a:off x="6976845" y="5242746"/>
            <a:ext cx="40318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グラフ</a:t>
            </a:r>
            <a:r>
              <a:rPr lang="en-US" altLang="ja-JP" sz="2400" dirty="0"/>
              <a:t>NN</a:t>
            </a:r>
            <a:r>
              <a:rPr lang="ja-JP" altLang="en-US" sz="2400" dirty="0"/>
              <a:t>による特徴量抽出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45203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3">
            <a:extLst>
              <a:ext uri="{FF2B5EF4-FFF2-40B4-BE49-F238E27FC236}">
                <a16:creationId xmlns:a16="http://schemas.microsoft.com/office/drawing/2014/main" id="{46F3438F-8A1F-460E-BD8E-3D2C7CF6C7D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dirty="0"/>
              <a:t>分子のグラフ表現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1EF977C-27CA-4E22-BBD2-F5B8CBD6B837}"/>
              </a:ext>
            </a:extLst>
          </p:cNvPr>
          <p:cNvSpPr txBox="1"/>
          <p:nvPr/>
        </p:nvSpPr>
        <p:spPr>
          <a:xfrm>
            <a:off x="914399" y="1794295"/>
            <a:ext cx="5731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構造式</a:t>
            </a:r>
            <a:r>
              <a:rPr kumimoji="1" lang="en-US" altLang="ja-JP" sz="2000" dirty="0"/>
              <a:t>(structural formula)</a:t>
            </a:r>
            <a:r>
              <a:rPr kumimoji="1" lang="ja-JP" altLang="en-US" sz="2800" dirty="0"/>
              <a:t>を用いた表現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43C2CE9-0A46-4792-942C-A9BBB605A67B}"/>
              </a:ext>
            </a:extLst>
          </p:cNvPr>
          <p:cNvSpPr txBox="1"/>
          <p:nvPr/>
        </p:nvSpPr>
        <p:spPr>
          <a:xfrm>
            <a:off x="1977585" y="2317515"/>
            <a:ext cx="47548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分子グラフ</a:t>
            </a:r>
            <a:r>
              <a:rPr kumimoji="1" lang="en-US" altLang="ja-JP" sz="2000" dirty="0"/>
              <a:t>(molecular graph)</a:t>
            </a:r>
            <a:r>
              <a:rPr kumimoji="1" lang="ja-JP" altLang="en-US" sz="2400" dirty="0"/>
              <a:t>の定義</a:t>
            </a:r>
          </a:p>
        </p:txBody>
      </p:sp>
      <p:graphicFrame>
        <p:nvGraphicFramePr>
          <p:cNvPr id="5" name="オブジェクト 4">
            <a:extLst>
              <a:ext uri="{FF2B5EF4-FFF2-40B4-BE49-F238E27FC236}">
                <a16:creationId xmlns:a16="http://schemas.microsoft.com/office/drawing/2014/main" id="{E1259340-782A-47FE-9950-C09EA023B0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147605"/>
              </p:ext>
            </p:extLst>
          </p:nvPr>
        </p:nvGraphicFramePr>
        <p:xfrm>
          <a:off x="2551113" y="2724150"/>
          <a:ext cx="44608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7" name="Equation" r:id="rId3" imgW="203040" imgH="228600" progId="Equation.DSMT4">
                  <p:embed/>
                </p:oleObj>
              </mc:Choice>
              <mc:Fallback>
                <p:oleObj name="Equation" r:id="rId3" imgW="203040" imgH="228600" progId="Equation.DSMT4">
                  <p:embed/>
                  <p:pic>
                    <p:nvPicPr>
                      <p:cNvPr id="5" name="オブジェクト 4">
                        <a:extLst>
                          <a:ext uri="{FF2B5EF4-FFF2-40B4-BE49-F238E27FC236}">
                            <a16:creationId xmlns:a16="http://schemas.microsoft.com/office/drawing/2014/main" id="{4A3E11E7-950F-4CBC-A55B-20EA89E2D5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51113" y="2724150"/>
                        <a:ext cx="446087" cy="50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15E7F3-2A28-4E59-ABA6-01F3FA7D8AF2}"/>
              </a:ext>
            </a:extLst>
          </p:cNvPr>
          <p:cNvSpPr txBox="1"/>
          <p:nvPr/>
        </p:nvSpPr>
        <p:spPr>
          <a:xfrm>
            <a:off x="2997200" y="2724150"/>
            <a:ext cx="1899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:</a:t>
            </a:r>
            <a:r>
              <a:rPr kumimoji="1" lang="ja-JP" altLang="en-US" sz="2400" dirty="0"/>
              <a:t> </a:t>
            </a:r>
            <a:r>
              <a:rPr lang="ja-JP" altLang="en-US" sz="2400" dirty="0"/>
              <a:t>原子</a:t>
            </a:r>
            <a:r>
              <a:rPr kumimoji="1" lang="ja-JP" altLang="en-US" sz="2400" dirty="0"/>
              <a:t>の集合</a:t>
            </a:r>
          </a:p>
        </p:txBody>
      </p:sp>
      <p:graphicFrame>
        <p:nvGraphicFramePr>
          <p:cNvPr id="7" name="オブジェクト 6">
            <a:extLst>
              <a:ext uri="{FF2B5EF4-FFF2-40B4-BE49-F238E27FC236}">
                <a16:creationId xmlns:a16="http://schemas.microsoft.com/office/drawing/2014/main" id="{1C491733-E1DA-4574-B788-5F7116BEDB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7081993"/>
              </p:ext>
            </p:extLst>
          </p:nvPr>
        </p:nvGraphicFramePr>
        <p:xfrm>
          <a:off x="5687649" y="2724150"/>
          <a:ext cx="44608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8" name="Equation" r:id="rId5" imgW="203040" imgH="228600" progId="Equation.DSMT4">
                  <p:embed/>
                </p:oleObj>
              </mc:Choice>
              <mc:Fallback>
                <p:oleObj name="Equation" r:id="rId5" imgW="203040" imgH="228600" progId="Equation.DSMT4">
                  <p:embed/>
                  <p:pic>
                    <p:nvPicPr>
                      <p:cNvPr id="5" name="オブジェクト 4">
                        <a:extLst>
                          <a:ext uri="{FF2B5EF4-FFF2-40B4-BE49-F238E27FC236}">
                            <a16:creationId xmlns:a16="http://schemas.microsoft.com/office/drawing/2014/main" id="{E1259340-782A-47FE-9950-C09EA023B0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87649" y="2724150"/>
                        <a:ext cx="446087" cy="50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F20DA55-B64C-4D1D-BE76-F5337A01B99E}"/>
              </a:ext>
            </a:extLst>
          </p:cNvPr>
          <p:cNvSpPr txBox="1"/>
          <p:nvPr/>
        </p:nvSpPr>
        <p:spPr>
          <a:xfrm>
            <a:off x="6133736" y="2724150"/>
            <a:ext cx="1899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:</a:t>
            </a:r>
            <a:r>
              <a:rPr kumimoji="1" lang="ja-JP" altLang="en-US" sz="2400" dirty="0"/>
              <a:t> </a:t>
            </a:r>
            <a:r>
              <a:rPr lang="ja-JP" altLang="en-US" sz="2400" dirty="0"/>
              <a:t>結合</a:t>
            </a:r>
            <a:r>
              <a:rPr kumimoji="1" lang="ja-JP" altLang="en-US" sz="2400" dirty="0"/>
              <a:t>の集合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0A62ECC-DE97-420C-9B2F-0C8A68569E7F}"/>
              </a:ext>
            </a:extLst>
          </p:cNvPr>
          <p:cNvSpPr txBox="1"/>
          <p:nvPr/>
        </p:nvSpPr>
        <p:spPr>
          <a:xfrm>
            <a:off x="2551113" y="3242475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頂点のラベルが</a:t>
            </a:r>
            <a:endParaRPr kumimoji="1" lang="ja-JP" altLang="en-US" sz="2400" dirty="0"/>
          </a:p>
        </p:txBody>
      </p:sp>
      <p:graphicFrame>
        <p:nvGraphicFramePr>
          <p:cNvPr id="10" name="オブジェクト 9">
            <a:extLst>
              <a:ext uri="{FF2B5EF4-FFF2-40B4-BE49-F238E27FC236}">
                <a16:creationId xmlns:a16="http://schemas.microsoft.com/office/drawing/2014/main" id="{52AE72F5-3CF3-4867-9F22-97847261CD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4784838"/>
              </p:ext>
            </p:extLst>
          </p:nvPr>
        </p:nvGraphicFramePr>
        <p:xfrm>
          <a:off x="4857750" y="3219450"/>
          <a:ext cx="4413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9" name="Equation" r:id="rId7" imgW="441683" imgH="502920" progId="Equation.DSMT4">
                  <p:embed/>
                </p:oleObj>
              </mc:Choice>
              <mc:Fallback>
                <p:oleObj name="Equation" r:id="rId7" imgW="441683" imgH="502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57750" y="3219450"/>
                        <a:ext cx="441325" cy="50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4E1CA1C-C1A8-4A83-9878-9E2A83599FF9}"/>
              </a:ext>
            </a:extLst>
          </p:cNvPr>
          <p:cNvSpPr txBox="1"/>
          <p:nvPr/>
        </p:nvSpPr>
        <p:spPr>
          <a:xfrm>
            <a:off x="5342013" y="324247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の元</a:t>
            </a:r>
            <a:endParaRPr kumimoji="1" lang="ja-JP" altLang="en-US" sz="24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454A054-C520-4FB4-894A-C39835F39144}"/>
              </a:ext>
            </a:extLst>
          </p:cNvPr>
          <p:cNvSpPr txBox="1"/>
          <p:nvPr/>
        </p:nvSpPr>
        <p:spPr>
          <a:xfrm>
            <a:off x="2551113" y="3704140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結合のラベルが</a:t>
            </a:r>
            <a:endParaRPr kumimoji="1" lang="ja-JP" altLang="en-US" sz="24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BE9EC8B-16ED-404D-9DEC-C0CDC2F58184}"/>
              </a:ext>
            </a:extLst>
          </p:cNvPr>
          <p:cNvSpPr txBox="1"/>
          <p:nvPr/>
        </p:nvSpPr>
        <p:spPr>
          <a:xfrm>
            <a:off x="5342013" y="370414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の元</a:t>
            </a:r>
            <a:endParaRPr kumimoji="1" lang="ja-JP" altLang="en-US" sz="2400" dirty="0"/>
          </a:p>
        </p:txBody>
      </p:sp>
      <p:graphicFrame>
        <p:nvGraphicFramePr>
          <p:cNvPr id="14" name="オブジェクト 13">
            <a:extLst>
              <a:ext uri="{FF2B5EF4-FFF2-40B4-BE49-F238E27FC236}">
                <a16:creationId xmlns:a16="http://schemas.microsoft.com/office/drawing/2014/main" id="{EF17CD04-8147-4E24-AEC7-BCA09B0B1E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417030"/>
              </p:ext>
            </p:extLst>
          </p:nvPr>
        </p:nvGraphicFramePr>
        <p:xfrm>
          <a:off x="4849812" y="3728250"/>
          <a:ext cx="44926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0" name="Equation" r:id="rId9" imgW="449441" imgH="502920" progId="Equation.DSMT4">
                  <p:embed/>
                </p:oleObj>
              </mc:Choice>
              <mc:Fallback>
                <p:oleObj name="Equation" r:id="rId9" imgW="449441" imgH="502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49812" y="3728250"/>
                        <a:ext cx="449263" cy="50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D8E5C83-4185-4E8E-A253-890F9EC243A8}"/>
              </a:ext>
            </a:extLst>
          </p:cNvPr>
          <p:cNvSpPr txBox="1"/>
          <p:nvPr/>
        </p:nvSpPr>
        <p:spPr>
          <a:xfrm>
            <a:off x="1964264" y="4396637"/>
            <a:ext cx="587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ex.</a:t>
            </a:r>
            <a:endParaRPr kumimoji="1" lang="ja-JP" altLang="en-US" sz="2400" dirty="0"/>
          </a:p>
        </p:txBody>
      </p:sp>
      <p:graphicFrame>
        <p:nvGraphicFramePr>
          <p:cNvPr id="16" name="オブジェクト 15">
            <a:extLst>
              <a:ext uri="{FF2B5EF4-FFF2-40B4-BE49-F238E27FC236}">
                <a16:creationId xmlns:a16="http://schemas.microsoft.com/office/drawing/2014/main" id="{FE67D43B-E08F-45F6-B1D0-6B378A63DA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998430"/>
              </p:ext>
            </p:extLst>
          </p:nvPr>
        </p:nvGraphicFramePr>
        <p:xfrm>
          <a:off x="2692400" y="4403284"/>
          <a:ext cx="177768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1" name="Equation" r:id="rId11" imgW="888840" imgH="253800" progId="Equation.DSMT4">
                  <p:embed/>
                </p:oleObj>
              </mc:Choice>
              <mc:Fallback>
                <p:oleObj name="Equation" r:id="rId11" imgW="8888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92400" y="4403284"/>
                        <a:ext cx="177768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オブジェクト 16">
            <a:extLst>
              <a:ext uri="{FF2B5EF4-FFF2-40B4-BE49-F238E27FC236}">
                <a16:creationId xmlns:a16="http://schemas.microsoft.com/office/drawing/2014/main" id="{2680AD92-D1B6-4161-A3EA-5E0B529720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039012"/>
              </p:ext>
            </p:extLst>
          </p:nvPr>
        </p:nvGraphicFramePr>
        <p:xfrm>
          <a:off x="4964049" y="4396637"/>
          <a:ext cx="144720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2" name="Equation" r:id="rId13" imgW="723600" imgH="253800" progId="Equation.DSMT4">
                  <p:embed/>
                </p:oleObj>
              </mc:Choice>
              <mc:Fallback>
                <p:oleObj name="Equation" r:id="rId13" imgW="7236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964049" y="4396637"/>
                        <a:ext cx="144720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35333146-7464-4480-9AAE-8DB2CEF4A370}"/>
              </a:ext>
            </a:extLst>
          </p:cNvPr>
          <p:cNvCxnSpPr/>
          <p:nvPr/>
        </p:nvCxnSpPr>
        <p:spPr>
          <a:xfrm flipH="1">
            <a:off x="5619750" y="4743450"/>
            <a:ext cx="219075" cy="285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B8A102E-A23D-4364-90CC-20A37414702A}"/>
              </a:ext>
            </a:extLst>
          </p:cNvPr>
          <p:cNvSpPr txBox="1"/>
          <p:nvPr/>
        </p:nvSpPr>
        <p:spPr>
          <a:xfrm>
            <a:off x="4741084" y="502920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単</a:t>
            </a:r>
            <a:r>
              <a:rPr kumimoji="1" lang="ja-JP" altLang="en-US" sz="2000" dirty="0"/>
              <a:t>結合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EBFEDE60-F9E1-4BB6-BCF8-D2D6E4DA5531}"/>
              </a:ext>
            </a:extLst>
          </p:cNvPr>
          <p:cNvCxnSpPr>
            <a:cxnSpLocks/>
          </p:cNvCxnSpPr>
          <p:nvPr/>
        </p:nvCxnSpPr>
        <p:spPr>
          <a:xfrm>
            <a:off x="6142232" y="4768009"/>
            <a:ext cx="219600" cy="28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591FD9E-813E-4C5D-8E67-8937BE93CEEA}"/>
              </a:ext>
            </a:extLst>
          </p:cNvPr>
          <p:cNvSpPr txBox="1"/>
          <p:nvPr/>
        </p:nvSpPr>
        <p:spPr>
          <a:xfrm>
            <a:off x="6321747" y="5023671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二</a:t>
            </a:r>
            <a:r>
              <a:rPr kumimoji="1" lang="ja-JP" altLang="en-US" sz="2000" dirty="0"/>
              <a:t>重結合</a:t>
            </a:r>
          </a:p>
        </p:txBody>
      </p:sp>
      <p:graphicFrame>
        <p:nvGraphicFramePr>
          <p:cNvPr id="24" name="オブジェクト 23">
            <a:extLst>
              <a:ext uri="{FF2B5EF4-FFF2-40B4-BE49-F238E27FC236}">
                <a16:creationId xmlns:a16="http://schemas.microsoft.com/office/drawing/2014/main" id="{EE537C2A-F967-4CFB-ACE4-CF2C5D8B82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0266990"/>
              </p:ext>
            </p:extLst>
          </p:nvPr>
        </p:nvGraphicFramePr>
        <p:xfrm>
          <a:off x="3987062" y="5423781"/>
          <a:ext cx="660240" cy="35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3" name="Equation" r:id="rId15" imgW="330120" imgH="177480" progId="Equation.DSMT4">
                  <p:embed/>
                </p:oleObj>
              </mc:Choice>
              <mc:Fallback>
                <p:oleObj name="Equation" r:id="rId15" imgW="330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987062" y="5423781"/>
                        <a:ext cx="660240" cy="354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オブジェクト 24">
            <a:extLst>
              <a:ext uri="{FF2B5EF4-FFF2-40B4-BE49-F238E27FC236}">
                <a16:creationId xmlns:a16="http://schemas.microsoft.com/office/drawing/2014/main" id="{20247C40-9149-4D6D-936C-6AC298B3E2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01532"/>
              </p:ext>
            </p:extLst>
          </p:nvPr>
        </p:nvGraphicFramePr>
        <p:xfrm>
          <a:off x="5173108" y="5376013"/>
          <a:ext cx="175248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4" name="Equation" r:id="rId17" imgW="876240" imgH="253800" progId="Equation.DSMT4">
                  <p:embed/>
                </p:oleObj>
              </mc:Choice>
              <mc:Fallback>
                <p:oleObj name="Equation" r:id="rId17" imgW="8762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173108" y="5376013"/>
                        <a:ext cx="175248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5390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3">
            <a:extLst>
              <a:ext uri="{FF2B5EF4-FFF2-40B4-BE49-F238E27FC236}">
                <a16:creationId xmlns:a16="http://schemas.microsoft.com/office/drawing/2014/main" id="{B034A90A-F633-4AAD-84EB-68BB4D359E4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dirty="0"/>
              <a:t>分子のグラフ表現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A6EBEAC-6571-4310-AE03-CE68378BA36B}"/>
              </a:ext>
            </a:extLst>
          </p:cNvPr>
          <p:cNvSpPr txBox="1"/>
          <p:nvPr/>
        </p:nvSpPr>
        <p:spPr>
          <a:xfrm>
            <a:off x="1977585" y="2498490"/>
            <a:ext cx="30812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原子価</a:t>
            </a:r>
            <a:r>
              <a:rPr kumimoji="1" lang="en-US" altLang="ja-JP" sz="2000" dirty="0"/>
              <a:t>(atomic valence)</a:t>
            </a:r>
            <a:endParaRPr kumimoji="1" lang="ja-JP" altLang="en-US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5B031E1-C601-4FF5-89F5-9426E58921DE}"/>
              </a:ext>
            </a:extLst>
          </p:cNvPr>
          <p:cNvSpPr txBox="1"/>
          <p:nvPr/>
        </p:nvSpPr>
        <p:spPr>
          <a:xfrm>
            <a:off x="2510985" y="3021710"/>
            <a:ext cx="6203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1</a:t>
            </a:r>
            <a:r>
              <a:rPr kumimoji="1" lang="ja-JP" altLang="en-US" sz="2400" dirty="0"/>
              <a:t>つの原子が何個の他の原子と結合できるか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6029682-F7DE-4FFD-8381-330A0B117458}"/>
              </a:ext>
            </a:extLst>
          </p:cNvPr>
          <p:cNvSpPr txBox="1"/>
          <p:nvPr/>
        </p:nvSpPr>
        <p:spPr>
          <a:xfrm>
            <a:off x="2901510" y="350574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ex. </a:t>
            </a:r>
            <a:r>
              <a:rPr lang="ja-JP" altLang="en-US" sz="2000" dirty="0"/>
              <a:t>炭素 </a:t>
            </a:r>
            <a:r>
              <a:rPr lang="en-US" altLang="ja-JP" sz="2000" dirty="0"/>
              <a:t>4</a:t>
            </a:r>
            <a:endParaRPr kumimoji="1" lang="ja-JP" altLang="en-US" sz="20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CB64F21-F7AE-4893-A28D-6D275CF50C7B}"/>
              </a:ext>
            </a:extLst>
          </p:cNvPr>
          <p:cNvSpPr txBox="1"/>
          <p:nvPr/>
        </p:nvSpPr>
        <p:spPr>
          <a:xfrm>
            <a:off x="4254060" y="3515871"/>
            <a:ext cx="914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酸素 </a:t>
            </a:r>
            <a:r>
              <a:rPr lang="en-US" altLang="ja-JP" sz="2000" dirty="0"/>
              <a:t>2</a:t>
            </a:r>
            <a:endParaRPr kumimoji="1" lang="ja-JP" altLang="en-US" sz="2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9AC0088-57F5-46E2-ADE3-958A7F55A22B}"/>
              </a:ext>
            </a:extLst>
          </p:cNvPr>
          <p:cNvSpPr txBox="1"/>
          <p:nvPr/>
        </p:nvSpPr>
        <p:spPr>
          <a:xfrm>
            <a:off x="5199448" y="3505743"/>
            <a:ext cx="19688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硫黄 </a:t>
            </a:r>
            <a:r>
              <a:rPr lang="en-US" altLang="ja-JP" sz="2000" dirty="0"/>
              <a:t>2 or 4 or 6</a:t>
            </a:r>
            <a:endParaRPr kumimoji="1" lang="ja-JP" altLang="en-US" sz="2000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447FD64E-8D93-4611-936D-1CC4CE65167A}"/>
              </a:ext>
            </a:extLst>
          </p:cNvPr>
          <p:cNvCxnSpPr/>
          <p:nvPr/>
        </p:nvCxnSpPr>
        <p:spPr>
          <a:xfrm>
            <a:off x="5199448" y="3877278"/>
            <a:ext cx="187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90A1F3B-57F1-4682-8F2B-6DEC9352C1F8}"/>
              </a:ext>
            </a:extLst>
          </p:cNvPr>
          <p:cNvSpPr txBox="1"/>
          <p:nvPr/>
        </p:nvSpPr>
        <p:spPr>
          <a:xfrm>
            <a:off x="5399473" y="3928221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原子価変動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C71B305-80A8-4571-940C-D2855D1AD20D}"/>
              </a:ext>
            </a:extLst>
          </p:cNvPr>
          <p:cNvSpPr txBox="1"/>
          <p:nvPr/>
        </p:nvSpPr>
        <p:spPr>
          <a:xfrm>
            <a:off x="1066799" y="1946695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分子グラフの制約条件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70642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3">
            <a:extLst>
              <a:ext uri="{FF2B5EF4-FFF2-40B4-BE49-F238E27FC236}">
                <a16:creationId xmlns:a16="http://schemas.microsoft.com/office/drawing/2014/main" id="{9693BB79-8C98-4949-B6A6-4EAE3D305BA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dirty="0"/>
              <a:t>分子のグラフ表現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4C1B523-E961-429D-86C8-6DCD3E255AF2}"/>
              </a:ext>
            </a:extLst>
          </p:cNvPr>
          <p:cNvSpPr txBox="1"/>
          <p:nvPr/>
        </p:nvSpPr>
        <p:spPr>
          <a:xfrm>
            <a:off x="914399" y="1794295"/>
            <a:ext cx="9134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SMILES</a:t>
            </a:r>
            <a:r>
              <a:rPr kumimoji="1" lang="ja-JP" altLang="en-US" sz="2800" dirty="0"/>
              <a:t> </a:t>
            </a:r>
            <a:r>
              <a:rPr kumimoji="1" lang="en-US" altLang="ja-JP" sz="2000" dirty="0"/>
              <a:t>(simplified molecular input line entry system) [</a:t>
            </a:r>
            <a:r>
              <a:rPr kumimoji="1" lang="en-US" altLang="ja-JP" sz="2000" dirty="0" err="1"/>
              <a:t>Weininger</a:t>
            </a:r>
            <a:r>
              <a:rPr kumimoji="1" lang="en-US" altLang="ja-JP" sz="2000" dirty="0"/>
              <a:t>, 1988]</a:t>
            </a:r>
            <a:endParaRPr kumimoji="1" lang="ja-JP" altLang="en-US" sz="28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0E2698E-FFD2-4542-ACF5-8AEDF342600D}"/>
              </a:ext>
            </a:extLst>
          </p:cNvPr>
          <p:cNvSpPr txBox="1"/>
          <p:nvPr/>
        </p:nvSpPr>
        <p:spPr>
          <a:xfrm>
            <a:off x="1701360" y="296733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原子</a:t>
            </a:r>
            <a:endParaRPr kumimoji="1" lang="ja-JP" altLang="en-US" sz="2400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EACBBC8-37FF-4FAC-B3B9-4B4B3850F09A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2501579" y="2828925"/>
            <a:ext cx="360000" cy="36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C0F604BB-4F82-45E7-B149-C54A5AACB1DA}"/>
              </a:ext>
            </a:extLst>
          </p:cNvPr>
          <p:cNvCxnSpPr>
            <a:cxnSpLocks/>
          </p:cNvCxnSpPr>
          <p:nvPr/>
        </p:nvCxnSpPr>
        <p:spPr>
          <a:xfrm>
            <a:off x="2501579" y="3188643"/>
            <a:ext cx="360000" cy="36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79F2CD8-B41F-453A-8648-79ECD129D94C}"/>
              </a:ext>
            </a:extLst>
          </p:cNvPr>
          <p:cNvSpPr txBox="1"/>
          <p:nvPr/>
        </p:nvSpPr>
        <p:spPr>
          <a:xfrm>
            <a:off x="2861579" y="258885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有機元素</a:t>
            </a:r>
            <a:endParaRPr kumimoji="1" lang="ja-JP" altLang="en-US" sz="24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598960F-561F-4AC3-AEDC-ED7A755C8DFD}"/>
              </a:ext>
            </a:extLst>
          </p:cNvPr>
          <p:cNvSpPr txBox="1"/>
          <p:nvPr/>
        </p:nvSpPr>
        <p:spPr>
          <a:xfrm>
            <a:off x="2861579" y="336864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それ以外</a:t>
            </a:r>
          </a:p>
        </p:txBody>
      </p:sp>
      <p:graphicFrame>
        <p:nvGraphicFramePr>
          <p:cNvPr id="12" name="オブジェクト 11">
            <a:extLst>
              <a:ext uri="{FF2B5EF4-FFF2-40B4-BE49-F238E27FC236}">
                <a16:creationId xmlns:a16="http://schemas.microsoft.com/office/drawing/2014/main" id="{57685373-13F9-4CE3-888D-4914F9CA80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422173"/>
              </p:ext>
            </p:extLst>
          </p:nvPr>
        </p:nvGraphicFramePr>
        <p:xfrm>
          <a:off x="4700588" y="2657389"/>
          <a:ext cx="304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3" name="Equation" r:id="rId4" imgW="152280" imgH="164880" progId="Equation.DSMT4">
                  <p:embed/>
                </p:oleObj>
              </mc:Choice>
              <mc:Fallback>
                <p:oleObj name="Equation" r:id="rId4" imgW="152280" imgH="164880" progId="Equation.DSMT4">
                  <p:embed/>
                  <p:pic>
                    <p:nvPicPr>
                      <p:cNvPr id="24" name="オブジェクト 23">
                        <a:extLst>
                          <a:ext uri="{FF2B5EF4-FFF2-40B4-BE49-F238E27FC236}">
                            <a16:creationId xmlns:a16="http://schemas.microsoft.com/office/drawing/2014/main" id="{EE537C2A-F967-4CFB-ACE4-CF2C5D8B8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00588" y="2657389"/>
                        <a:ext cx="3048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オブジェクト 12">
            <a:extLst>
              <a:ext uri="{FF2B5EF4-FFF2-40B4-BE49-F238E27FC236}">
                <a16:creationId xmlns:a16="http://schemas.microsoft.com/office/drawing/2014/main" id="{042EE0F6-53FA-4D5D-9910-64DCAB34A6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7674144"/>
              </p:ext>
            </p:extLst>
          </p:nvPr>
        </p:nvGraphicFramePr>
        <p:xfrm>
          <a:off x="5176955" y="2645009"/>
          <a:ext cx="304560" cy="35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4" name="Equation" r:id="rId6" imgW="152280" imgH="177480" progId="Equation.DSMT4">
                  <p:embed/>
                </p:oleObj>
              </mc:Choice>
              <mc:Fallback>
                <p:oleObj name="Equation" r:id="rId6" imgW="1522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176955" y="2645009"/>
                        <a:ext cx="304560" cy="354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オブジェクト 13">
            <a:extLst>
              <a:ext uri="{FF2B5EF4-FFF2-40B4-BE49-F238E27FC236}">
                <a16:creationId xmlns:a16="http://schemas.microsoft.com/office/drawing/2014/main" id="{5ED7149F-56CC-4F41-86FC-5E9CB051AC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924299"/>
              </p:ext>
            </p:extLst>
          </p:nvPr>
        </p:nvGraphicFramePr>
        <p:xfrm>
          <a:off x="5653082" y="2645009"/>
          <a:ext cx="329760" cy="35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5" name="Equation" r:id="rId8" imgW="164880" imgH="177480" progId="Equation.DSMT4">
                  <p:embed/>
                </p:oleObj>
              </mc:Choice>
              <mc:Fallback>
                <p:oleObj name="Equation" r:id="rId8" imgW="1648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653082" y="2645009"/>
                        <a:ext cx="329760" cy="354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オブジェクト 14">
            <a:extLst>
              <a:ext uri="{FF2B5EF4-FFF2-40B4-BE49-F238E27FC236}">
                <a16:creationId xmlns:a16="http://schemas.microsoft.com/office/drawing/2014/main" id="{56D29E91-882C-47BD-8637-792455D4DE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541217"/>
              </p:ext>
            </p:extLst>
          </p:nvPr>
        </p:nvGraphicFramePr>
        <p:xfrm>
          <a:off x="6154409" y="2645009"/>
          <a:ext cx="304560" cy="35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6" name="Equation" r:id="rId10" imgW="152280" imgH="177480" progId="Equation.DSMT4">
                  <p:embed/>
                </p:oleObj>
              </mc:Choice>
              <mc:Fallback>
                <p:oleObj name="Equation" r:id="rId10" imgW="1522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154409" y="2645009"/>
                        <a:ext cx="304560" cy="354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オブジェクト 15">
            <a:extLst>
              <a:ext uri="{FF2B5EF4-FFF2-40B4-BE49-F238E27FC236}">
                <a16:creationId xmlns:a16="http://schemas.microsoft.com/office/drawing/2014/main" id="{8A7BD9CC-3624-4450-978A-4FB056D5D5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5398521"/>
              </p:ext>
            </p:extLst>
          </p:nvPr>
        </p:nvGraphicFramePr>
        <p:xfrm>
          <a:off x="6631795" y="2657609"/>
          <a:ext cx="279360" cy="329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7" name="Equation" r:id="rId12" imgW="139680" imgH="164880" progId="Equation.DSMT4">
                  <p:embed/>
                </p:oleObj>
              </mc:Choice>
              <mc:Fallback>
                <p:oleObj name="Equation" r:id="rId12" imgW="1396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631795" y="2657609"/>
                        <a:ext cx="279360" cy="329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オブジェクト 16">
            <a:extLst>
              <a:ext uri="{FF2B5EF4-FFF2-40B4-BE49-F238E27FC236}">
                <a16:creationId xmlns:a16="http://schemas.microsoft.com/office/drawing/2014/main" id="{39FE8246-6407-48A3-B52C-DBA87EE331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9925192"/>
              </p:ext>
            </p:extLst>
          </p:nvPr>
        </p:nvGraphicFramePr>
        <p:xfrm>
          <a:off x="7083981" y="2645009"/>
          <a:ext cx="253440" cy="35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8" name="Equation" r:id="rId14" imgW="126720" imgH="177480" progId="Equation.DSMT4">
                  <p:embed/>
                </p:oleObj>
              </mc:Choice>
              <mc:Fallback>
                <p:oleObj name="Equation" r:id="rId14" imgW="1267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083981" y="2645009"/>
                        <a:ext cx="253440" cy="354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オブジェクト 17">
            <a:extLst>
              <a:ext uri="{FF2B5EF4-FFF2-40B4-BE49-F238E27FC236}">
                <a16:creationId xmlns:a16="http://schemas.microsoft.com/office/drawing/2014/main" id="{EAB47B48-1490-41A9-80B3-3C571BD58A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8608026"/>
              </p:ext>
            </p:extLst>
          </p:nvPr>
        </p:nvGraphicFramePr>
        <p:xfrm>
          <a:off x="7510247" y="2657609"/>
          <a:ext cx="253440" cy="329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9" name="Equation" r:id="rId16" imgW="126720" imgH="164880" progId="Equation.DSMT4">
                  <p:embed/>
                </p:oleObj>
              </mc:Choice>
              <mc:Fallback>
                <p:oleObj name="Equation" r:id="rId16" imgW="12672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510247" y="2657609"/>
                        <a:ext cx="253440" cy="329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オブジェクト 18">
            <a:extLst>
              <a:ext uri="{FF2B5EF4-FFF2-40B4-BE49-F238E27FC236}">
                <a16:creationId xmlns:a16="http://schemas.microsoft.com/office/drawing/2014/main" id="{56175FCC-6579-40AD-81CA-E330042162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2517597"/>
              </p:ext>
            </p:extLst>
          </p:nvPr>
        </p:nvGraphicFramePr>
        <p:xfrm>
          <a:off x="7936513" y="2645009"/>
          <a:ext cx="380880" cy="35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0" name="Equation" r:id="rId18" imgW="190440" imgH="177480" progId="Equation.DSMT4">
                  <p:embed/>
                </p:oleObj>
              </mc:Choice>
              <mc:Fallback>
                <p:oleObj name="Equation" r:id="rId18" imgW="19044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936513" y="2645009"/>
                        <a:ext cx="380880" cy="354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オブジェクト 19">
            <a:extLst>
              <a:ext uri="{FF2B5EF4-FFF2-40B4-BE49-F238E27FC236}">
                <a16:creationId xmlns:a16="http://schemas.microsoft.com/office/drawing/2014/main" id="{C500AC0E-0006-4FDE-AE78-984ED7DC81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935719"/>
              </p:ext>
            </p:extLst>
          </p:nvPr>
        </p:nvGraphicFramePr>
        <p:xfrm>
          <a:off x="8492332" y="2657609"/>
          <a:ext cx="406080" cy="329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1" name="Equation" r:id="rId20" imgW="203040" imgH="164880" progId="Equation.DSMT4">
                  <p:embed/>
                </p:oleObj>
              </mc:Choice>
              <mc:Fallback>
                <p:oleObj name="Equation" r:id="rId20" imgW="20304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492332" y="2657609"/>
                        <a:ext cx="406080" cy="329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オブジェクト 20">
            <a:extLst>
              <a:ext uri="{FF2B5EF4-FFF2-40B4-BE49-F238E27FC236}">
                <a16:creationId xmlns:a16="http://schemas.microsoft.com/office/drawing/2014/main" id="{8C894167-0FD1-44BB-BBA7-A93930E035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8472999"/>
              </p:ext>
            </p:extLst>
          </p:nvPr>
        </p:nvGraphicFramePr>
        <p:xfrm>
          <a:off x="9073351" y="2657609"/>
          <a:ext cx="203040" cy="329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2" name="Equation" r:id="rId22" imgW="101520" imgH="164880" progId="Equation.DSMT4">
                  <p:embed/>
                </p:oleObj>
              </mc:Choice>
              <mc:Fallback>
                <p:oleObj name="Equation" r:id="rId22" imgW="10152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9073351" y="2657609"/>
                        <a:ext cx="203040" cy="329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BDA1B49-978A-4FB9-8C70-E6B21DCB4B7F}"/>
              </a:ext>
            </a:extLst>
          </p:cNvPr>
          <p:cNvSpPr txBox="1"/>
          <p:nvPr/>
        </p:nvSpPr>
        <p:spPr>
          <a:xfrm>
            <a:off x="1708698" y="4078820"/>
            <a:ext cx="75745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有機元素 </a:t>
            </a:r>
            <a:r>
              <a:rPr lang="en-US" altLang="ja-JP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en-US" altLang="ja-JP" sz="2400" dirty="0"/>
              <a:t> </a:t>
            </a:r>
            <a:r>
              <a:rPr lang="ja-JP" altLang="en-US" sz="2400" dirty="0"/>
              <a:t>結合している水素原子と原子価が整合的</a:t>
            </a:r>
            <a:endParaRPr kumimoji="1" lang="ja-JP" altLang="en-US" sz="2400" dirty="0"/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92AAF306-0D62-4181-B26D-0EEE11C0D2AA}"/>
              </a:ext>
            </a:extLst>
          </p:cNvPr>
          <p:cNvSpPr/>
          <p:nvPr/>
        </p:nvSpPr>
        <p:spPr>
          <a:xfrm>
            <a:off x="7357967" y="4703272"/>
            <a:ext cx="304560" cy="17145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ED08FDD-75AB-4CBE-B8FD-5105D74C5165}"/>
              </a:ext>
            </a:extLst>
          </p:cNvPr>
          <p:cNvSpPr txBox="1"/>
          <p:nvPr/>
        </p:nvSpPr>
        <p:spPr>
          <a:xfrm>
            <a:off x="7662527" y="4566828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水素原子を省略可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786E0B2-5272-4159-BE78-D52D954B5BBB}"/>
              </a:ext>
            </a:extLst>
          </p:cNvPr>
          <p:cNvSpPr txBox="1"/>
          <p:nvPr/>
        </p:nvSpPr>
        <p:spPr>
          <a:xfrm>
            <a:off x="8907324" y="3994556"/>
            <a:ext cx="306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*</a:t>
            </a:r>
            <a:endParaRPr kumimoji="1" lang="ja-JP" altLang="en-US" sz="240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8243C5F-F822-489D-B083-053BC5FE8709}"/>
              </a:ext>
            </a:extLst>
          </p:cNvPr>
          <p:cNvSpPr txBox="1"/>
          <p:nvPr/>
        </p:nvSpPr>
        <p:spPr>
          <a:xfrm>
            <a:off x="2830422" y="5242684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原子価の余っているところがすべて水素と結合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E964721-3656-4212-8B89-3E7D90F766BB}"/>
              </a:ext>
            </a:extLst>
          </p:cNvPr>
          <p:cNvSpPr txBox="1"/>
          <p:nvPr/>
        </p:nvSpPr>
        <p:spPr>
          <a:xfrm>
            <a:off x="2677175" y="5168680"/>
            <a:ext cx="306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*</a:t>
            </a:r>
            <a:endParaRPr kumimoji="1" lang="ja-JP" altLang="en-US" sz="24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F775059-01D1-4A26-A045-D74875E9EA32}"/>
              </a:ext>
            </a:extLst>
          </p:cNvPr>
          <p:cNvSpPr txBox="1"/>
          <p:nvPr/>
        </p:nvSpPr>
        <p:spPr>
          <a:xfrm>
            <a:off x="1694260" y="5705919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整合的でない場合はカッコ付き表記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887330B-11CD-4A1C-A62B-F21CED8E0D2F}"/>
              </a:ext>
            </a:extLst>
          </p:cNvPr>
          <p:cNvSpPr txBox="1"/>
          <p:nvPr/>
        </p:nvSpPr>
        <p:spPr>
          <a:xfrm>
            <a:off x="2085346" y="6177219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ex.</a:t>
            </a:r>
            <a:r>
              <a:rPr lang="ja-JP" altLang="en-US" sz="2000" dirty="0"/>
              <a:t> </a:t>
            </a:r>
            <a:endParaRPr kumimoji="1" lang="ja-JP" altLang="en-US" sz="20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367C727-1E01-4DD3-B3DB-3E4476FCEABA}"/>
              </a:ext>
            </a:extLst>
          </p:cNvPr>
          <p:cNvSpPr txBox="1"/>
          <p:nvPr/>
        </p:nvSpPr>
        <p:spPr>
          <a:xfrm>
            <a:off x="2687754" y="6177219"/>
            <a:ext cx="12843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炭素単体 </a:t>
            </a:r>
            <a:endParaRPr kumimoji="1" lang="ja-JP" altLang="en-US" sz="2000" dirty="0"/>
          </a:p>
        </p:txBody>
      </p:sp>
      <p:graphicFrame>
        <p:nvGraphicFramePr>
          <p:cNvPr id="7" name="オブジェクト 6">
            <a:extLst>
              <a:ext uri="{FF2B5EF4-FFF2-40B4-BE49-F238E27FC236}">
                <a16:creationId xmlns:a16="http://schemas.microsoft.com/office/drawing/2014/main" id="{A44753A2-E920-41D1-BC7B-84AE2E010D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7478130"/>
              </p:ext>
            </p:extLst>
          </p:nvPr>
        </p:nvGraphicFramePr>
        <p:xfrm>
          <a:off x="3965575" y="6116638"/>
          <a:ext cx="457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3" name="Equation" r:id="rId24" imgW="228600" imgH="253800" progId="Equation.DSMT4">
                  <p:embed/>
                </p:oleObj>
              </mc:Choice>
              <mc:Fallback>
                <p:oleObj name="Equation" r:id="rId24" imgW="2286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965575" y="6116638"/>
                        <a:ext cx="4572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AC779372-4AA5-46D7-9295-34853D1DB35E}"/>
              </a:ext>
            </a:extLst>
          </p:cNvPr>
          <p:cNvSpPr txBox="1"/>
          <p:nvPr/>
        </p:nvSpPr>
        <p:spPr>
          <a:xfrm>
            <a:off x="4647988" y="6177219"/>
            <a:ext cx="10278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メタン </a:t>
            </a:r>
            <a:endParaRPr kumimoji="1" lang="ja-JP" altLang="en-US" sz="2000" dirty="0"/>
          </a:p>
        </p:txBody>
      </p:sp>
      <p:graphicFrame>
        <p:nvGraphicFramePr>
          <p:cNvPr id="32" name="オブジェクト 31">
            <a:extLst>
              <a:ext uri="{FF2B5EF4-FFF2-40B4-BE49-F238E27FC236}">
                <a16:creationId xmlns:a16="http://schemas.microsoft.com/office/drawing/2014/main" id="{56CDD1FB-F7AF-44CB-BA8B-51918D5760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324721"/>
              </p:ext>
            </p:extLst>
          </p:nvPr>
        </p:nvGraphicFramePr>
        <p:xfrm>
          <a:off x="5646738" y="6218238"/>
          <a:ext cx="254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4" name="Equation" r:id="rId26" imgW="126720" imgH="152280" progId="Equation.DSMT4">
                  <p:embed/>
                </p:oleObj>
              </mc:Choice>
              <mc:Fallback>
                <p:oleObj name="Equation" r:id="rId26" imgW="126720" imgH="152280" progId="Equation.DSMT4">
                  <p:embed/>
                  <p:pic>
                    <p:nvPicPr>
                      <p:cNvPr id="7" name="オブジェクト 6">
                        <a:extLst>
                          <a:ext uri="{FF2B5EF4-FFF2-40B4-BE49-F238E27FC236}">
                            <a16:creationId xmlns:a16="http://schemas.microsoft.com/office/drawing/2014/main" id="{A44753A2-E920-41D1-BC7B-84AE2E010D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646738" y="6218238"/>
                        <a:ext cx="2540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27FFCA3-1FC5-476C-AFDE-3D59F270ACDB}"/>
              </a:ext>
            </a:extLst>
          </p:cNvPr>
          <p:cNvSpPr txBox="1"/>
          <p:nvPr/>
        </p:nvSpPr>
        <p:spPr>
          <a:xfrm>
            <a:off x="6243395" y="6177219"/>
            <a:ext cx="5148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水 </a:t>
            </a:r>
            <a:endParaRPr kumimoji="1" lang="ja-JP" altLang="en-US" sz="2000" dirty="0"/>
          </a:p>
        </p:txBody>
      </p:sp>
      <p:graphicFrame>
        <p:nvGraphicFramePr>
          <p:cNvPr id="34" name="オブジェクト 33">
            <a:extLst>
              <a:ext uri="{FF2B5EF4-FFF2-40B4-BE49-F238E27FC236}">
                <a16:creationId xmlns:a16="http://schemas.microsoft.com/office/drawing/2014/main" id="{375CF5A5-73F2-42C0-BE42-90263495B9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024371"/>
              </p:ext>
            </p:extLst>
          </p:nvPr>
        </p:nvGraphicFramePr>
        <p:xfrm>
          <a:off x="6767686" y="6204936"/>
          <a:ext cx="254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5" name="Equation" r:id="rId28" imgW="126720" imgH="152280" progId="Equation.DSMT4">
                  <p:embed/>
                </p:oleObj>
              </mc:Choice>
              <mc:Fallback>
                <p:oleObj name="Equation" r:id="rId28" imgW="126720" imgH="152280" progId="Equation.DSMT4">
                  <p:embed/>
                  <p:pic>
                    <p:nvPicPr>
                      <p:cNvPr id="32" name="オブジェクト 31">
                        <a:extLst>
                          <a:ext uri="{FF2B5EF4-FFF2-40B4-BE49-F238E27FC236}">
                            <a16:creationId xmlns:a16="http://schemas.microsoft.com/office/drawing/2014/main" id="{56CDD1FB-F7AF-44CB-BA8B-51918D5760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767686" y="6204936"/>
                        <a:ext cx="2540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07612974-9E54-4990-B13A-894261E7CB95}"/>
              </a:ext>
            </a:extLst>
          </p:cNvPr>
          <p:cNvSpPr txBox="1"/>
          <p:nvPr/>
        </p:nvSpPr>
        <p:spPr>
          <a:xfrm>
            <a:off x="7294350" y="6177219"/>
            <a:ext cx="12843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硫黄単体 </a:t>
            </a:r>
            <a:endParaRPr kumimoji="1" lang="ja-JP" altLang="en-US" sz="2000" dirty="0"/>
          </a:p>
        </p:txBody>
      </p:sp>
      <p:graphicFrame>
        <p:nvGraphicFramePr>
          <p:cNvPr id="36" name="オブジェクト 35">
            <a:extLst>
              <a:ext uri="{FF2B5EF4-FFF2-40B4-BE49-F238E27FC236}">
                <a16:creationId xmlns:a16="http://schemas.microsoft.com/office/drawing/2014/main" id="{216D5C7E-2CD4-4C89-B433-EEFC6C9351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7790783"/>
              </p:ext>
            </p:extLst>
          </p:nvPr>
        </p:nvGraphicFramePr>
        <p:xfrm>
          <a:off x="8585200" y="6116638"/>
          <a:ext cx="431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6" name="Equation" r:id="rId30" imgW="215640" imgH="253800" progId="Equation.DSMT4">
                  <p:embed/>
                </p:oleObj>
              </mc:Choice>
              <mc:Fallback>
                <p:oleObj name="Equation" r:id="rId30" imgW="215640" imgH="253800" progId="Equation.DSMT4">
                  <p:embed/>
                  <p:pic>
                    <p:nvPicPr>
                      <p:cNvPr id="7" name="オブジェクト 6">
                        <a:extLst>
                          <a:ext uri="{FF2B5EF4-FFF2-40B4-BE49-F238E27FC236}">
                            <a16:creationId xmlns:a16="http://schemas.microsoft.com/office/drawing/2014/main" id="{A44753A2-E920-41D1-BC7B-84AE2E010D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585200" y="6116638"/>
                        <a:ext cx="4318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12C15E02-AD16-4E79-A0B4-5C5BAF78DBA6}"/>
              </a:ext>
            </a:extLst>
          </p:cNvPr>
          <p:cNvSpPr txBox="1"/>
          <p:nvPr/>
        </p:nvSpPr>
        <p:spPr>
          <a:xfrm>
            <a:off x="9361775" y="6163917"/>
            <a:ext cx="12843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硫化水素 </a:t>
            </a:r>
            <a:endParaRPr kumimoji="1" lang="ja-JP" altLang="en-US" sz="2000" dirty="0"/>
          </a:p>
        </p:txBody>
      </p:sp>
      <p:graphicFrame>
        <p:nvGraphicFramePr>
          <p:cNvPr id="38" name="オブジェクト 37">
            <a:extLst>
              <a:ext uri="{FF2B5EF4-FFF2-40B4-BE49-F238E27FC236}">
                <a16:creationId xmlns:a16="http://schemas.microsoft.com/office/drawing/2014/main" id="{EDC6CD9A-DD1A-4A95-A1AA-B809E11A3C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7034879"/>
              </p:ext>
            </p:extLst>
          </p:nvPr>
        </p:nvGraphicFramePr>
        <p:xfrm>
          <a:off x="10668000" y="6205538"/>
          <a:ext cx="228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7" name="Equation" r:id="rId32" imgW="114120" imgH="152280" progId="Equation.DSMT4">
                  <p:embed/>
                </p:oleObj>
              </mc:Choice>
              <mc:Fallback>
                <p:oleObj name="Equation" r:id="rId32" imgW="114120" imgH="152280" progId="Equation.DSMT4">
                  <p:embed/>
                  <p:pic>
                    <p:nvPicPr>
                      <p:cNvPr id="32" name="オブジェクト 31">
                        <a:extLst>
                          <a:ext uri="{FF2B5EF4-FFF2-40B4-BE49-F238E27FC236}">
                            <a16:creationId xmlns:a16="http://schemas.microsoft.com/office/drawing/2014/main" id="{56CDD1FB-F7AF-44CB-BA8B-51918D5760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0668000" y="6205538"/>
                        <a:ext cx="2286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2320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3">
            <a:extLst>
              <a:ext uri="{FF2B5EF4-FFF2-40B4-BE49-F238E27FC236}">
                <a16:creationId xmlns:a16="http://schemas.microsoft.com/office/drawing/2014/main" id="{0AFFB922-A4DD-4318-9590-75CBDCCD157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dirty="0"/>
              <a:t>分子のグラフ表現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6E81EB9-F9D8-4584-B948-0BE8E41279A9}"/>
              </a:ext>
            </a:extLst>
          </p:cNvPr>
          <p:cNvSpPr txBox="1"/>
          <p:nvPr/>
        </p:nvSpPr>
        <p:spPr>
          <a:xfrm>
            <a:off x="914399" y="1794295"/>
            <a:ext cx="15087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SMILES</a:t>
            </a:r>
            <a:endParaRPr kumimoji="1" lang="ja-JP" altLang="en-US" sz="28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157DEA8-644E-4B30-8C02-3BF8B186CED1}"/>
              </a:ext>
            </a:extLst>
          </p:cNvPr>
          <p:cNvSpPr txBox="1"/>
          <p:nvPr/>
        </p:nvSpPr>
        <p:spPr>
          <a:xfrm>
            <a:off x="1977585" y="2317515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結合の表現方法</a:t>
            </a:r>
            <a:endParaRPr kumimoji="1" lang="ja-JP" altLang="en-US" sz="2400" dirty="0"/>
          </a:p>
        </p:txBody>
      </p:sp>
      <p:graphicFrame>
        <p:nvGraphicFramePr>
          <p:cNvPr id="6" name="オブジェクト 5">
            <a:extLst>
              <a:ext uri="{FF2B5EF4-FFF2-40B4-BE49-F238E27FC236}">
                <a16:creationId xmlns:a16="http://schemas.microsoft.com/office/drawing/2014/main" id="{1F03D66C-2897-4B3B-A000-CA646562D4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694707"/>
              </p:ext>
            </p:extLst>
          </p:nvPr>
        </p:nvGraphicFramePr>
        <p:xfrm>
          <a:off x="2732088" y="2887663"/>
          <a:ext cx="2540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9" name="Equation" r:id="rId3" imgW="126720" imgH="101520" progId="Equation.DSMT4">
                  <p:embed/>
                </p:oleObj>
              </mc:Choice>
              <mc:Fallback>
                <p:oleObj name="Equation" r:id="rId3" imgW="126720" imgH="101520" progId="Equation.DSMT4">
                  <p:embed/>
                  <p:pic>
                    <p:nvPicPr>
                      <p:cNvPr id="32" name="オブジェクト 31">
                        <a:extLst>
                          <a:ext uri="{FF2B5EF4-FFF2-40B4-BE49-F238E27FC236}">
                            <a16:creationId xmlns:a16="http://schemas.microsoft.com/office/drawing/2014/main" id="{56CDD1FB-F7AF-44CB-BA8B-51918D5760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32088" y="2887663"/>
                        <a:ext cx="2540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11D28BD-6163-492A-AD36-9C79C15A05D7}"/>
              </a:ext>
            </a:extLst>
          </p:cNvPr>
          <p:cNvSpPr txBox="1"/>
          <p:nvPr/>
        </p:nvSpPr>
        <p:spPr>
          <a:xfrm>
            <a:off x="3014663" y="2758430"/>
            <a:ext cx="2972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単結合 </a:t>
            </a:r>
            <a:r>
              <a:rPr lang="en-US" altLang="ja-JP" sz="2400" dirty="0"/>
              <a:t>(</a:t>
            </a:r>
            <a:r>
              <a:rPr lang="ja-JP" altLang="en-US" sz="2400" dirty="0"/>
              <a:t>通常は省略</a:t>
            </a:r>
            <a:r>
              <a:rPr lang="en-US" altLang="ja-JP" sz="2400" dirty="0"/>
              <a:t>)</a:t>
            </a:r>
            <a:endParaRPr kumimoji="1" lang="ja-JP" altLang="en-US" sz="2400" dirty="0"/>
          </a:p>
        </p:txBody>
      </p:sp>
      <p:graphicFrame>
        <p:nvGraphicFramePr>
          <p:cNvPr id="8" name="オブジェクト 7">
            <a:extLst>
              <a:ext uri="{FF2B5EF4-FFF2-40B4-BE49-F238E27FC236}">
                <a16:creationId xmlns:a16="http://schemas.microsoft.com/office/drawing/2014/main" id="{CB10248E-EA4F-4832-B5DE-1D2C2AA44E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1033892"/>
              </p:ext>
            </p:extLst>
          </p:nvPr>
        </p:nvGraphicFramePr>
        <p:xfrm>
          <a:off x="2732088" y="3341688"/>
          <a:ext cx="254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0" name="Equation" r:id="rId5" imgW="126720" imgH="114120" progId="Equation.DSMT4">
                  <p:embed/>
                </p:oleObj>
              </mc:Choice>
              <mc:Fallback>
                <p:oleObj name="Equation" r:id="rId5" imgW="126720" imgH="114120" progId="Equation.DSMT4">
                  <p:embed/>
                  <p:pic>
                    <p:nvPicPr>
                      <p:cNvPr id="6" name="オブジェクト 5">
                        <a:extLst>
                          <a:ext uri="{FF2B5EF4-FFF2-40B4-BE49-F238E27FC236}">
                            <a16:creationId xmlns:a16="http://schemas.microsoft.com/office/drawing/2014/main" id="{1F03D66C-2897-4B3B-A000-CA646562D4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32088" y="3341688"/>
                        <a:ext cx="254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54E7414-EB2B-4C8E-B1FE-279326B7B9AD}"/>
              </a:ext>
            </a:extLst>
          </p:cNvPr>
          <p:cNvSpPr txBox="1"/>
          <p:nvPr/>
        </p:nvSpPr>
        <p:spPr>
          <a:xfrm>
            <a:off x="3014663" y="322567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二重結合</a:t>
            </a:r>
            <a:endParaRPr kumimoji="1" lang="ja-JP" altLang="en-US" sz="2400" dirty="0"/>
          </a:p>
        </p:txBody>
      </p:sp>
      <p:graphicFrame>
        <p:nvGraphicFramePr>
          <p:cNvPr id="10" name="オブジェクト 9">
            <a:extLst>
              <a:ext uri="{FF2B5EF4-FFF2-40B4-BE49-F238E27FC236}">
                <a16:creationId xmlns:a16="http://schemas.microsoft.com/office/drawing/2014/main" id="{5D77C9EA-AA56-4E28-8F89-0B4039BB09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135495"/>
              </p:ext>
            </p:extLst>
          </p:nvPr>
        </p:nvGraphicFramePr>
        <p:xfrm>
          <a:off x="2732088" y="3763963"/>
          <a:ext cx="254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1" name="Equation" r:id="rId7" imgW="126720" imgH="164880" progId="Equation.DSMT4">
                  <p:embed/>
                </p:oleObj>
              </mc:Choice>
              <mc:Fallback>
                <p:oleObj name="Equation" r:id="rId7" imgW="126720" imgH="164880" progId="Equation.DSMT4">
                  <p:embed/>
                  <p:pic>
                    <p:nvPicPr>
                      <p:cNvPr id="8" name="オブジェクト 7">
                        <a:extLst>
                          <a:ext uri="{FF2B5EF4-FFF2-40B4-BE49-F238E27FC236}">
                            <a16:creationId xmlns:a16="http://schemas.microsoft.com/office/drawing/2014/main" id="{CB10248E-EA4F-4832-B5DE-1D2C2AA44E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32088" y="3763963"/>
                        <a:ext cx="254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90F8A40-E0D8-404C-B249-F7C234FF8E27}"/>
              </a:ext>
            </a:extLst>
          </p:cNvPr>
          <p:cNvSpPr txBox="1"/>
          <p:nvPr/>
        </p:nvSpPr>
        <p:spPr>
          <a:xfrm>
            <a:off x="3014663" y="369845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三重結合</a:t>
            </a:r>
            <a:endParaRPr kumimoji="1" lang="ja-JP" altLang="en-US" sz="24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4B8BAFE-15E1-410D-9450-D685D72EC682}"/>
              </a:ext>
            </a:extLst>
          </p:cNvPr>
          <p:cNvSpPr txBox="1"/>
          <p:nvPr/>
        </p:nvSpPr>
        <p:spPr>
          <a:xfrm>
            <a:off x="1977585" y="4733689"/>
            <a:ext cx="587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ex.</a:t>
            </a:r>
            <a:endParaRPr kumimoji="1" lang="ja-JP" altLang="en-US" sz="2400" dirty="0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456ED961-0B65-4F96-A3D7-2E5EB1FAE60F}"/>
              </a:ext>
            </a:extLst>
          </p:cNvPr>
          <p:cNvCxnSpPr/>
          <p:nvPr/>
        </p:nvCxnSpPr>
        <p:spPr>
          <a:xfrm flipV="1">
            <a:off x="2651564" y="5458621"/>
            <a:ext cx="396000" cy="28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8E047768-A5A8-4EE3-B5DA-DEE0BA0380C4}"/>
              </a:ext>
            </a:extLst>
          </p:cNvPr>
          <p:cNvCxnSpPr>
            <a:cxnSpLocks/>
          </p:cNvCxnSpPr>
          <p:nvPr/>
        </p:nvCxnSpPr>
        <p:spPr>
          <a:xfrm>
            <a:off x="3047564" y="5458621"/>
            <a:ext cx="396000" cy="28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D6D971F-D5D5-4E82-A116-89C131BAEBAC}"/>
              </a:ext>
            </a:extLst>
          </p:cNvPr>
          <p:cNvSpPr txBox="1"/>
          <p:nvPr/>
        </p:nvSpPr>
        <p:spPr>
          <a:xfrm>
            <a:off x="2409369" y="586544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プロパン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FA15614-7EFB-4BEE-9C08-2B8EAB2447BE}"/>
              </a:ext>
            </a:extLst>
          </p:cNvPr>
          <p:cNvCxnSpPr/>
          <p:nvPr/>
        </p:nvCxnSpPr>
        <p:spPr>
          <a:xfrm flipV="1">
            <a:off x="4869541" y="5504288"/>
            <a:ext cx="396000" cy="28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78B62627-2331-4A2F-8B31-18C980986AFB}"/>
              </a:ext>
            </a:extLst>
          </p:cNvPr>
          <p:cNvCxnSpPr>
            <a:cxnSpLocks/>
          </p:cNvCxnSpPr>
          <p:nvPr/>
        </p:nvCxnSpPr>
        <p:spPr>
          <a:xfrm>
            <a:off x="5265541" y="5504288"/>
            <a:ext cx="396000" cy="28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8E0C9541-203B-4D3C-AF30-BB5B96C7DF21}"/>
              </a:ext>
            </a:extLst>
          </p:cNvPr>
          <p:cNvCxnSpPr/>
          <p:nvPr/>
        </p:nvCxnSpPr>
        <p:spPr>
          <a:xfrm flipV="1">
            <a:off x="5210175" y="5233454"/>
            <a:ext cx="0" cy="3089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2CD303E4-B1EB-400B-B6CE-BF8F40E11008}"/>
              </a:ext>
            </a:extLst>
          </p:cNvPr>
          <p:cNvCxnSpPr/>
          <p:nvPr/>
        </p:nvCxnSpPr>
        <p:spPr>
          <a:xfrm flipV="1">
            <a:off x="5322691" y="5233454"/>
            <a:ext cx="0" cy="3089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5" name="オブジェクト 24">
            <a:extLst>
              <a:ext uri="{FF2B5EF4-FFF2-40B4-BE49-F238E27FC236}">
                <a16:creationId xmlns:a16="http://schemas.microsoft.com/office/drawing/2014/main" id="{BE903435-3447-4D40-95C6-0E84190563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367481"/>
              </p:ext>
            </p:extLst>
          </p:nvPr>
        </p:nvGraphicFramePr>
        <p:xfrm>
          <a:off x="5113261" y="4838019"/>
          <a:ext cx="304560" cy="35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2" name="Equation" r:id="rId9" imgW="152280" imgH="177480" progId="Equation.DSMT4">
                  <p:embed/>
                </p:oleObj>
              </mc:Choice>
              <mc:Fallback>
                <p:oleObj name="Equation" r:id="rId9" imgW="152280" imgH="177480" progId="Equation.DSMT4">
                  <p:embed/>
                  <p:pic>
                    <p:nvPicPr>
                      <p:cNvPr id="15" name="オブジェクト 14">
                        <a:extLst>
                          <a:ext uri="{FF2B5EF4-FFF2-40B4-BE49-F238E27FC236}">
                            <a16:creationId xmlns:a16="http://schemas.microsoft.com/office/drawing/2014/main" id="{56D29E91-882C-47BD-8637-792455D4DE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13261" y="4838019"/>
                        <a:ext cx="304560" cy="354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オブジェクト 25">
            <a:extLst>
              <a:ext uri="{FF2B5EF4-FFF2-40B4-BE49-F238E27FC236}">
                <a16:creationId xmlns:a16="http://schemas.microsoft.com/office/drawing/2014/main" id="{645A9FB0-D652-47C9-9A81-7D0949119E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513377"/>
              </p:ext>
            </p:extLst>
          </p:nvPr>
        </p:nvGraphicFramePr>
        <p:xfrm>
          <a:off x="5699125" y="5737225"/>
          <a:ext cx="532800" cy="35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3" name="Equation" r:id="rId11" imgW="266400" imgH="177480" progId="Equation.DSMT4">
                  <p:embed/>
                </p:oleObj>
              </mc:Choice>
              <mc:Fallback>
                <p:oleObj name="Equation" r:id="rId11" imgW="2664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99125" y="5737225"/>
                        <a:ext cx="532800" cy="354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BF46FB4D-3382-47E4-8DEF-3046C2498F59}"/>
              </a:ext>
            </a:extLst>
          </p:cNvPr>
          <p:cNvSpPr txBox="1"/>
          <p:nvPr/>
        </p:nvSpPr>
        <p:spPr>
          <a:xfrm>
            <a:off x="4917422" y="603692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酢酸</a:t>
            </a:r>
            <a:endParaRPr kumimoji="1" lang="ja-JP" altLang="en-US" sz="2000" dirty="0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A409FF14-C1CA-4390-8C59-8DFE33DAACC6}"/>
              </a:ext>
            </a:extLst>
          </p:cNvPr>
          <p:cNvCxnSpPr>
            <a:cxnSpLocks noChangeAspect="1"/>
          </p:cNvCxnSpPr>
          <p:nvPr/>
        </p:nvCxnSpPr>
        <p:spPr>
          <a:xfrm rot="-300000" flipH="1">
            <a:off x="7349127" y="5009157"/>
            <a:ext cx="288000" cy="1765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EE3664E2-9B85-48B5-9CE7-6BB8F9353B05}"/>
              </a:ext>
            </a:extLst>
          </p:cNvPr>
          <p:cNvCxnSpPr/>
          <p:nvPr/>
        </p:nvCxnSpPr>
        <p:spPr>
          <a:xfrm>
            <a:off x="8085618" y="5228611"/>
            <a:ext cx="0" cy="3364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六角形 29">
            <a:extLst>
              <a:ext uri="{FF2B5EF4-FFF2-40B4-BE49-F238E27FC236}">
                <a16:creationId xmlns:a16="http://schemas.microsoft.com/office/drawing/2014/main" id="{EF7AE2B0-784B-4B56-8F7F-7258AC59B149}"/>
              </a:ext>
            </a:extLst>
          </p:cNvPr>
          <p:cNvSpPr/>
          <p:nvPr/>
        </p:nvSpPr>
        <p:spPr>
          <a:xfrm rot="1620000">
            <a:off x="7216490" y="5011060"/>
            <a:ext cx="961263" cy="828675"/>
          </a:xfrm>
          <a:prstGeom prst="hex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6464C7A9-D8FF-41ED-A84F-2973592DA4EB}"/>
              </a:ext>
            </a:extLst>
          </p:cNvPr>
          <p:cNvCxnSpPr>
            <a:cxnSpLocks noChangeAspect="1"/>
          </p:cNvCxnSpPr>
          <p:nvPr/>
        </p:nvCxnSpPr>
        <p:spPr>
          <a:xfrm rot="3540000" flipH="1">
            <a:off x="7365641" y="5659157"/>
            <a:ext cx="302400" cy="1853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446E401-3CB4-4B5F-8A6E-E0CE42FDAE98}"/>
              </a:ext>
            </a:extLst>
          </p:cNvPr>
          <p:cNvSpPr txBox="1"/>
          <p:nvPr/>
        </p:nvSpPr>
        <p:spPr>
          <a:xfrm>
            <a:off x="7144374" y="601057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ベンゼン</a:t>
            </a:r>
          </a:p>
        </p:txBody>
      </p:sp>
      <p:graphicFrame>
        <p:nvGraphicFramePr>
          <p:cNvPr id="33" name="オブジェクト 32">
            <a:extLst>
              <a:ext uri="{FF2B5EF4-FFF2-40B4-BE49-F238E27FC236}">
                <a16:creationId xmlns:a16="http://schemas.microsoft.com/office/drawing/2014/main" id="{BF4D654E-6D59-462E-8A66-5338488A9D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6807324"/>
              </p:ext>
            </p:extLst>
          </p:nvPr>
        </p:nvGraphicFramePr>
        <p:xfrm>
          <a:off x="2709863" y="6279358"/>
          <a:ext cx="609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4" name="Equation" r:id="rId13" imgW="304560" imgH="152280" progId="Equation.DSMT4">
                  <p:embed/>
                </p:oleObj>
              </mc:Choice>
              <mc:Fallback>
                <p:oleObj name="Equation" r:id="rId13" imgW="304560" imgH="152280" progId="Equation.DSMT4">
                  <p:embed/>
                  <p:pic>
                    <p:nvPicPr>
                      <p:cNvPr id="32" name="オブジェクト 31">
                        <a:extLst>
                          <a:ext uri="{FF2B5EF4-FFF2-40B4-BE49-F238E27FC236}">
                            <a16:creationId xmlns:a16="http://schemas.microsoft.com/office/drawing/2014/main" id="{56CDD1FB-F7AF-44CB-BA8B-51918D5760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09863" y="6279358"/>
                        <a:ext cx="6096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オブジェクト 33">
            <a:extLst>
              <a:ext uri="{FF2B5EF4-FFF2-40B4-BE49-F238E27FC236}">
                <a16:creationId xmlns:a16="http://schemas.microsoft.com/office/drawing/2014/main" id="{A6F1CC30-EF9F-4EDA-868B-663A86C9A3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3588548"/>
              </p:ext>
            </p:extLst>
          </p:nvPr>
        </p:nvGraphicFramePr>
        <p:xfrm>
          <a:off x="4645045" y="6336819"/>
          <a:ext cx="132048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5" name="Equation" r:id="rId15" imgW="660240" imgH="253800" progId="Equation.DSMT4">
                  <p:embed/>
                </p:oleObj>
              </mc:Choice>
              <mc:Fallback>
                <p:oleObj name="Equation" r:id="rId15" imgW="6602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645045" y="6336819"/>
                        <a:ext cx="132048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オブジェクト 34">
            <a:extLst>
              <a:ext uri="{FF2B5EF4-FFF2-40B4-BE49-F238E27FC236}">
                <a16:creationId xmlns:a16="http://schemas.microsoft.com/office/drawing/2014/main" id="{EC01AC76-A616-42D6-8F95-EFB18747D2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4080313"/>
              </p:ext>
            </p:extLst>
          </p:nvPr>
        </p:nvGraphicFramePr>
        <p:xfrm>
          <a:off x="7000875" y="6388100"/>
          <a:ext cx="149860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6" name="Equation" r:id="rId17" imgW="749160" imgH="164880" progId="Equation.DSMT4">
                  <p:embed/>
                </p:oleObj>
              </mc:Choice>
              <mc:Fallback>
                <p:oleObj name="Equation" r:id="rId17" imgW="74916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000875" y="6388100"/>
                        <a:ext cx="1498600" cy="328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6A9E83C5-9E99-4367-8863-148F1CB85D06}"/>
              </a:ext>
            </a:extLst>
          </p:cNvPr>
          <p:cNvCxnSpPr>
            <a:cxnSpLocks/>
          </p:cNvCxnSpPr>
          <p:nvPr/>
        </p:nvCxnSpPr>
        <p:spPr>
          <a:xfrm>
            <a:off x="6997433" y="6680275"/>
            <a:ext cx="354073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EF275D66-8D10-4CF8-A927-C555918764B7}"/>
              </a:ext>
            </a:extLst>
          </p:cNvPr>
          <p:cNvCxnSpPr>
            <a:cxnSpLocks/>
          </p:cNvCxnSpPr>
          <p:nvPr/>
        </p:nvCxnSpPr>
        <p:spPr>
          <a:xfrm>
            <a:off x="8276118" y="6680275"/>
            <a:ext cx="216000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ED476BC1-AABE-4E8C-9769-8799CF8387E2}"/>
              </a:ext>
            </a:extLst>
          </p:cNvPr>
          <p:cNvCxnSpPr/>
          <p:nvPr/>
        </p:nvCxnSpPr>
        <p:spPr>
          <a:xfrm flipV="1">
            <a:off x="8262654" y="5542388"/>
            <a:ext cx="652746" cy="8893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A86C5C6A-B533-4D4B-9981-7B47CA08DD1C}"/>
              </a:ext>
            </a:extLst>
          </p:cNvPr>
          <p:cNvSpPr txBox="1"/>
          <p:nvPr/>
        </p:nvSpPr>
        <p:spPr>
          <a:xfrm>
            <a:off x="8915400" y="5135244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芳香環を構成する分子は</a:t>
            </a:r>
            <a:endParaRPr kumimoji="1" lang="ja-JP" altLang="en-US" sz="2000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12D70906-E911-4635-B9B8-F81925CF7C47}"/>
              </a:ext>
            </a:extLst>
          </p:cNvPr>
          <p:cNvSpPr txBox="1"/>
          <p:nvPr/>
        </p:nvSpPr>
        <p:spPr>
          <a:xfrm>
            <a:off x="10685176" y="5514227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小文字表記</a:t>
            </a:r>
          </a:p>
        </p:txBody>
      </p:sp>
    </p:spTree>
    <p:extLst>
      <p:ext uri="{BB962C8B-B14F-4D97-AF65-F5344CB8AC3E}">
        <p14:creationId xmlns:p14="http://schemas.microsoft.com/office/powerpoint/2010/main" val="3410051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3">
            <a:extLst>
              <a:ext uri="{FF2B5EF4-FFF2-40B4-BE49-F238E27FC236}">
                <a16:creationId xmlns:a16="http://schemas.microsoft.com/office/drawing/2014/main" id="{AD146E72-A58D-4C61-BFDC-DA33256EA78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dirty="0"/>
              <a:t>SMILES</a:t>
            </a:r>
            <a:endParaRPr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A6286D7-2856-4F8A-8FC7-062441CCE75D}"/>
              </a:ext>
            </a:extLst>
          </p:cNvPr>
          <p:cNvSpPr txBox="1"/>
          <p:nvPr/>
        </p:nvSpPr>
        <p:spPr>
          <a:xfrm>
            <a:off x="914399" y="1794295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線状の構造をもつ場合</a:t>
            </a:r>
            <a:endParaRPr kumimoji="1" lang="ja-JP" altLang="en-US" sz="28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D4F3AD-F402-49C0-9469-D6D21C30EC80}"/>
              </a:ext>
            </a:extLst>
          </p:cNvPr>
          <p:cNvSpPr txBox="1"/>
          <p:nvPr/>
        </p:nvSpPr>
        <p:spPr>
          <a:xfrm>
            <a:off x="1977585" y="2317515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どちらの端から記述するかは気にしなくて良い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7420F29A-912D-4690-BC11-EA65FBA16934}"/>
              </a:ext>
            </a:extLst>
          </p:cNvPr>
          <p:cNvCxnSpPr/>
          <p:nvPr/>
        </p:nvCxnSpPr>
        <p:spPr>
          <a:xfrm flipV="1">
            <a:off x="3213539" y="2977425"/>
            <a:ext cx="396000" cy="28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3C276AF-4087-409A-B089-15FCCCF65905}"/>
              </a:ext>
            </a:extLst>
          </p:cNvPr>
          <p:cNvCxnSpPr>
            <a:cxnSpLocks/>
          </p:cNvCxnSpPr>
          <p:nvPr/>
        </p:nvCxnSpPr>
        <p:spPr>
          <a:xfrm>
            <a:off x="3609539" y="2977425"/>
            <a:ext cx="396000" cy="28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121212F-1381-4B53-A324-B40B7644FDCF}"/>
              </a:ext>
            </a:extLst>
          </p:cNvPr>
          <p:cNvSpPr txBox="1"/>
          <p:nvPr/>
        </p:nvSpPr>
        <p:spPr>
          <a:xfrm>
            <a:off x="2971344" y="338424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プロパン</a:t>
            </a:r>
          </a:p>
        </p:txBody>
      </p:sp>
      <p:graphicFrame>
        <p:nvGraphicFramePr>
          <p:cNvPr id="8" name="オブジェクト 7">
            <a:extLst>
              <a:ext uri="{FF2B5EF4-FFF2-40B4-BE49-F238E27FC236}">
                <a16:creationId xmlns:a16="http://schemas.microsoft.com/office/drawing/2014/main" id="{C9ED85A0-57D7-4C3D-B78B-7500E67B70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279065"/>
              </p:ext>
            </p:extLst>
          </p:nvPr>
        </p:nvGraphicFramePr>
        <p:xfrm>
          <a:off x="3271838" y="3798162"/>
          <a:ext cx="609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6" name="Equation" r:id="rId3" imgW="304560" imgH="152280" progId="Equation.DSMT4">
                  <p:embed/>
                </p:oleObj>
              </mc:Choice>
              <mc:Fallback>
                <p:oleObj name="Equation" r:id="rId3" imgW="304560" imgH="152280" progId="Equation.DSMT4">
                  <p:embed/>
                  <p:pic>
                    <p:nvPicPr>
                      <p:cNvPr id="33" name="オブジェクト 32">
                        <a:extLst>
                          <a:ext uri="{FF2B5EF4-FFF2-40B4-BE49-F238E27FC236}">
                            <a16:creationId xmlns:a16="http://schemas.microsoft.com/office/drawing/2014/main" id="{BF4D654E-6D59-462E-8A66-5338488A9D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1838" y="3798162"/>
                        <a:ext cx="6096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1817619-5071-4CB9-8BCB-071896E4A03B}"/>
              </a:ext>
            </a:extLst>
          </p:cNvPr>
          <p:cNvCxnSpPr/>
          <p:nvPr/>
        </p:nvCxnSpPr>
        <p:spPr>
          <a:xfrm flipV="1">
            <a:off x="5304000" y="2977425"/>
            <a:ext cx="396000" cy="28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33F2B91E-13AE-4B41-9CF0-7FCD33302C75}"/>
              </a:ext>
            </a:extLst>
          </p:cNvPr>
          <p:cNvCxnSpPr>
            <a:cxnSpLocks/>
          </p:cNvCxnSpPr>
          <p:nvPr/>
        </p:nvCxnSpPr>
        <p:spPr>
          <a:xfrm>
            <a:off x="5700000" y="2977425"/>
            <a:ext cx="396000" cy="28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FC53805A-FB70-41CA-8E98-D201C3A524F2}"/>
              </a:ext>
            </a:extLst>
          </p:cNvPr>
          <p:cNvCxnSpPr/>
          <p:nvPr/>
        </p:nvCxnSpPr>
        <p:spPr>
          <a:xfrm flipV="1">
            <a:off x="6096000" y="2977425"/>
            <a:ext cx="396000" cy="28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05BCCF9-CC8E-4BB8-BB3E-CC5CF3F1EE5F}"/>
              </a:ext>
            </a:extLst>
          </p:cNvPr>
          <p:cNvSpPr txBox="1"/>
          <p:nvPr/>
        </p:nvSpPr>
        <p:spPr>
          <a:xfrm>
            <a:off x="5456656" y="3384246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ブタン</a:t>
            </a:r>
            <a:endParaRPr kumimoji="1" lang="ja-JP" altLang="en-US" sz="2000" dirty="0"/>
          </a:p>
        </p:txBody>
      </p:sp>
      <p:graphicFrame>
        <p:nvGraphicFramePr>
          <p:cNvPr id="13" name="オブジェクト 12">
            <a:extLst>
              <a:ext uri="{FF2B5EF4-FFF2-40B4-BE49-F238E27FC236}">
                <a16:creationId xmlns:a16="http://schemas.microsoft.com/office/drawing/2014/main" id="{2EF77EF0-CE02-4ECB-AC9B-AEA53BF82A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526250"/>
              </p:ext>
            </p:extLst>
          </p:nvPr>
        </p:nvGraphicFramePr>
        <p:xfrm>
          <a:off x="5516563" y="3798888"/>
          <a:ext cx="787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7" name="Equation" r:id="rId5" imgW="393480" imgH="152280" progId="Equation.DSMT4">
                  <p:embed/>
                </p:oleObj>
              </mc:Choice>
              <mc:Fallback>
                <p:oleObj name="Equation" r:id="rId5" imgW="393480" imgH="152280" progId="Equation.DSMT4">
                  <p:embed/>
                  <p:pic>
                    <p:nvPicPr>
                      <p:cNvPr id="8" name="オブジェクト 7">
                        <a:extLst>
                          <a:ext uri="{FF2B5EF4-FFF2-40B4-BE49-F238E27FC236}">
                            <a16:creationId xmlns:a16="http://schemas.microsoft.com/office/drawing/2014/main" id="{C9ED85A0-57D7-4C3D-B78B-7500E67B7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16563" y="3798888"/>
                        <a:ext cx="7874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5CFD34D2-DA17-454D-99BE-8916B16292ED}"/>
              </a:ext>
            </a:extLst>
          </p:cNvPr>
          <p:cNvCxnSpPr>
            <a:cxnSpLocks noChangeAspect="1"/>
          </p:cNvCxnSpPr>
          <p:nvPr/>
        </p:nvCxnSpPr>
        <p:spPr>
          <a:xfrm>
            <a:off x="7788825" y="2977425"/>
            <a:ext cx="396000" cy="28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A2124226-CF20-4C0E-A697-D549B0C37D33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8184825" y="3082958"/>
            <a:ext cx="250891" cy="1824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オブジェクト 15">
            <a:extLst>
              <a:ext uri="{FF2B5EF4-FFF2-40B4-BE49-F238E27FC236}">
                <a16:creationId xmlns:a16="http://schemas.microsoft.com/office/drawing/2014/main" id="{F690D916-EE44-4B1F-8CEE-4FEDF37A27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1635884"/>
              </p:ext>
            </p:extLst>
          </p:nvPr>
        </p:nvGraphicFramePr>
        <p:xfrm>
          <a:off x="8435716" y="2799945"/>
          <a:ext cx="532800" cy="35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8" name="Equation" r:id="rId7" imgW="266400" imgH="177480" progId="Equation.DSMT4">
                  <p:embed/>
                </p:oleObj>
              </mc:Choice>
              <mc:Fallback>
                <p:oleObj name="Equation" r:id="rId7" imgW="266400" imgH="177480" progId="Equation.DSMT4">
                  <p:embed/>
                  <p:pic>
                    <p:nvPicPr>
                      <p:cNvPr id="26" name="オブジェクト 25">
                        <a:extLst>
                          <a:ext uri="{FF2B5EF4-FFF2-40B4-BE49-F238E27FC236}">
                            <a16:creationId xmlns:a16="http://schemas.microsoft.com/office/drawing/2014/main" id="{645A9FB0-D652-47C9-9A81-7D0949119E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435716" y="2799945"/>
                        <a:ext cx="532800" cy="354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8C1EF0F-62E0-4C34-91D8-D281616C7867}"/>
              </a:ext>
            </a:extLst>
          </p:cNvPr>
          <p:cNvSpPr txBox="1"/>
          <p:nvPr/>
        </p:nvSpPr>
        <p:spPr>
          <a:xfrm>
            <a:off x="7445338" y="3384246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エタノール</a:t>
            </a:r>
          </a:p>
        </p:txBody>
      </p:sp>
      <p:graphicFrame>
        <p:nvGraphicFramePr>
          <p:cNvPr id="18" name="オブジェクト 17">
            <a:extLst>
              <a:ext uri="{FF2B5EF4-FFF2-40B4-BE49-F238E27FC236}">
                <a16:creationId xmlns:a16="http://schemas.microsoft.com/office/drawing/2014/main" id="{B6150AFA-B94F-4DC3-BD92-9432D6EF5D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588311"/>
              </p:ext>
            </p:extLst>
          </p:nvPr>
        </p:nvGraphicFramePr>
        <p:xfrm>
          <a:off x="7858125" y="3798888"/>
          <a:ext cx="635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9" name="Equation" r:id="rId9" imgW="317160" imgH="152280" progId="Equation.DSMT4">
                  <p:embed/>
                </p:oleObj>
              </mc:Choice>
              <mc:Fallback>
                <p:oleObj name="Equation" r:id="rId9" imgW="317160" imgH="152280" progId="Equation.DSMT4">
                  <p:embed/>
                  <p:pic>
                    <p:nvPicPr>
                      <p:cNvPr id="13" name="オブジェクト 12">
                        <a:extLst>
                          <a:ext uri="{FF2B5EF4-FFF2-40B4-BE49-F238E27FC236}">
                            <a16:creationId xmlns:a16="http://schemas.microsoft.com/office/drawing/2014/main" id="{2EF77EF0-CE02-4ECB-AC9B-AEA53BF82A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858125" y="3798888"/>
                        <a:ext cx="6350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C457944-EDB8-419D-8E6A-1F6C075A3CF1}"/>
              </a:ext>
            </a:extLst>
          </p:cNvPr>
          <p:cNvSpPr txBox="1"/>
          <p:nvPr/>
        </p:nvSpPr>
        <p:spPr>
          <a:xfrm>
            <a:off x="838200" y="4299262"/>
            <a:ext cx="4493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枝分かれの構造をもつ場合</a:t>
            </a:r>
            <a:endParaRPr kumimoji="1" lang="ja-JP" altLang="en-US" sz="2800" dirty="0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BECB310B-7D91-4E1C-8A83-6C8C3C572D0D}"/>
              </a:ext>
            </a:extLst>
          </p:cNvPr>
          <p:cNvCxnSpPr/>
          <p:nvPr/>
        </p:nvCxnSpPr>
        <p:spPr>
          <a:xfrm flipV="1">
            <a:off x="2716891" y="5447138"/>
            <a:ext cx="396000" cy="28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A061243E-2C99-4586-A5A8-AC4940034F2B}"/>
              </a:ext>
            </a:extLst>
          </p:cNvPr>
          <p:cNvCxnSpPr>
            <a:cxnSpLocks/>
          </p:cNvCxnSpPr>
          <p:nvPr/>
        </p:nvCxnSpPr>
        <p:spPr>
          <a:xfrm>
            <a:off x="3112891" y="5447138"/>
            <a:ext cx="396000" cy="28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1857EEED-920E-4F08-843D-CC75196207CE}"/>
              </a:ext>
            </a:extLst>
          </p:cNvPr>
          <p:cNvCxnSpPr/>
          <p:nvPr/>
        </p:nvCxnSpPr>
        <p:spPr>
          <a:xfrm flipV="1">
            <a:off x="3057525" y="5176304"/>
            <a:ext cx="0" cy="3089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66B2AC87-93FD-45D3-A626-3D4A30605249}"/>
              </a:ext>
            </a:extLst>
          </p:cNvPr>
          <p:cNvCxnSpPr/>
          <p:nvPr/>
        </p:nvCxnSpPr>
        <p:spPr>
          <a:xfrm flipV="1">
            <a:off x="3170041" y="5176304"/>
            <a:ext cx="0" cy="3089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4" name="オブジェクト 23">
            <a:extLst>
              <a:ext uri="{FF2B5EF4-FFF2-40B4-BE49-F238E27FC236}">
                <a16:creationId xmlns:a16="http://schemas.microsoft.com/office/drawing/2014/main" id="{97DFE998-BA0A-481C-A590-EA58A6B4E2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3204397"/>
              </p:ext>
            </p:extLst>
          </p:nvPr>
        </p:nvGraphicFramePr>
        <p:xfrm>
          <a:off x="2960611" y="4780869"/>
          <a:ext cx="304560" cy="35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0" name="Equation" r:id="rId11" imgW="152280" imgH="177480" progId="Equation.DSMT4">
                  <p:embed/>
                </p:oleObj>
              </mc:Choice>
              <mc:Fallback>
                <p:oleObj name="Equation" r:id="rId11" imgW="152280" imgH="177480" progId="Equation.DSMT4">
                  <p:embed/>
                  <p:pic>
                    <p:nvPicPr>
                      <p:cNvPr id="25" name="オブジェクト 24">
                        <a:extLst>
                          <a:ext uri="{FF2B5EF4-FFF2-40B4-BE49-F238E27FC236}">
                            <a16:creationId xmlns:a16="http://schemas.microsoft.com/office/drawing/2014/main" id="{BE903435-3447-4D40-95C6-0E84190563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60611" y="4780869"/>
                        <a:ext cx="304560" cy="354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オブジェクト 24">
            <a:extLst>
              <a:ext uri="{FF2B5EF4-FFF2-40B4-BE49-F238E27FC236}">
                <a16:creationId xmlns:a16="http://schemas.microsoft.com/office/drawing/2014/main" id="{3B11E599-F52B-41FC-8CD6-F45AC35664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1193048"/>
              </p:ext>
            </p:extLst>
          </p:nvPr>
        </p:nvGraphicFramePr>
        <p:xfrm>
          <a:off x="3546475" y="5680075"/>
          <a:ext cx="532800" cy="35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1" name="Equation" r:id="rId13" imgW="266400" imgH="177480" progId="Equation.DSMT4">
                  <p:embed/>
                </p:oleObj>
              </mc:Choice>
              <mc:Fallback>
                <p:oleObj name="Equation" r:id="rId13" imgW="266400" imgH="177480" progId="Equation.DSMT4">
                  <p:embed/>
                  <p:pic>
                    <p:nvPicPr>
                      <p:cNvPr id="26" name="オブジェクト 25">
                        <a:extLst>
                          <a:ext uri="{FF2B5EF4-FFF2-40B4-BE49-F238E27FC236}">
                            <a16:creationId xmlns:a16="http://schemas.microsoft.com/office/drawing/2014/main" id="{645A9FB0-D652-47C9-9A81-7D0949119E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46475" y="5680075"/>
                        <a:ext cx="532800" cy="354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7AA68E5-74EC-4A09-8F90-3488A8E791ED}"/>
              </a:ext>
            </a:extLst>
          </p:cNvPr>
          <p:cNvSpPr txBox="1"/>
          <p:nvPr/>
        </p:nvSpPr>
        <p:spPr>
          <a:xfrm>
            <a:off x="2764772" y="597977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酢酸</a:t>
            </a:r>
            <a:endParaRPr kumimoji="1" lang="ja-JP" altLang="en-US" sz="2000" dirty="0"/>
          </a:p>
        </p:txBody>
      </p:sp>
      <p:graphicFrame>
        <p:nvGraphicFramePr>
          <p:cNvPr id="27" name="オブジェクト 26">
            <a:extLst>
              <a:ext uri="{FF2B5EF4-FFF2-40B4-BE49-F238E27FC236}">
                <a16:creationId xmlns:a16="http://schemas.microsoft.com/office/drawing/2014/main" id="{CBEEED4D-B58A-4C68-9F6E-951135EDFB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7717437"/>
              </p:ext>
            </p:extLst>
          </p:nvPr>
        </p:nvGraphicFramePr>
        <p:xfrm>
          <a:off x="2492395" y="6317769"/>
          <a:ext cx="132048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2" name="Equation" r:id="rId14" imgW="660240" imgH="253800" progId="Equation.DSMT4">
                  <p:embed/>
                </p:oleObj>
              </mc:Choice>
              <mc:Fallback>
                <p:oleObj name="Equation" r:id="rId14" imgW="660240" imgH="253800" progId="Equation.DSMT4">
                  <p:embed/>
                  <p:pic>
                    <p:nvPicPr>
                      <p:cNvPr id="34" name="オブジェクト 33">
                        <a:extLst>
                          <a:ext uri="{FF2B5EF4-FFF2-40B4-BE49-F238E27FC236}">
                            <a16:creationId xmlns:a16="http://schemas.microsoft.com/office/drawing/2014/main" id="{A6F1CC30-EF9F-4EDA-868B-663A86C9A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492395" y="6317769"/>
                        <a:ext cx="132048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28DEBE67-2834-4B99-A875-B53E2D9949ED}"/>
              </a:ext>
            </a:extLst>
          </p:cNvPr>
          <p:cNvCxnSpPr/>
          <p:nvPr/>
        </p:nvCxnSpPr>
        <p:spPr>
          <a:xfrm flipV="1">
            <a:off x="5700000" y="5416913"/>
            <a:ext cx="396000" cy="28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9E709050-5AB4-433E-B4EA-6C01CEF892B1}"/>
              </a:ext>
            </a:extLst>
          </p:cNvPr>
          <p:cNvCxnSpPr>
            <a:cxnSpLocks/>
          </p:cNvCxnSpPr>
          <p:nvPr/>
        </p:nvCxnSpPr>
        <p:spPr>
          <a:xfrm>
            <a:off x="6096000" y="5416913"/>
            <a:ext cx="396000" cy="28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F687B4AB-F3E6-4E0D-97A6-CACE209EAD0B}"/>
              </a:ext>
            </a:extLst>
          </p:cNvPr>
          <p:cNvCxnSpPr/>
          <p:nvPr/>
        </p:nvCxnSpPr>
        <p:spPr>
          <a:xfrm flipV="1">
            <a:off x="6492000" y="5416913"/>
            <a:ext cx="396000" cy="28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E34A1522-0359-4615-A2ED-B4C12B8D128D}"/>
              </a:ext>
            </a:extLst>
          </p:cNvPr>
          <p:cNvCxnSpPr>
            <a:cxnSpLocks/>
          </p:cNvCxnSpPr>
          <p:nvPr/>
        </p:nvCxnSpPr>
        <p:spPr>
          <a:xfrm>
            <a:off x="6888000" y="5416913"/>
            <a:ext cx="396000" cy="28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F34E4DC6-23EB-4739-9BE6-893C27BB629B}"/>
              </a:ext>
            </a:extLst>
          </p:cNvPr>
          <p:cNvCxnSpPr/>
          <p:nvPr/>
        </p:nvCxnSpPr>
        <p:spPr>
          <a:xfrm flipV="1">
            <a:off x="6096000" y="5107979"/>
            <a:ext cx="0" cy="3089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C316AE1E-698C-459F-BB3D-72FE5DDC044F}"/>
              </a:ext>
            </a:extLst>
          </p:cNvPr>
          <p:cNvSpPr txBox="1"/>
          <p:nvPr/>
        </p:nvSpPr>
        <p:spPr>
          <a:xfrm>
            <a:off x="5380748" y="5888477"/>
            <a:ext cx="2234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2-</a:t>
            </a:r>
            <a:r>
              <a:rPr kumimoji="1" lang="ja-JP" altLang="en-US" sz="2000" dirty="0"/>
              <a:t>メチルペンタン</a:t>
            </a:r>
          </a:p>
        </p:txBody>
      </p:sp>
      <p:graphicFrame>
        <p:nvGraphicFramePr>
          <p:cNvPr id="34" name="オブジェクト 33">
            <a:extLst>
              <a:ext uri="{FF2B5EF4-FFF2-40B4-BE49-F238E27FC236}">
                <a16:creationId xmlns:a16="http://schemas.microsoft.com/office/drawing/2014/main" id="{9A3F4030-6DD1-42D7-B6F5-F1C1F41508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9313132"/>
              </p:ext>
            </p:extLst>
          </p:nvPr>
        </p:nvGraphicFramePr>
        <p:xfrm>
          <a:off x="5667999" y="6179827"/>
          <a:ext cx="167616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3" name="Equation" r:id="rId16" imgW="838080" imgH="253800" progId="Equation.DSMT4">
                  <p:embed/>
                </p:oleObj>
              </mc:Choice>
              <mc:Fallback>
                <p:oleObj name="Equation" r:id="rId16" imgW="8380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667999" y="6179827"/>
                        <a:ext cx="167616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7773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3">
            <a:extLst>
              <a:ext uri="{FF2B5EF4-FFF2-40B4-BE49-F238E27FC236}">
                <a16:creationId xmlns:a16="http://schemas.microsoft.com/office/drawing/2014/main" id="{66C33154-F59E-41FA-8318-89A5EC705A8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dirty="0"/>
              <a:t>SMILES</a:t>
            </a:r>
            <a:endParaRPr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09422F2-D547-4DB1-83C2-8623E3F66FE0}"/>
              </a:ext>
            </a:extLst>
          </p:cNvPr>
          <p:cNvSpPr txBox="1"/>
          <p:nvPr/>
        </p:nvSpPr>
        <p:spPr>
          <a:xfrm>
            <a:off x="914399" y="1794295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環構造をもつ場合</a:t>
            </a:r>
            <a:endParaRPr kumimoji="1" lang="ja-JP" altLang="en-US" sz="2800" dirty="0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51718D8D-CB95-4651-8CEB-FA8331FE7F6E}"/>
              </a:ext>
            </a:extLst>
          </p:cNvPr>
          <p:cNvSpPr/>
          <p:nvPr/>
        </p:nvSpPr>
        <p:spPr>
          <a:xfrm>
            <a:off x="3274575" y="2678550"/>
            <a:ext cx="396000" cy="39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5" name="オブジェクト 4">
            <a:extLst>
              <a:ext uri="{FF2B5EF4-FFF2-40B4-BE49-F238E27FC236}">
                <a16:creationId xmlns:a16="http://schemas.microsoft.com/office/drawing/2014/main" id="{69D8C72B-C642-49B7-A51F-1E470F8453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631600"/>
              </p:ext>
            </p:extLst>
          </p:nvPr>
        </p:nvGraphicFramePr>
        <p:xfrm>
          <a:off x="3345575" y="2724150"/>
          <a:ext cx="254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4" name="Equation" r:id="rId3" imgW="126720" imgH="152280" progId="Equation.DSMT4">
                  <p:embed/>
                </p:oleObj>
              </mc:Choice>
              <mc:Fallback>
                <p:oleObj name="Equation" r:id="rId3" imgW="126720" imgH="152280" progId="Equation.DSMT4">
                  <p:embed/>
                  <p:pic>
                    <p:nvPicPr>
                      <p:cNvPr id="18" name="オブジェクト 17">
                        <a:extLst>
                          <a:ext uri="{FF2B5EF4-FFF2-40B4-BE49-F238E27FC236}">
                            <a16:creationId xmlns:a16="http://schemas.microsoft.com/office/drawing/2014/main" id="{B6150AFA-B94F-4DC3-BD92-9432D6EF5D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45575" y="2724150"/>
                        <a:ext cx="2540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楕円 5">
            <a:extLst>
              <a:ext uri="{FF2B5EF4-FFF2-40B4-BE49-F238E27FC236}">
                <a16:creationId xmlns:a16="http://schemas.microsoft.com/office/drawing/2014/main" id="{CDA7ECFD-46C8-4D67-B7DD-D6DCD037A89B}"/>
              </a:ext>
            </a:extLst>
          </p:cNvPr>
          <p:cNvSpPr/>
          <p:nvPr/>
        </p:nvSpPr>
        <p:spPr>
          <a:xfrm>
            <a:off x="2112525" y="3307200"/>
            <a:ext cx="396000" cy="39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7" name="オブジェクト 6">
            <a:extLst>
              <a:ext uri="{FF2B5EF4-FFF2-40B4-BE49-F238E27FC236}">
                <a16:creationId xmlns:a16="http://schemas.microsoft.com/office/drawing/2014/main" id="{F2FF1917-607E-4E39-B0E3-3E513ADAA7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2744315"/>
              </p:ext>
            </p:extLst>
          </p:nvPr>
        </p:nvGraphicFramePr>
        <p:xfrm>
          <a:off x="2183525" y="3352800"/>
          <a:ext cx="254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5" name="Equation" r:id="rId5" imgW="126720" imgH="152280" progId="Equation.DSMT4">
                  <p:embed/>
                </p:oleObj>
              </mc:Choice>
              <mc:Fallback>
                <p:oleObj name="Equation" r:id="rId5" imgW="126720" imgH="152280" progId="Equation.DSMT4">
                  <p:embed/>
                  <p:pic>
                    <p:nvPicPr>
                      <p:cNvPr id="5" name="オブジェクト 4">
                        <a:extLst>
                          <a:ext uri="{FF2B5EF4-FFF2-40B4-BE49-F238E27FC236}">
                            <a16:creationId xmlns:a16="http://schemas.microsoft.com/office/drawing/2014/main" id="{69D8C72B-C642-49B7-A51F-1E470F8453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83525" y="3352800"/>
                        <a:ext cx="2540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楕円 7">
            <a:extLst>
              <a:ext uri="{FF2B5EF4-FFF2-40B4-BE49-F238E27FC236}">
                <a16:creationId xmlns:a16="http://schemas.microsoft.com/office/drawing/2014/main" id="{97A737F4-DFA1-4060-AC55-793295A76197}"/>
              </a:ext>
            </a:extLst>
          </p:cNvPr>
          <p:cNvSpPr/>
          <p:nvPr/>
        </p:nvSpPr>
        <p:spPr>
          <a:xfrm>
            <a:off x="4493775" y="3307200"/>
            <a:ext cx="396000" cy="39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9" name="オブジェクト 8">
            <a:extLst>
              <a:ext uri="{FF2B5EF4-FFF2-40B4-BE49-F238E27FC236}">
                <a16:creationId xmlns:a16="http://schemas.microsoft.com/office/drawing/2014/main" id="{FF4DB02C-95CB-407C-B7EC-1430FAC9FC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018921"/>
              </p:ext>
            </p:extLst>
          </p:nvPr>
        </p:nvGraphicFramePr>
        <p:xfrm>
          <a:off x="4564775" y="3352800"/>
          <a:ext cx="254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6" name="Equation" r:id="rId7" imgW="126720" imgH="152280" progId="Equation.DSMT4">
                  <p:embed/>
                </p:oleObj>
              </mc:Choice>
              <mc:Fallback>
                <p:oleObj name="Equation" r:id="rId7" imgW="126720" imgH="152280" progId="Equation.DSMT4">
                  <p:embed/>
                  <p:pic>
                    <p:nvPicPr>
                      <p:cNvPr id="7" name="オブジェクト 6">
                        <a:extLst>
                          <a:ext uri="{FF2B5EF4-FFF2-40B4-BE49-F238E27FC236}">
                            <a16:creationId xmlns:a16="http://schemas.microsoft.com/office/drawing/2014/main" id="{F2FF1917-607E-4E39-B0E3-3E513ADAA7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64775" y="3352800"/>
                        <a:ext cx="2540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楕円 9">
            <a:extLst>
              <a:ext uri="{FF2B5EF4-FFF2-40B4-BE49-F238E27FC236}">
                <a16:creationId xmlns:a16="http://schemas.microsoft.com/office/drawing/2014/main" id="{D36D43A0-D98D-4207-9FBA-CD86E8A91691}"/>
              </a:ext>
            </a:extLst>
          </p:cNvPr>
          <p:cNvSpPr/>
          <p:nvPr/>
        </p:nvSpPr>
        <p:spPr>
          <a:xfrm>
            <a:off x="2112525" y="4371262"/>
            <a:ext cx="396000" cy="39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11" name="オブジェクト 10">
            <a:extLst>
              <a:ext uri="{FF2B5EF4-FFF2-40B4-BE49-F238E27FC236}">
                <a16:creationId xmlns:a16="http://schemas.microsoft.com/office/drawing/2014/main" id="{BB6E0C42-4CF1-41DF-BA79-41EEFE0C50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323261"/>
              </p:ext>
            </p:extLst>
          </p:nvPr>
        </p:nvGraphicFramePr>
        <p:xfrm>
          <a:off x="2183525" y="4416862"/>
          <a:ext cx="254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7" name="Equation" r:id="rId8" imgW="126720" imgH="152280" progId="Equation.DSMT4">
                  <p:embed/>
                </p:oleObj>
              </mc:Choice>
              <mc:Fallback>
                <p:oleObj name="Equation" r:id="rId8" imgW="126720" imgH="152280" progId="Equation.DSMT4">
                  <p:embed/>
                  <p:pic>
                    <p:nvPicPr>
                      <p:cNvPr id="7" name="オブジェクト 6">
                        <a:extLst>
                          <a:ext uri="{FF2B5EF4-FFF2-40B4-BE49-F238E27FC236}">
                            <a16:creationId xmlns:a16="http://schemas.microsoft.com/office/drawing/2014/main" id="{F2FF1917-607E-4E39-B0E3-3E513ADAA7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83525" y="4416862"/>
                        <a:ext cx="2540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楕円 11">
            <a:extLst>
              <a:ext uri="{FF2B5EF4-FFF2-40B4-BE49-F238E27FC236}">
                <a16:creationId xmlns:a16="http://schemas.microsoft.com/office/drawing/2014/main" id="{38B0AC56-3925-418E-99D5-7091E9EAA362}"/>
              </a:ext>
            </a:extLst>
          </p:cNvPr>
          <p:cNvSpPr/>
          <p:nvPr/>
        </p:nvSpPr>
        <p:spPr>
          <a:xfrm>
            <a:off x="4493775" y="4371262"/>
            <a:ext cx="396000" cy="39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13" name="オブジェクト 12">
            <a:extLst>
              <a:ext uri="{FF2B5EF4-FFF2-40B4-BE49-F238E27FC236}">
                <a16:creationId xmlns:a16="http://schemas.microsoft.com/office/drawing/2014/main" id="{3C38DD2E-DD61-41D4-9176-7B3B37F123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525891"/>
              </p:ext>
            </p:extLst>
          </p:nvPr>
        </p:nvGraphicFramePr>
        <p:xfrm>
          <a:off x="4564775" y="4416862"/>
          <a:ext cx="254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8" name="Equation" r:id="rId9" imgW="126720" imgH="152280" progId="Equation.DSMT4">
                  <p:embed/>
                </p:oleObj>
              </mc:Choice>
              <mc:Fallback>
                <p:oleObj name="Equation" r:id="rId9" imgW="126720" imgH="152280" progId="Equation.DSMT4">
                  <p:embed/>
                  <p:pic>
                    <p:nvPicPr>
                      <p:cNvPr id="9" name="オブジェクト 8">
                        <a:extLst>
                          <a:ext uri="{FF2B5EF4-FFF2-40B4-BE49-F238E27FC236}">
                            <a16:creationId xmlns:a16="http://schemas.microsoft.com/office/drawing/2014/main" id="{FF4DB02C-95CB-407C-B7EC-1430FAC9FC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64775" y="4416862"/>
                        <a:ext cx="2540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楕円 13">
            <a:extLst>
              <a:ext uri="{FF2B5EF4-FFF2-40B4-BE49-F238E27FC236}">
                <a16:creationId xmlns:a16="http://schemas.microsoft.com/office/drawing/2014/main" id="{79BB487F-3B0F-492F-A8B6-34B308F137EB}"/>
              </a:ext>
            </a:extLst>
          </p:cNvPr>
          <p:cNvSpPr/>
          <p:nvPr/>
        </p:nvSpPr>
        <p:spPr>
          <a:xfrm>
            <a:off x="3274575" y="5097900"/>
            <a:ext cx="396000" cy="39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15" name="オブジェクト 14">
            <a:extLst>
              <a:ext uri="{FF2B5EF4-FFF2-40B4-BE49-F238E27FC236}">
                <a16:creationId xmlns:a16="http://schemas.microsoft.com/office/drawing/2014/main" id="{CC2B9643-7452-480D-8250-0ACBDE6F0B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2292721"/>
              </p:ext>
            </p:extLst>
          </p:nvPr>
        </p:nvGraphicFramePr>
        <p:xfrm>
          <a:off x="3345575" y="5143500"/>
          <a:ext cx="254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" name="Equation" r:id="rId10" imgW="126720" imgH="152280" progId="Equation.DSMT4">
                  <p:embed/>
                </p:oleObj>
              </mc:Choice>
              <mc:Fallback>
                <p:oleObj name="Equation" r:id="rId10" imgW="126720" imgH="152280" progId="Equation.DSMT4">
                  <p:embed/>
                  <p:pic>
                    <p:nvPicPr>
                      <p:cNvPr id="5" name="オブジェクト 4">
                        <a:extLst>
                          <a:ext uri="{FF2B5EF4-FFF2-40B4-BE49-F238E27FC236}">
                            <a16:creationId xmlns:a16="http://schemas.microsoft.com/office/drawing/2014/main" id="{69D8C72B-C642-49B7-A51F-1E470F8453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45575" y="5143500"/>
                        <a:ext cx="2540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3A9AA17A-90B8-4F80-BDAB-0B286F8741A9}"/>
              </a:ext>
            </a:extLst>
          </p:cNvPr>
          <p:cNvCxnSpPr>
            <a:stCxn id="6" idx="7"/>
            <a:endCxn id="4" idx="2"/>
          </p:cNvCxnSpPr>
          <p:nvPr/>
        </p:nvCxnSpPr>
        <p:spPr>
          <a:xfrm flipV="1">
            <a:off x="2450532" y="2876550"/>
            <a:ext cx="824043" cy="48864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14802969-8FD1-4ADB-B619-1CA40063C406}"/>
              </a:ext>
            </a:extLst>
          </p:cNvPr>
          <p:cNvCxnSpPr>
            <a:cxnSpLocks/>
            <a:stCxn id="10" idx="5"/>
            <a:endCxn id="14" idx="2"/>
          </p:cNvCxnSpPr>
          <p:nvPr/>
        </p:nvCxnSpPr>
        <p:spPr>
          <a:xfrm>
            <a:off x="2450532" y="4709269"/>
            <a:ext cx="824043" cy="58663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71BDDF23-1F31-4385-B965-47BC2495039D}"/>
              </a:ext>
            </a:extLst>
          </p:cNvPr>
          <p:cNvCxnSpPr>
            <a:cxnSpLocks/>
            <a:stCxn id="8" idx="4"/>
            <a:endCxn id="12" idx="0"/>
          </p:cNvCxnSpPr>
          <p:nvPr/>
        </p:nvCxnSpPr>
        <p:spPr>
          <a:xfrm>
            <a:off x="4691775" y="3703200"/>
            <a:ext cx="0" cy="66806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7A9DA009-0FF5-4AFF-B278-EFE3C47671D3}"/>
              </a:ext>
            </a:extLst>
          </p:cNvPr>
          <p:cNvCxnSpPr>
            <a:cxnSpLocks/>
          </p:cNvCxnSpPr>
          <p:nvPr/>
        </p:nvCxnSpPr>
        <p:spPr>
          <a:xfrm>
            <a:off x="2287425" y="3703200"/>
            <a:ext cx="0" cy="668062"/>
          </a:xfrm>
          <a:prstGeom prst="line">
            <a:avLst/>
          </a:prstGeom>
          <a:ln w="69850" cmpd="dbl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4EAAA985-CED8-4304-A3AB-6B8AFCB99EA9}"/>
              </a:ext>
            </a:extLst>
          </p:cNvPr>
          <p:cNvCxnSpPr>
            <a:cxnSpLocks/>
            <a:stCxn id="4" idx="6"/>
            <a:endCxn id="8" idx="1"/>
          </p:cNvCxnSpPr>
          <p:nvPr/>
        </p:nvCxnSpPr>
        <p:spPr>
          <a:xfrm>
            <a:off x="3670575" y="2876550"/>
            <a:ext cx="881193" cy="488643"/>
          </a:xfrm>
          <a:prstGeom prst="line">
            <a:avLst/>
          </a:prstGeom>
          <a:ln w="69850" cmpd="dbl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3AF954E6-BC96-428C-926E-16DCB5217920}"/>
              </a:ext>
            </a:extLst>
          </p:cNvPr>
          <p:cNvCxnSpPr>
            <a:cxnSpLocks/>
            <a:stCxn id="14" idx="6"/>
            <a:endCxn id="12" idx="3"/>
          </p:cNvCxnSpPr>
          <p:nvPr/>
        </p:nvCxnSpPr>
        <p:spPr>
          <a:xfrm flipV="1">
            <a:off x="3670575" y="4709269"/>
            <a:ext cx="881193" cy="586631"/>
          </a:xfrm>
          <a:prstGeom prst="line">
            <a:avLst/>
          </a:prstGeom>
          <a:ln w="69850" cmpd="dbl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170" name="Picture 2" descr="ハサミのイラスト（文房具）">
            <a:extLst>
              <a:ext uri="{FF2B5EF4-FFF2-40B4-BE49-F238E27FC236}">
                <a16:creationId xmlns:a16="http://schemas.microsoft.com/office/drawing/2014/main" id="{02A7CABF-8D9C-4D3D-9CA3-8B8063F85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972" y="3541931"/>
            <a:ext cx="64960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矢印: 右 31">
            <a:extLst>
              <a:ext uri="{FF2B5EF4-FFF2-40B4-BE49-F238E27FC236}">
                <a16:creationId xmlns:a16="http://schemas.microsoft.com/office/drawing/2014/main" id="{438284DD-B8F5-48E7-82FA-95B27554E47B}"/>
              </a:ext>
            </a:extLst>
          </p:cNvPr>
          <p:cNvSpPr/>
          <p:nvPr/>
        </p:nvSpPr>
        <p:spPr>
          <a:xfrm>
            <a:off x="5771197" y="3771900"/>
            <a:ext cx="649605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B5EC802C-7AE9-4EF1-82C8-3D241DBBE69B}"/>
              </a:ext>
            </a:extLst>
          </p:cNvPr>
          <p:cNvSpPr/>
          <p:nvPr/>
        </p:nvSpPr>
        <p:spPr>
          <a:xfrm>
            <a:off x="7827525" y="2678550"/>
            <a:ext cx="396000" cy="39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35" name="オブジェクト 34">
            <a:extLst>
              <a:ext uri="{FF2B5EF4-FFF2-40B4-BE49-F238E27FC236}">
                <a16:creationId xmlns:a16="http://schemas.microsoft.com/office/drawing/2014/main" id="{6D88949C-8053-4CCD-B0AB-F27ECAFE54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6034491"/>
              </p:ext>
            </p:extLst>
          </p:nvPr>
        </p:nvGraphicFramePr>
        <p:xfrm>
          <a:off x="7898525" y="2724150"/>
          <a:ext cx="254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0" name="Equation" r:id="rId12" imgW="126720" imgH="152280" progId="Equation.DSMT4">
                  <p:embed/>
                </p:oleObj>
              </mc:Choice>
              <mc:Fallback>
                <p:oleObj name="Equation" r:id="rId12" imgW="126720" imgH="152280" progId="Equation.DSMT4">
                  <p:embed/>
                  <p:pic>
                    <p:nvPicPr>
                      <p:cNvPr id="5" name="オブジェクト 4">
                        <a:extLst>
                          <a:ext uri="{FF2B5EF4-FFF2-40B4-BE49-F238E27FC236}">
                            <a16:creationId xmlns:a16="http://schemas.microsoft.com/office/drawing/2014/main" id="{69D8C72B-C642-49B7-A51F-1E470F8453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98525" y="2724150"/>
                        <a:ext cx="2540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楕円 35">
            <a:extLst>
              <a:ext uri="{FF2B5EF4-FFF2-40B4-BE49-F238E27FC236}">
                <a16:creationId xmlns:a16="http://schemas.microsoft.com/office/drawing/2014/main" id="{B055751F-B337-426F-96BF-C583B9B34E8D}"/>
              </a:ext>
            </a:extLst>
          </p:cNvPr>
          <p:cNvSpPr/>
          <p:nvPr/>
        </p:nvSpPr>
        <p:spPr>
          <a:xfrm>
            <a:off x="6665475" y="3307200"/>
            <a:ext cx="396000" cy="39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37" name="オブジェクト 36">
            <a:extLst>
              <a:ext uri="{FF2B5EF4-FFF2-40B4-BE49-F238E27FC236}">
                <a16:creationId xmlns:a16="http://schemas.microsoft.com/office/drawing/2014/main" id="{9520DFAC-C517-41BD-84A2-159C0CC438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9299"/>
              </p:ext>
            </p:extLst>
          </p:nvPr>
        </p:nvGraphicFramePr>
        <p:xfrm>
          <a:off x="6736475" y="3352800"/>
          <a:ext cx="254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1" name="Equation" r:id="rId13" imgW="126720" imgH="152280" progId="Equation.DSMT4">
                  <p:embed/>
                </p:oleObj>
              </mc:Choice>
              <mc:Fallback>
                <p:oleObj name="Equation" r:id="rId13" imgW="126720" imgH="152280" progId="Equation.DSMT4">
                  <p:embed/>
                  <p:pic>
                    <p:nvPicPr>
                      <p:cNvPr id="7" name="オブジェクト 6">
                        <a:extLst>
                          <a:ext uri="{FF2B5EF4-FFF2-40B4-BE49-F238E27FC236}">
                            <a16:creationId xmlns:a16="http://schemas.microsoft.com/office/drawing/2014/main" id="{F2FF1917-607E-4E39-B0E3-3E513ADAA7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36475" y="3352800"/>
                        <a:ext cx="2540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楕円 37">
            <a:extLst>
              <a:ext uri="{FF2B5EF4-FFF2-40B4-BE49-F238E27FC236}">
                <a16:creationId xmlns:a16="http://schemas.microsoft.com/office/drawing/2014/main" id="{9FCE7E15-C3EC-407A-87E0-E6A53136F3EC}"/>
              </a:ext>
            </a:extLst>
          </p:cNvPr>
          <p:cNvSpPr/>
          <p:nvPr/>
        </p:nvSpPr>
        <p:spPr>
          <a:xfrm>
            <a:off x="9046725" y="3307200"/>
            <a:ext cx="396000" cy="39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39" name="オブジェクト 38">
            <a:extLst>
              <a:ext uri="{FF2B5EF4-FFF2-40B4-BE49-F238E27FC236}">
                <a16:creationId xmlns:a16="http://schemas.microsoft.com/office/drawing/2014/main" id="{B403E9C2-F8E5-4BCE-9E61-8EE01255AC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110446"/>
              </p:ext>
            </p:extLst>
          </p:nvPr>
        </p:nvGraphicFramePr>
        <p:xfrm>
          <a:off x="9117725" y="3352800"/>
          <a:ext cx="254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2" name="Equation" r:id="rId14" imgW="126720" imgH="152280" progId="Equation.DSMT4">
                  <p:embed/>
                </p:oleObj>
              </mc:Choice>
              <mc:Fallback>
                <p:oleObj name="Equation" r:id="rId14" imgW="126720" imgH="152280" progId="Equation.DSMT4">
                  <p:embed/>
                  <p:pic>
                    <p:nvPicPr>
                      <p:cNvPr id="9" name="オブジェクト 8">
                        <a:extLst>
                          <a:ext uri="{FF2B5EF4-FFF2-40B4-BE49-F238E27FC236}">
                            <a16:creationId xmlns:a16="http://schemas.microsoft.com/office/drawing/2014/main" id="{FF4DB02C-95CB-407C-B7EC-1430FAC9FC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17725" y="3352800"/>
                        <a:ext cx="2540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楕円 39">
            <a:extLst>
              <a:ext uri="{FF2B5EF4-FFF2-40B4-BE49-F238E27FC236}">
                <a16:creationId xmlns:a16="http://schemas.microsoft.com/office/drawing/2014/main" id="{A59C3BBF-F744-4AE7-BF40-BB3522838939}"/>
              </a:ext>
            </a:extLst>
          </p:cNvPr>
          <p:cNvSpPr/>
          <p:nvPr/>
        </p:nvSpPr>
        <p:spPr>
          <a:xfrm>
            <a:off x="6665475" y="4371262"/>
            <a:ext cx="396000" cy="39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41" name="オブジェクト 40">
            <a:extLst>
              <a:ext uri="{FF2B5EF4-FFF2-40B4-BE49-F238E27FC236}">
                <a16:creationId xmlns:a16="http://schemas.microsoft.com/office/drawing/2014/main" id="{F9DAFC09-1C9D-45EE-94FB-802650E43D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897319"/>
              </p:ext>
            </p:extLst>
          </p:nvPr>
        </p:nvGraphicFramePr>
        <p:xfrm>
          <a:off x="6736475" y="4416862"/>
          <a:ext cx="254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3" name="Equation" r:id="rId15" imgW="126720" imgH="152280" progId="Equation.DSMT4">
                  <p:embed/>
                </p:oleObj>
              </mc:Choice>
              <mc:Fallback>
                <p:oleObj name="Equation" r:id="rId15" imgW="126720" imgH="152280" progId="Equation.DSMT4">
                  <p:embed/>
                  <p:pic>
                    <p:nvPicPr>
                      <p:cNvPr id="11" name="オブジェクト 10">
                        <a:extLst>
                          <a:ext uri="{FF2B5EF4-FFF2-40B4-BE49-F238E27FC236}">
                            <a16:creationId xmlns:a16="http://schemas.microsoft.com/office/drawing/2014/main" id="{BB6E0C42-4CF1-41DF-BA79-41EEFE0C50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36475" y="4416862"/>
                        <a:ext cx="2540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楕円 41">
            <a:extLst>
              <a:ext uri="{FF2B5EF4-FFF2-40B4-BE49-F238E27FC236}">
                <a16:creationId xmlns:a16="http://schemas.microsoft.com/office/drawing/2014/main" id="{3B8759C0-A9D1-4855-96C0-BBEA65FA5926}"/>
              </a:ext>
            </a:extLst>
          </p:cNvPr>
          <p:cNvSpPr/>
          <p:nvPr/>
        </p:nvSpPr>
        <p:spPr>
          <a:xfrm>
            <a:off x="9046725" y="4371262"/>
            <a:ext cx="396000" cy="39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43" name="オブジェクト 42">
            <a:extLst>
              <a:ext uri="{FF2B5EF4-FFF2-40B4-BE49-F238E27FC236}">
                <a16:creationId xmlns:a16="http://schemas.microsoft.com/office/drawing/2014/main" id="{7BDB1E02-9655-445F-B022-634C126102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80693"/>
              </p:ext>
            </p:extLst>
          </p:nvPr>
        </p:nvGraphicFramePr>
        <p:xfrm>
          <a:off x="9047163" y="4403725"/>
          <a:ext cx="431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4" name="Equation" r:id="rId16" imgW="215640" imgH="164880" progId="Equation.DSMT4">
                  <p:embed/>
                </p:oleObj>
              </mc:Choice>
              <mc:Fallback>
                <p:oleObj name="Equation" r:id="rId16" imgW="215640" imgH="164880" progId="Equation.DSMT4">
                  <p:embed/>
                  <p:pic>
                    <p:nvPicPr>
                      <p:cNvPr id="13" name="オブジェクト 12">
                        <a:extLst>
                          <a:ext uri="{FF2B5EF4-FFF2-40B4-BE49-F238E27FC236}">
                            <a16:creationId xmlns:a16="http://schemas.microsoft.com/office/drawing/2014/main" id="{3C38DD2E-DD61-41D4-9176-7B3B37F123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047163" y="4403725"/>
                        <a:ext cx="4318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楕円 43">
            <a:extLst>
              <a:ext uri="{FF2B5EF4-FFF2-40B4-BE49-F238E27FC236}">
                <a16:creationId xmlns:a16="http://schemas.microsoft.com/office/drawing/2014/main" id="{B273F1F5-79C2-4AF3-9E98-A835F9895DD3}"/>
              </a:ext>
            </a:extLst>
          </p:cNvPr>
          <p:cNvSpPr/>
          <p:nvPr/>
        </p:nvSpPr>
        <p:spPr>
          <a:xfrm>
            <a:off x="7827525" y="5097900"/>
            <a:ext cx="396000" cy="39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45" name="オブジェクト 44">
            <a:extLst>
              <a:ext uri="{FF2B5EF4-FFF2-40B4-BE49-F238E27FC236}">
                <a16:creationId xmlns:a16="http://schemas.microsoft.com/office/drawing/2014/main" id="{5343CA4C-9748-4B3A-9650-372ECDA544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5778855"/>
              </p:ext>
            </p:extLst>
          </p:nvPr>
        </p:nvGraphicFramePr>
        <p:xfrm>
          <a:off x="7898525" y="5143500"/>
          <a:ext cx="254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5" name="Equation" r:id="rId18" imgW="126720" imgH="152280" progId="Equation.DSMT4">
                  <p:embed/>
                </p:oleObj>
              </mc:Choice>
              <mc:Fallback>
                <p:oleObj name="Equation" r:id="rId18" imgW="126720" imgH="152280" progId="Equation.DSMT4">
                  <p:embed/>
                  <p:pic>
                    <p:nvPicPr>
                      <p:cNvPr id="15" name="オブジェクト 14">
                        <a:extLst>
                          <a:ext uri="{FF2B5EF4-FFF2-40B4-BE49-F238E27FC236}">
                            <a16:creationId xmlns:a16="http://schemas.microsoft.com/office/drawing/2014/main" id="{CC2B9643-7452-480D-8250-0ACBDE6F0B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98525" y="5143500"/>
                        <a:ext cx="2540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8B39F35D-FE84-4F59-AF42-ACA1E37F7AA1}"/>
              </a:ext>
            </a:extLst>
          </p:cNvPr>
          <p:cNvCxnSpPr>
            <a:stCxn id="36" idx="7"/>
            <a:endCxn id="34" idx="2"/>
          </p:cNvCxnSpPr>
          <p:nvPr/>
        </p:nvCxnSpPr>
        <p:spPr>
          <a:xfrm flipV="1">
            <a:off x="7003482" y="2876550"/>
            <a:ext cx="824043" cy="48864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9BAADB26-50F0-48FC-B5E0-913B1FEA83A7}"/>
              </a:ext>
            </a:extLst>
          </p:cNvPr>
          <p:cNvCxnSpPr>
            <a:cxnSpLocks/>
            <a:stCxn id="40" idx="5"/>
            <a:endCxn id="44" idx="2"/>
          </p:cNvCxnSpPr>
          <p:nvPr/>
        </p:nvCxnSpPr>
        <p:spPr>
          <a:xfrm>
            <a:off x="7003482" y="4709269"/>
            <a:ext cx="824043" cy="58663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89DC94E0-C2AE-4FF5-AEDF-E5B3CC9EE3FF}"/>
              </a:ext>
            </a:extLst>
          </p:cNvPr>
          <p:cNvCxnSpPr>
            <a:cxnSpLocks/>
            <a:stCxn id="38" idx="5"/>
          </p:cNvCxnSpPr>
          <p:nvPr/>
        </p:nvCxnSpPr>
        <p:spPr>
          <a:xfrm>
            <a:off x="9384732" y="3645207"/>
            <a:ext cx="426018" cy="30766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4D0E972C-9521-441E-BD18-BDEA1435333A}"/>
              </a:ext>
            </a:extLst>
          </p:cNvPr>
          <p:cNvCxnSpPr>
            <a:cxnSpLocks/>
          </p:cNvCxnSpPr>
          <p:nvPr/>
        </p:nvCxnSpPr>
        <p:spPr>
          <a:xfrm>
            <a:off x="6840375" y="3703200"/>
            <a:ext cx="0" cy="668062"/>
          </a:xfrm>
          <a:prstGeom prst="line">
            <a:avLst/>
          </a:prstGeom>
          <a:ln w="69850" cmpd="dbl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1049ADCE-C325-448F-B346-352D1379C706}"/>
              </a:ext>
            </a:extLst>
          </p:cNvPr>
          <p:cNvCxnSpPr>
            <a:cxnSpLocks/>
            <a:stCxn id="34" idx="6"/>
            <a:endCxn id="38" idx="1"/>
          </p:cNvCxnSpPr>
          <p:nvPr/>
        </p:nvCxnSpPr>
        <p:spPr>
          <a:xfrm>
            <a:off x="8223525" y="2876550"/>
            <a:ext cx="881193" cy="488643"/>
          </a:xfrm>
          <a:prstGeom prst="line">
            <a:avLst/>
          </a:prstGeom>
          <a:ln w="69850" cmpd="dbl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BBEC2E88-74A8-4BC3-B2F8-770C0A7D3836}"/>
              </a:ext>
            </a:extLst>
          </p:cNvPr>
          <p:cNvCxnSpPr>
            <a:cxnSpLocks/>
            <a:stCxn id="44" idx="6"/>
            <a:endCxn id="42" idx="3"/>
          </p:cNvCxnSpPr>
          <p:nvPr/>
        </p:nvCxnSpPr>
        <p:spPr>
          <a:xfrm flipV="1">
            <a:off x="8223525" y="4709269"/>
            <a:ext cx="881193" cy="586631"/>
          </a:xfrm>
          <a:prstGeom prst="line">
            <a:avLst/>
          </a:prstGeom>
          <a:ln w="69850" cmpd="dbl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4" name="オブジェクト 53">
            <a:extLst>
              <a:ext uri="{FF2B5EF4-FFF2-40B4-BE49-F238E27FC236}">
                <a16:creationId xmlns:a16="http://schemas.microsoft.com/office/drawing/2014/main" id="{D7581D44-CC25-4AF3-A27E-ECF08AC2CD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7072979"/>
              </p:ext>
            </p:extLst>
          </p:nvPr>
        </p:nvGraphicFramePr>
        <p:xfrm>
          <a:off x="9823757" y="3922931"/>
          <a:ext cx="228240" cy="304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6" name="Equation" r:id="rId19" imgW="114120" imgH="152280" progId="Equation.DSMT4">
                  <p:embed/>
                </p:oleObj>
              </mc:Choice>
              <mc:Fallback>
                <p:oleObj name="Equation" r:id="rId19" imgW="11412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823757" y="3922931"/>
                        <a:ext cx="228240" cy="3045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オブジェクト 54">
            <a:extLst>
              <a:ext uri="{FF2B5EF4-FFF2-40B4-BE49-F238E27FC236}">
                <a16:creationId xmlns:a16="http://schemas.microsoft.com/office/drawing/2014/main" id="{82CF7C30-0F4B-451D-9D0F-B935650F98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880397"/>
              </p:ext>
            </p:extLst>
          </p:nvPr>
        </p:nvGraphicFramePr>
        <p:xfrm>
          <a:off x="7010125" y="5811345"/>
          <a:ext cx="2361600" cy="329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7" name="Equation" r:id="rId21" imgW="1180800" imgH="164880" progId="Equation.DSMT4">
                  <p:embed/>
                </p:oleObj>
              </mc:Choice>
              <mc:Fallback>
                <p:oleObj name="Equation" r:id="rId21" imgW="118080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010125" y="5811345"/>
                        <a:ext cx="2361600" cy="329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オブジェクト 56">
            <a:extLst>
              <a:ext uri="{FF2B5EF4-FFF2-40B4-BE49-F238E27FC236}">
                <a16:creationId xmlns:a16="http://schemas.microsoft.com/office/drawing/2014/main" id="{0FC7F251-FA60-4217-B711-3557291FBD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1740079"/>
              </p:ext>
            </p:extLst>
          </p:nvPr>
        </p:nvGraphicFramePr>
        <p:xfrm>
          <a:off x="7403225" y="6175676"/>
          <a:ext cx="149860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8" name="Equation" r:id="rId23" imgW="749160" imgH="164880" progId="Equation.DSMT4">
                  <p:embed/>
                </p:oleObj>
              </mc:Choice>
              <mc:Fallback>
                <p:oleObj name="Equation" r:id="rId23" imgW="749160" imgH="164880" progId="Equation.DSMT4">
                  <p:embed/>
                  <p:pic>
                    <p:nvPicPr>
                      <p:cNvPr id="35" name="オブジェクト 34">
                        <a:extLst>
                          <a:ext uri="{FF2B5EF4-FFF2-40B4-BE49-F238E27FC236}">
                            <a16:creationId xmlns:a16="http://schemas.microsoft.com/office/drawing/2014/main" id="{EC01AC76-A616-42D6-8F95-EFB18747D2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403225" y="6175676"/>
                        <a:ext cx="1498600" cy="328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5594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3">
            <a:extLst>
              <a:ext uri="{FF2B5EF4-FFF2-40B4-BE49-F238E27FC236}">
                <a16:creationId xmlns:a16="http://schemas.microsoft.com/office/drawing/2014/main" id="{8F5AB222-CD1B-4DFD-971C-38864CB5C37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dirty="0"/>
              <a:t>SMILES</a:t>
            </a:r>
            <a:endParaRPr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7FB7FB6-D61A-46DB-A249-90A464FB2E84}"/>
              </a:ext>
            </a:extLst>
          </p:cNvPr>
          <p:cNvSpPr txBox="1"/>
          <p:nvPr/>
        </p:nvSpPr>
        <p:spPr>
          <a:xfrm>
            <a:off x="914399" y="1794295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環構造をもつ場合</a:t>
            </a:r>
            <a:endParaRPr kumimoji="1" lang="ja-JP" altLang="en-US" sz="2800" dirty="0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F91F3F8-5689-439A-9B8E-3A3AFE2BA68E}"/>
              </a:ext>
            </a:extLst>
          </p:cNvPr>
          <p:cNvCxnSpPr>
            <a:cxnSpLocks noChangeAspect="1"/>
          </p:cNvCxnSpPr>
          <p:nvPr/>
        </p:nvCxnSpPr>
        <p:spPr>
          <a:xfrm rot="-300000" flipH="1">
            <a:off x="2805702" y="2875558"/>
            <a:ext cx="288000" cy="1765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299A47C6-C354-49AE-B48E-A799E29E8312}"/>
              </a:ext>
            </a:extLst>
          </p:cNvPr>
          <p:cNvCxnSpPr/>
          <p:nvPr/>
        </p:nvCxnSpPr>
        <p:spPr>
          <a:xfrm>
            <a:off x="3542193" y="3095012"/>
            <a:ext cx="0" cy="3364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六角形 5">
            <a:extLst>
              <a:ext uri="{FF2B5EF4-FFF2-40B4-BE49-F238E27FC236}">
                <a16:creationId xmlns:a16="http://schemas.microsoft.com/office/drawing/2014/main" id="{5D470A81-D5C2-4EBD-8E06-AF501B67C47D}"/>
              </a:ext>
            </a:extLst>
          </p:cNvPr>
          <p:cNvSpPr/>
          <p:nvPr/>
        </p:nvSpPr>
        <p:spPr>
          <a:xfrm rot="1620000">
            <a:off x="2673065" y="2877461"/>
            <a:ext cx="961263" cy="828675"/>
          </a:xfrm>
          <a:prstGeom prst="hex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2C3F180-9A4F-45A3-BD76-B670BD15636D}"/>
              </a:ext>
            </a:extLst>
          </p:cNvPr>
          <p:cNvCxnSpPr>
            <a:cxnSpLocks noChangeAspect="1"/>
          </p:cNvCxnSpPr>
          <p:nvPr/>
        </p:nvCxnSpPr>
        <p:spPr>
          <a:xfrm rot="3540000" flipH="1">
            <a:off x="2822216" y="3525558"/>
            <a:ext cx="302400" cy="1853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BAE60AE-1DCF-460A-9E30-194E3AC227C7}"/>
              </a:ext>
            </a:extLst>
          </p:cNvPr>
          <p:cNvSpPr txBox="1"/>
          <p:nvPr/>
        </p:nvSpPr>
        <p:spPr>
          <a:xfrm>
            <a:off x="2600949" y="387697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ベンゼン</a:t>
            </a:r>
          </a:p>
        </p:txBody>
      </p:sp>
      <p:graphicFrame>
        <p:nvGraphicFramePr>
          <p:cNvPr id="9" name="オブジェクト 8">
            <a:extLst>
              <a:ext uri="{FF2B5EF4-FFF2-40B4-BE49-F238E27FC236}">
                <a16:creationId xmlns:a16="http://schemas.microsoft.com/office/drawing/2014/main" id="{CEF7EFC5-45A6-4464-BDAF-8003C13C6E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5747929"/>
              </p:ext>
            </p:extLst>
          </p:nvPr>
        </p:nvGraphicFramePr>
        <p:xfrm>
          <a:off x="2404396" y="4255763"/>
          <a:ext cx="149860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7" name="Equation" r:id="rId3" imgW="749160" imgH="164880" progId="Equation.DSMT4">
                  <p:embed/>
                </p:oleObj>
              </mc:Choice>
              <mc:Fallback>
                <p:oleObj name="Equation" r:id="rId3" imgW="749160" imgH="164880" progId="Equation.DSMT4">
                  <p:embed/>
                  <p:pic>
                    <p:nvPicPr>
                      <p:cNvPr id="57" name="オブジェクト 56">
                        <a:extLst>
                          <a:ext uri="{FF2B5EF4-FFF2-40B4-BE49-F238E27FC236}">
                            <a16:creationId xmlns:a16="http://schemas.microsoft.com/office/drawing/2014/main" id="{0FC7F251-FA60-4217-B711-3557291FBD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04396" y="4255763"/>
                        <a:ext cx="1498600" cy="328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DEFB4392-B745-46A8-A60D-34E2CBECEF8B}"/>
              </a:ext>
            </a:extLst>
          </p:cNvPr>
          <p:cNvCxnSpPr>
            <a:cxnSpLocks noChangeAspect="1"/>
          </p:cNvCxnSpPr>
          <p:nvPr/>
        </p:nvCxnSpPr>
        <p:spPr>
          <a:xfrm rot="-300000" flipH="1">
            <a:off x="6053726" y="2875557"/>
            <a:ext cx="288000" cy="1765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09243891-6538-4D89-A09D-A53DB5E48412}"/>
              </a:ext>
            </a:extLst>
          </p:cNvPr>
          <p:cNvCxnSpPr/>
          <p:nvPr/>
        </p:nvCxnSpPr>
        <p:spPr>
          <a:xfrm>
            <a:off x="6790217" y="3095011"/>
            <a:ext cx="0" cy="3364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六角形 11">
            <a:extLst>
              <a:ext uri="{FF2B5EF4-FFF2-40B4-BE49-F238E27FC236}">
                <a16:creationId xmlns:a16="http://schemas.microsoft.com/office/drawing/2014/main" id="{91541D74-AFC2-4D4D-BD08-A4C325FFCB62}"/>
              </a:ext>
            </a:extLst>
          </p:cNvPr>
          <p:cNvSpPr/>
          <p:nvPr/>
        </p:nvSpPr>
        <p:spPr>
          <a:xfrm rot="1620000">
            <a:off x="5921089" y="2877460"/>
            <a:ext cx="961263" cy="828675"/>
          </a:xfrm>
          <a:prstGeom prst="hex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C2D26D9E-5EC1-4ACA-91DE-6C0BEE787489}"/>
              </a:ext>
            </a:extLst>
          </p:cNvPr>
          <p:cNvCxnSpPr>
            <a:cxnSpLocks noChangeAspect="1"/>
          </p:cNvCxnSpPr>
          <p:nvPr/>
        </p:nvCxnSpPr>
        <p:spPr>
          <a:xfrm rot="3540000" flipH="1">
            <a:off x="6070240" y="3525557"/>
            <a:ext cx="302400" cy="1853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C082534-07D0-4A6C-87FD-D5AF71694254}"/>
              </a:ext>
            </a:extLst>
          </p:cNvPr>
          <p:cNvSpPr txBox="1"/>
          <p:nvPr/>
        </p:nvSpPr>
        <p:spPr>
          <a:xfrm>
            <a:off x="5848973" y="387697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ピリジン</a:t>
            </a:r>
            <a:endParaRPr kumimoji="1" lang="ja-JP" altLang="en-US" sz="2000" dirty="0"/>
          </a:p>
        </p:txBody>
      </p:sp>
      <p:graphicFrame>
        <p:nvGraphicFramePr>
          <p:cNvPr id="15" name="オブジェクト 14">
            <a:extLst>
              <a:ext uri="{FF2B5EF4-FFF2-40B4-BE49-F238E27FC236}">
                <a16:creationId xmlns:a16="http://schemas.microsoft.com/office/drawing/2014/main" id="{69AC2DF2-EA96-4D33-88F4-60513CB868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0051110"/>
              </p:ext>
            </p:extLst>
          </p:nvPr>
        </p:nvGraphicFramePr>
        <p:xfrm>
          <a:off x="5653088" y="4256088"/>
          <a:ext cx="1498600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8" name="Equation" r:id="rId5" imgW="749160" imgH="164880" progId="Equation.DSMT4">
                  <p:embed/>
                </p:oleObj>
              </mc:Choice>
              <mc:Fallback>
                <p:oleObj name="Equation" r:id="rId5" imgW="749160" imgH="164880" progId="Equation.DSMT4">
                  <p:embed/>
                  <p:pic>
                    <p:nvPicPr>
                      <p:cNvPr id="9" name="オブジェクト 8">
                        <a:extLst>
                          <a:ext uri="{FF2B5EF4-FFF2-40B4-BE49-F238E27FC236}">
                            <a16:creationId xmlns:a16="http://schemas.microsoft.com/office/drawing/2014/main" id="{CEF7EFC5-45A6-4464-BDAF-8003C13C6E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53088" y="4256088"/>
                        <a:ext cx="1498600" cy="328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オブジェクト 15">
            <a:extLst>
              <a:ext uri="{FF2B5EF4-FFF2-40B4-BE49-F238E27FC236}">
                <a16:creationId xmlns:a16="http://schemas.microsoft.com/office/drawing/2014/main" id="{7521A089-774A-42BD-A2B2-A6EEE0FBD1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2424891"/>
              </p:ext>
            </p:extLst>
          </p:nvPr>
        </p:nvGraphicFramePr>
        <p:xfrm>
          <a:off x="6197726" y="2618265"/>
          <a:ext cx="329760" cy="35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9" name="Equation" r:id="rId7" imgW="164880" imgH="177480" progId="Equation.DSMT4">
                  <p:embed/>
                </p:oleObj>
              </mc:Choice>
              <mc:Fallback>
                <p:oleObj name="Equation" r:id="rId7" imgW="164880" imgH="177480" progId="Equation.DSMT4">
                  <p:embed/>
                  <p:pic>
                    <p:nvPicPr>
                      <p:cNvPr id="14" name="オブジェクト 13">
                        <a:extLst>
                          <a:ext uri="{FF2B5EF4-FFF2-40B4-BE49-F238E27FC236}">
                            <a16:creationId xmlns:a16="http://schemas.microsoft.com/office/drawing/2014/main" id="{5ED7149F-56CC-4F41-86FC-5E9CB051AC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97726" y="2618265"/>
                        <a:ext cx="329760" cy="35496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五角形 16">
            <a:extLst>
              <a:ext uri="{FF2B5EF4-FFF2-40B4-BE49-F238E27FC236}">
                <a16:creationId xmlns:a16="http://schemas.microsoft.com/office/drawing/2014/main" id="{5CBE48E2-6010-42A6-A773-9D601DEE03F8}"/>
              </a:ext>
            </a:extLst>
          </p:cNvPr>
          <p:cNvSpPr>
            <a:spLocks noChangeAspect="1"/>
          </p:cNvSpPr>
          <p:nvPr/>
        </p:nvSpPr>
        <p:spPr>
          <a:xfrm>
            <a:off x="9096368" y="2897401"/>
            <a:ext cx="1028250" cy="974592"/>
          </a:xfrm>
          <a:prstGeom prst="pent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A227BC47-A160-4C74-9A15-AD53337FC1DE}"/>
              </a:ext>
            </a:extLst>
          </p:cNvPr>
          <p:cNvCxnSpPr>
            <a:cxnSpLocks/>
          </p:cNvCxnSpPr>
          <p:nvPr/>
        </p:nvCxnSpPr>
        <p:spPr>
          <a:xfrm flipH="1">
            <a:off x="9906000" y="3337072"/>
            <a:ext cx="151200" cy="4680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06B72095-5E4C-4549-9889-E2F5894F23C2}"/>
              </a:ext>
            </a:extLst>
          </p:cNvPr>
          <p:cNvCxnSpPr>
            <a:cxnSpLocks/>
          </p:cNvCxnSpPr>
          <p:nvPr/>
        </p:nvCxnSpPr>
        <p:spPr>
          <a:xfrm>
            <a:off x="9163050" y="3318021"/>
            <a:ext cx="151200" cy="46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3" name="オブジェクト 22">
            <a:extLst>
              <a:ext uri="{FF2B5EF4-FFF2-40B4-BE49-F238E27FC236}">
                <a16:creationId xmlns:a16="http://schemas.microsoft.com/office/drawing/2014/main" id="{23A12A1C-1F4A-465E-AB7B-E8F49CE948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0121414"/>
              </p:ext>
            </p:extLst>
          </p:nvPr>
        </p:nvGraphicFramePr>
        <p:xfrm>
          <a:off x="9463088" y="2735263"/>
          <a:ext cx="304560" cy="35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0" name="Equation" r:id="rId9" imgW="152280" imgH="177480" progId="Equation.DSMT4">
                  <p:embed/>
                </p:oleObj>
              </mc:Choice>
              <mc:Fallback>
                <p:oleObj name="Equation" r:id="rId9" imgW="1522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463088" y="2735263"/>
                        <a:ext cx="304560" cy="35496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D3B0E07-FDD9-4B41-B7F1-1D4DC4585109}"/>
              </a:ext>
            </a:extLst>
          </p:cNvPr>
          <p:cNvSpPr txBox="1"/>
          <p:nvPr/>
        </p:nvSpPr>
        <p:spPr>
          <a:xfrm>
            <a:off x="9135097" y="38982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フラン</a:t>
            </a:r>
          </a:p>
        </p:txBody>
      </p:sp>
      <p:graphicFrame>
        <p:nvGraphicFramePr>
          <p:cNvPr id="25" name="オブジェクト 24">
            <a:extLst>
              <a:ext uri="{FF2B5EF4-FFF2-40B4-BE49-F238E27FC236}">
                <a16:creationId xmlns:a16="http://schemas.microsoft.com/office/drawing/2014/main" id="{4197B25B-05F8-4D9C-A99C-4BC3959D14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94619"/>
              </p:ext>
            </p:extLst>
          </p:nvPr>
        </p:nvGraphicFramePr>
        <p:xfrm>
          <a:off x="8990013" y="4276725"/>
          <a:ext cx="132080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1" name="Equation" r:id="rId11" imgW="660240" imgH="164880" progId="Equation.DSMT4">
                  <p:embed/>
                </p:oleObj>
              </mc:Choice>
              <mc:Fallback>
                <p:oleObj name="Equation" r:id="rId11" imgW="660240" imgH="164880" progId="Equation.DSMT4">
                  <p:embed/>
                  <p:pic>
                    <p:nvPicPr>
                      <p:cNvPr id="15" name="オブジェクト 14">
                        <a:extLst>
                          <a:ext uri="{FF2B5EF4-FFF2-40B4-BE49-F238E27FC236}">
                            <a16:creationId xmlns:a16="http://schemas.microsoft.com/office/drawing/2014/main" id="{69AC2DF2-EA96-4D33-88F4-60513CB868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990013" y="4276725"/>
                        <a:ext cx="1320800" cy="328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6511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3">
            <a:extLst>
              <a:ext uri="{FF2B5EF4-FFF2-40B4-BE49-F238E27FC236}">
                <a16:creationId xmlns:a16="http://schemas.microsoft.com/office/drawing/2014/main" id="{C0526FFD-1AFA-42BF-960F-7D4F8A558AA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dirty="0"/>
              <a:t>SMILES</a:t>
            </a:r>
            <a:endParaRPr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BF957BE-438E-413B-BB9F-C44BF8FE0912}"/>
              </a:ext>
            </a:extLst>
          </p:cNvPr>
          <p:cNvSpPr txBox="1"/>
          <p:nvPr/>
        </p:nvSpPr>
        <p:spPr>
          <a:xfrm>
            <a:off x="914399" y="179429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欠点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CE79102-E198-479B-9799-179D8F1A13F3}"/>
              </a:ext>
            </a:extLst>
          </p:cNvPr>
          <p:cNvSpPr txBox="1"/>
          <p:nvPr/>
        </p:nvSpPr>
        <p:spPr>
          <a:xfrm>
            <a:off x="1615635" y="2317515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文法に厳密に従わない系列はエラー</a:t>
            </a:r>
            <a:endParaRPr kumimoji="1" lang="ja-JP" altLang="en-US" sz="2400" dirty="0"/>
          </a:p>
        </p:txBody>
      </p:sp>
      <p:graphicFrame>
        <p:nvGraphicFramePr>
          <p:cNvPr id="5" name="オブジェクト 4">
            <a:extLst>
              <a:ext uri="{FF2B5EF4-FFF2-40B4-BE49-F238E27FC236}">
                <a16:creationId xmlns:a16="http://schemas.microsoft.com/office/drawing/2014/main" id="{DC89C9A4-CCE9-4C3C-91E9-E13FE28A87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566316"/>
              </p:ext>
            </p:extLst>
          </p:nvPr>
        </p:nvGraphicFramePr>
        <p:xfrm>
          <a:off x="3223546" y="2950838"/>
          <a:ext cx="149860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5" name="Equation" r:id="rId3" imgW="749160" imgH="164880" progId="Equation.DSMT4">
                  <p:embed/>
                </p:oleObj>
              </mc:Choice>
              <mc:Fallback>
                <p:oleObj name="Equation" r:id="rId3" imgW="749160" imgH="164880" progId="Equation.DSMT4">
                  <p:embed/>
                  <p:pic>
                    <p:nvPicPr>
                      <p:cNvPr id="9" name="オブジェクト 8">
                        <a:extLst>
                          <a:ext uri="{FF2B5EF4-FFF2-40B4-BE49-F238E27FC236}">
                            <a16:creationId xmlns:a16="http://schemas.microsoft.com/office/drawing/2014/main" id="{CEF7EFC5-45A6-4464-BDAF-8003C13C6E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23546" y="2950838"/>
                        <a:ext cx="1498600" cy="328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1ED10AD-BE70-4E81-9B80-82B68E63C4E4}"/>
              </a:ext>
            </a:extLst>
          </p:cNvPr>
          <p:cNvSpPr txBox="1"/>
          <p:nvPr/>
        </p:nvSpPr>
        <p:spPr>
          <a:xfrm>
            <a:off x="2019655" y="2924614"/>
            <a:ext cx="5180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ex.</a:t>
            </a:r>
            <a:endParaRPr kumimoji="1" lang="ja-JP" altLang="en-US" sz="2000" dirty="0"/>
          </a:p>
        </p:txBody>
      </p:sp>
      <p:graphicFrame>
        <p:nvGraphicFramePr>
          <p:cNvPr id="7" name="オブジェクト 6">
            <a:extLst>
              <a:ext uri="{FF2B5EF4-FFF2-40B4-BE49-F238E27FC236}">
                <a16:creationId xmlns:a16="http://schemas.microsoft.com/office/drawing/2014/main" id="{88895359-1E95-49F4-B73C-0ADC711042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5373667"/>
              </p:ext>
            </p:extLst>
          </p:nvPr>
        </p:nvGraphicFramePr>
        <p:xfrm>
          <a:off x="7220190" y="2937664"/>
          <a:ext cx="1218960" cy="35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6" name="Equation" r:id="rId5" imgW="609480" imgH="177480" progId="Equation.DSMT4">
                  <p:embed/>
                </p:oleObj>
              </mc:Choice>
              <mc:Fallback>
                <p:oleObj name="Equation" r:id="rId5" imgW="6094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20190" y="2937664"/>
                        <a:ext cx="1218960" cy="354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74D0772-30EB-4B64-848D-F6E5B127FE63}"/>
              </a:ext>
            </a:extLst>
          </p:cNvPr>
          <p:cNvSpPr txBox="1"/>
          <p:nvPr/>
        </p:nvSpPr>
        <p:spPr>
          <a:xfrm>
            <a:off x="2576469" y="3282509"/>
            <a:ext cx="31486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数値を入れるときは</a:t>
            </a:r>
            <a:r>
              <a:rPr lang="en-US" altLang="ja-JP" sz="2000" dirty="0"/>
              <a:t>1</a:t>
            </a:r>
            <a:r>
              <a:rPr lang="ja-JP" altLang="en-US" sz="2000" dirty="0"/>
              <a:t>から</a:t>
            </a:r>
            <a:endParaRPr kumimoji="1" lang="ja-JP" altLang="en-US" sz="20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DA2ECF7-5F6B-4531-A14F-852FA73220E1}"/>
              </a:ext>
            </a:extLst>
          </p:cNvPr>
          <p:cNvSpPr txBox="1"/>
          <p:nvPr/>
        </p:nvSpPr>
        <p:spPr>
          <a:xfrm>
            <a:off x="6769710" y="3282509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閉じ括弧がない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BF13319-588F-4EE8-B2E8-55F64483B4F3}"/>
              </a:ext>
            </a:extLst>
          </p:cNvPr>
          <p:cNvSpPr txBox="1"/>
          <p:nvPr/>
        </p:nvSpPr>
        <p:spPr>
          <a:xfrm>
            <a:off x="1615635" y="3847988"/>
            <a:ext cx="7087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文法は</a:t>
            </a:r>
            <a:r>
              <a:rPr lang="en-US" altLang="ja-JP" sz="2400" dirty="0"/>
              <a:t>OK</a:t>
            </a:r>
            <a:r>
              <a:rPr lang="ja-JP" altLang="en-US" sz="2400" dirty="0"/>
              <a:t>でも化学構造としておかしければエラー</a:t>
            </a:r>
            <a:endParaRPr kumimoji="1" lang="ja-JP" altLang="en-US" sz="2400" dirty="0"/>
          </a:p>
        </p:txBody>
      </p:sp>
      <p:graphicFrame>
        <p:nvGraphicFramePr>
          <p:cNvPr id="11" name="オブジェクト 10">
            <a:extLst>
              <a:ext uri="{FF2B5EF4-FFF2-40B4-BE49-F238E27FC236}">
                <a16:creationId xmlns:a16="http://schemas.microsoft.com/office/drawing/2014/main" id="{C25DA1FE-E06F-4E57-B62D-D649BFA8C8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681497"/>
              </p:ext>
            </p:extLst>
          </p:nvPr>
        </p:nvGraphicFramePr>
        <p:xfrm>
          <a:off x="3338513" y="4333875"/>
          <a:ext cx="21844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7" name="Equation" r:id="rId7" imgW="1091880" imgH="253800" progId="Equation.DSMT4">
                  <p:embed/>
                </p:oleObj>
              </mc:Choice>
              <mc:Fallback>
                <p:oleObj name="Equation" r:id="rId7" imgW="1091880" imgH="253800" progId="Equation.DSMT4">
                  <p:embed/>
                  <p:pic>
                    <p:nvPicPr>
                      <p:cNvPr id="5" name="オブジェクト 4">
                        <a:extLst>
                          <a:ext uri="{FF2B5EF4-FFF2-40B4-BE49-F238E27FC236}">
                            <a16:creationId xmlns:a16="http://schemas.microsoft.com/office/drawing/2014/main" id="{DC89C9A4-CCE9-4C3C-91E9-E13FE28A87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38513" y="4333875"/>
                        <a:ext cx="2184400" cy="506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E21485B-026B-45A5-82E7-F4EE0C6DE0F9}"/>
              </a:ext>
            </a:extLst>
          </p:cNvPr>
          <p:cNvSpPr txBox="1"/>
          <p:nvPr/>
        </p:nvSpPr>
        <p:spPr>
          <a:xfrm>
            <a:off x="2029478" y="4396590"/>
            <a:ext cx="5180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ex.</a:t>
            </a:r>
            <a:endParaRPr kumimoji="1" lang="ja-JP" altLang="en-US" sz="20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77FD2E5-D121-4929-846C-3F756D6E0CAF}"/>
              </a:ext>
            </a:extLst>
          </p:cNvPr>
          <p:cNvSpPr txBox="1"/>
          <p:nvPr/>
        </p:nvSpPr>
        <p:spPr>
          <a:xfrm>
            <a:off x="2871181" y="4857225"/>
            <a:ext cx="31101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最初の炭素の結合が</a:t>
            </a:r>
            <a:r>
              <a:rPr kumimoji="1" lang="en-US" altLang="ja-JP" sz="2000" dirty="0"/>
              <a:t>5</a:t>
            </a:r>
            <a:r>
              <a:rPr kumimoji="1" lang="ja-JP" altLang="en-US" sz="2000" dirty="0"/>
              <a:t>個</a:t>
            </a:r>
            <a:r>
              <a:rPr kumimoji="1" lang="en-US" altLang="ja-JP" sz="2000" dirty="0"/>
              <a:t>!?</a:t>
            </a:r>
            <a:endParaRPr kumimoji="1" lang="ja-JP" altLang="en-US" sz="2000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F30206A-7248-4917-A83C-7204BEE2B725}"/>
              </a:ext>
            </a:extLst>
          </p:cNvPr>
          <p:cNvSpPr/>
          <p:nvPr/>
        </p:nvSpPr>
        <p:spPr>
          <a:xfrm>
            <a:off x="1615635" y="3809888"/>
            <a:ext cx="7395015" cy="15431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台形 14">
            <a:extLst>
              <a:ext uri="{FF2B5EF4-FFF2-40B4-BE49-F238E27FC236}">
                <a16:creationId xmlns:a16="http://schemas.microsoft.com/office/drawing/2014/main" id="{825FF793-9C4B-4081-A190-2B03515D9434}"/>
              </a:ext>
            </a:extLst>
          </p:cNvPr>
          <p:cNvSpPr/>
          <p:nvPr/>
        </p:nvSpPr>
        <p:spPr>
          <a:xfrm rot="5400000">
            <a:off x="3982433" y="5801140"/>
            <a:ext cx="943906" cy="646043"/>
          </a:xfrm>
          <a:prstGeom prst="trapezoi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73D5BE3-A6DF-4126-8584-F87E96356CBA}"/>
              </a:ext>
            </a:extLst>
          </p:cNvPr>
          <p:cNvSpPr txBox="1"/>
          <p:nvPr/>
        </p:nvSpPr>
        <p:spPr>
          <a:xfrm>
            <a:off x="4151039" y="5943023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NN</a:t>
            </a: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423632E6-4423-4510-8FFE-2EE7652478E0}"/>
              </a:ext>
            </a:extLst>
          </p:cNvPr>
          <p:cNvCxnSpPr/>
          <p:nvPr/>
        </p:nvCxnSpPr>
        <p:spPr>
          <a:xfrm>
            <a:off x="4886630" y="6124161"/>
            <a:ext cx="3600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89DA989-EF22-40CE-B132-1D829FD7AA4C}"/>
              </a:ext>
            </a:extLst>
          </p:cNvPr>
          <p:cNvSpPr txBox="1"/>
          <p:nvPr/>
        </p:nvSpPr>
        <p:spPr>
          <a:xfrm>
            <a:off x="5313142" y="5924106"/>
            <a:ext cx="1128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SMILES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5FBD381-585A-474F-B1DD-8CA99CAADDCC}"/>
              </a:ext>
            </a:extLst>
          </p:cNvPr>
          <p:cNvSpPr txBox="1"/>
          <p:nvPr/>
        </p:nvSpPr>
        <p:spPr>
          <a:xfrm>
            <a:off x="5153783" y="6410265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モデル構築が非常に困難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2296740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  <p:bldP spid="18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3">
            <a:extLst>
              <a:ext uri="{FF2B5EF4-FFF2-40B4-BE49-F238E27FC236}">
                <a16:creationId xmlns:a16="http://schemas.microsoft.com/office/drawing/2014/main" id="{7509394C-F26F-459E-8C0B-6E02B0511C3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dirty="0"/>
              <a:t>分子のグラフ表現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66A16C7-3ACB-4AE1-AABB-53CF239FC70F}"/>
              </a:ext>
            </a:extLst>
          </p:cNvPr>
          <p:cNvSpPr txBox="1"/>
          <p:nvPr/>
        </p:nvSpPr>
        <p:spPr>
          <a:xfrm>
            <a:off x="914399" y="1794295"/>
            <a:ext cx="83856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SELFIES</a:t>
            </a:r>
            <a:r>
              <a:rPr kumimoji="1" lang="ja-JP" altLang="en-US" sz="2800" dirty="0"/>
              <a:t> </a:t>
            </a:r>
            <a:r>
              <a:rPr kumimoji="1" lang="en-US" altLang="ja-JP" sz="2000" dirty="0"/>
              <a:t>(self-referencing embedding strings) [</a:t>
            </a:r>
            <a:r>
              <a:rPr kumimoji="1" lang="en-US" altLang="ja-JP" sz="2000" dirty="0" err="1"/>
              <a:t>Krenn</a:t>
            </a:r>
            <a:r>
              <a:rPr kumimoji="1" lang="en-US" altLang="ja-JP" sz="2000" dirty="0"/>
              <a:t> et al., 2020]</a:t>
            </a:r>
            <a:endParaRPr kumimoji="1" lang="ja-JP" altLang="en-US" sz="28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22AB604-A508-4024-927B-4590D8477AB8}"/>
              </a:ext>
            </a:extLst>
          </p:cNvPr>
          <p:cNvSpPr txBox="1"/>
          <p:nvPr/>
        </p:nvSpPr>
        <p:spPr>
          <a:xfrm>
            <a:off x="1977585" y="2317515"/>
            <a:ext cx="31662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SMILES</a:t>
            </a:r>
            <a:r>
              <a:rPr kumimoji="1" lang="ja-JP" altLang="en-US" sz="2400" dirty="0"/>
              <a:t>の欠点を修正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C7A8752-278A-4EB5-817C-F45C1458E490}"/>
              </a:ext>
            </a:extLst>
          </p:cNvPr>
          <p:cNvSpPr txBox="1"/>
          <p:nvPr/>
        </p:nvSpPr>
        <p:spPr>
          <a:xfrm>
            <a:off x="1977585" y="2779180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任意の</a:t>
            </a:r>
            <a:r>
              <a:rPr lang="en-US" altLang="ja-JP" sz="2400" dirty="0"/>
              <a:t>SELFIES</a:t>
            </a:r>
            <a:r>
              <a:rPr lang="ja-JP" altLang="en-US" sz="2400" dirty="0"/>
              <a:t>系列は必ず正しい分子グラフに変換可能</a:t>
            </a:r>
            <a:endParaRPr kumimoji="1" lang="ja-JP" altLang="en-US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CEAB080-11D1-437E-97D6-AE7274BE67B7}"/>
              </a:ext>
            </a:extLst>
          </p:cNvPr>
          <p:cNvSpPr txBox="1"/>
          <p:nvPr/>
        </p:nvSpPr>
        <p:spPr>
          <a:xfrm>
            <a:off x="1977585" y="3265477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すべての分子を表現可能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561900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3">
            <a:extLst>
              <a:ext uri="{FF2B5EF4-FFF2-40B4-BE49-F238E27FC236}">
                <a16:creationId xmlns:a16="http://schemas.microsoft.com/office/drawing/2014/main" id="{B4ED0A08-22FB-4DB8-884E-03C41E896EB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dirty="0"/>
              <a:t>SELFIES</a:t>
            </a:r>
            <a:endParaRPr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9085075-7EFF-44F5-B70E-A362981E457B}"/>
              </a:ext>
            </a:extLst>
          </p:cNvPr>
          <p:cNvSpPr txBox="1"/>
          <p:nvPr/>
        </p:nvSpPr>
        <p:spPr>
          <a:xfrm>
            <a:off x="914399" y="179429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基本的な考え方</a:t>
            </a:r>
            <a:endParaRPr kumimoji="1" lang="ja-JP" altLang="en-US" sz="28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B3929F-534A-4E9E-8FCE-7E7ECE5C2BF7}"/>
              </a:ext>
            </a:extLst>
          </p:cNvPr>
          <p:cNvSpPr txBox="1"/>
          <p:nvPr/>
        </p:nvSpPr>
        <p:spPr>
          <a:xfrm>
            <a:off x="1977585" y="2317515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文脈自由文法</a:t>
            </a:r>
            <a:endParaRPr kumimoji="1" lang="ja-JP" altLang="en-US" sz="2400" dirty="0"/>
          </a:p>
        </p:txBody>
      </p:sp>
      <p:graphicFrame>
        <p:nvGraphicFramePr>
          <p:cNvPr id="5" name="オブジェクト 4">
            <a:extLst>
              <a:ext uri="{FF2B5EF4-FFF2-40B4-BE49-F238E27FC236}">
                <a16:creationId xmlns:a16="http://schemas.microsoft.com/office/drawing/2014/main" id="{B523AA59-ACDA-482F-8DF6-65499E37B3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823310"/>
              </p:ext>
            </p:extLst>
          </p:nvPr>
        </p:nvGraphicFramePr>
        <p:xfrm>
          <a:off x="4089400" y="2317515"/>
          <a:ext cx="20066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6" name="Equation" r:id="rId4" imgW="1002960" imgH="253800" progId="Equation.DSMT4">
                  <p:embed/>
                </p:oleObj>
              </mc:Choice>
              <mc:Fallback>
                <p:oleObj name="Equation" r:id="rId4" imgW="1002960" imgH="253800" progId="Equation.DSMT4">
                  <p:embed/>
                  <p:pic>
                    <p:nvPicPr>
                      <p:cNvPr id="25" name="オブジェクト 24">
                        <a:extLst>
                          <a:ext uri="{FF2B5EF4-FFF2-40B4-BE49-F238E27FC236}">
                            <a16:creationId xmlns:a16="http://schemas.microsoft.com/office/drawing/2014/main" id="{BE903435-3447-4D40-95C6-0E84190563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89400" y="2317515"/>
                        <a:ext cx="2006600" cy="506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オブジェクト 5">
            <a:extLst>
              <a:ext uri="{FF2B5EF4-FFF2-40B4-BE49-F238E27FC236}">
                <a16:creationId xmlns:a16="http://schemas.microsoft.com/office/drawing/2014/main" id="{C444C69A-91C1-4E49-9CEF-1A57A9EC9E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2221179"/>
              </p:ext>
            </p:extLst>
          </p:nvPr>
        </p:nvGraphicFramePr>
        <p:xfrm>
          <a:off x="5264150" y="2823927"/>
          <a:ext cx="279360" cy="27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7" name="Equation" r:id="rId6" imgW="139680" imgH="139680" progId="Equation.DSMT4">
                  <p:embed/>
                </p:oleObj>
              </mc:Choice>
              <mc:Fallback>
                <p:oleObj name="Equation" r:id="rId6" imgW="13968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64150" y="2823927"/>
                        <a:ext cx="279360" cy="2793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4316490-A0C1-4EF8-AC4C-F2D856C09F08}"/>
              </a:ext>
            </a:extLst>
          </p:cNvPr>
          <p:cNvSpPr txBox="1"/>
          <p:nvPr/>
        </p:nvSpPr>
        <p:spPr>
          <a:xfrm>
            <a:off x="3512185" y="310040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分枝関数</a:t>
            </a:r>
            <a:endParaRPr kumimoji="1" lang="ja-JP" altLang="en-US" sz="2400" dirty="0"/>
          </a:p>
        </p:txBody>
      </p:sp>
      <p:graphicFrame>
        <p:nvGraphicFramePr>
          <p:cNvPr id="8" name="オブジェクト 7">
            <a:extLst>
              <a:ext uri="{FF2B5EF4-FFF2-40B4-BE49-F238E27FC236}">
                <a16:creationId xmlns:a16="http://schemas.microsoft.com/office/drawing/2014/main" id="{6F48D3FB-5FDD-4B20-8E55-327AAFD4F2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788164"/>
              </p:ext>
            </p:extLst>
          </p:nvPr>
        </p:nvGraphicFramePr>
        <p:xfrm>
          <a:off x="4845290" y="3145156"/>
          <a:ext cx="304560" cy="329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8" name="Equation" r:id="rId8" imgW="152280" imgH="164880" progId="Equation.DSMT4">
                  <p:embed/>
                </p:oleObj>
              </mc:Choice>
              <mc:Fallback>
                <p:oleObj name="Equation" r:id="rId8" imgW="1522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845290" y="3145156"/>
                        <a:ext cx="304560" cy="329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9416BDF-6EF7-4E0E-935B-2284F1AB67F4}"/>
              </a:ext>
            </a:extLst>
          </p:cNvPr>
          <p:cNvSpPr txBox="1"/>
          <p:nvPr/>
        </p:nvSpPr>
        <p:spPr>
          <a:xfrm>
            <a:off x="5807355" y="3100409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環関数</a:t>
            </a:r>
            <a:endParaRPr kumimoji="1" lang="ja-JP" altLang="en-US" sz="2400" dirty="0"/>
          </a:p>
        </p:txBody>
      </p:sp>
      <p:graphicFrame>
        <p:nvGraphicFramePr>
          <p:cNvPr id="10" name="オブジェクト 9">
            <a:extLst>
              <a:ext uri="{FF2B5EF4-FFF2-40B4-BE49-F238E27FC236}">
                <a16:creationId xmlns:a16="http://schemas.microsoft.com/office/drawing/2014/main" id="{464A6F97-D9E3-4721-90A8-4A2330F835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739143"/>
              </p:ext>
            </p:extLst>
          </p:nvPr>
        </p:nvGraphicFramePr>
        <p:xfrm>
          <a:off x="6911860" y="3145156"/>
          <a:ext cx="304560" cy="329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9" name="Equation" r:id="rId10" imgW="152280" imgH="164880" progId="Equation.DSMT4">
                  <p:embed/>
                </p:oleObj>
              </mc:Choice>
              <mc:Fallback>
                <p:oleObj name="Equation" r:id="rId10" imgW="152280" imgH="164880" progId="Equation.DSMT4">
                  <p:embed/>
                  <p:pic>
                    <p:nvPicPr>
                      <p:cNvPr id="8" name="オブジェクト 7">
                        <a:extLst>
                          <a:ext uri="{FF2B5EF4-FFF2-40B4-BE49-F238E27FC236}">
                            <a16:creationId xmlns:a16="http://schemas.microsoft.com/office/drawing/2014/main" id="{6F48D3FB-5FDD-4B20-8E55-327AAFD4F2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911860" y="3145156"/>
                        <a:ext cx="304560" cy="329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2C4082A-4A55-4978-8286-55F74F0CC04F}"/>
              </a:ext>
            </a:extLst>
          </p:cNvPr>
          <p:cNvSpPr txBox="1"/>
          <p:nvPr/>
        </p:nvSpPr>
        <p:spPr>
          <a:xfrm>
            <a:off x="1977584" y="3869271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非終端記号</a:t>
            </a:r>
          </a:p>
        </p:txBody>
      </p:sp>
      <p:graphicFrame>
        <p:nvGraphicFramePr>
          <p:cNvPr id="12" name="オブジェクト 11">
            <a:extLst>
              <a:ext uri="{FF2B5EF4-FFF2-40B4-BE49-F238E27FC236}">
                <a16:creationId xmlns:a16="http://schemas.microsoft.com/office/drawing/2014/main" id="{BC049D77-5E00-4A13-8990-76B646A1A3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910898"/>
              </p:ext>
            </p:extLst>
          </p:nvPr>
        </p:nvGraphicFramePr>
        <p:xfrm>
          <a:off x="3956270" y="3857813"/>
          <a:ext cx="289512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0" name="Equation" r:id="rId12" imgW="1447560" imgH="253800" progId="Equation.DSMT4">
                  <p:embed/>
                </p:oleObj>
              </mc:Choice>
              <mc:Fallback>
                <p:oleObj name="Equation" r:id="rId12" imgW="14475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956270" y="3857813"/>
                        <a:ext cx="289512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オブジェクト 12">
            <a:extLst>
              <a:ext uri="{FF2B5EF4-FFF2-40B4-BE49-F238E27FC236}">
                <a16:creationId xmlns:a16="http://schemas.microsoft.com/office/drawing/2014/main" id="{AFFBA0D3-1186-441B-AB75-BD3797B9E4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166292"/>
              </p:ext>
            </p:extLst>
          </p:nvPr>
        </p:nvGraphicFramePr>
        <p:xfrm>
          <a:off x="3512185" y="4831883"/>
          <a:ext cx="38088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1" name="Equation" r:id="rId14" imgW="190440" imgH="228600" progId="Equation.DSMT4">
                  <p:embed/>
                </p:oleObj>
              </mc:Choice>
              <mc:Fallback>
                <p:oleObj name="Equation" r:id="rId14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512185" y="4831883"/>
                        <a:ext cx="38088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オブジェクト 13">
            <a:extLst>
              <a:ext uri="{FF2B5EF4-FFF2-40B4-BE49-F238E27FC236}">
                <a16:creationId xmlns:a16="http://schemas.microsoft.com/office/drawing/2014/main" id="{7B00DFA4-B55A-4CCC-9227-4A7E508B4F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153333"/>
              </p:ext>
            </p:extLst>
          </p:nvPr>
        </p:nvGraphicFramePr>
        <p:xfrm>
          <a:off x="4008910" y="4803563"/>
          <a:ext cx="157464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2" name="Equation" r:id="rId16" imgW="787320" imgH="253800" progId="Equation.DSMT4">
                  <p:embed/>
                </p:oleObj>
              </mc:Choice>
              <mc:Fallback>
                <p:oleObj name="Equation" r:id="rId16" imgW="7873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008910" y="4803563"/>
                        <a:ext cx="157464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オブジェクト 14">
            <a:extLst>
              <a:ext uri="{FF2B5EF4-FFF2-40B4-BE49-F238E27FC236}">
                <a16:creationId xmlns:a16="http://schemas.microsoft.com/office/drawing/2014/main" id="{E5132BCA-8E0D-4BD0-820D-D7281A52A8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0569340"/>
              </p:ext>
            </p:extLst>
          </p:nvPr>
        </p:nvGraphicFramePr>
        <p:xfrm>
          <a:off x="3512185" y="4336041"/>
          <a:ext cx="43128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3" name="Equation" r:id="rId18" imgW="215640" imgH="228600" progId="Equation.DSMT4">
                  <p:embed/>
                </p:oleObj>
              </mc:Choice>
              <mc:Fallback>
                <p:oleObj name="Equation" r:id="rId18" imgW="215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512185" y="4336041"/>
                        <a:ext cx="43128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BF5CD7F-0328-4DCA-A756-56538ECB7F6C}"/>
              </a:ext>
            </a:extLst>
          </p:cNvPr>
          <p:cNvSpPr txBox="1"/>
          <p:nvPr/>
        </p:nvSpPr>
        <p:spPr>
          <a:xfrm>
            <a:off x="3943465" y="4349986"/>
            <a:ext cx="13564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: </a:t>
            </a:r>
            <a:r>
              <a:rPr kumimoji="1" lang="ja-JP" altLang="en-US" sz="2000" dirty="0"/>
              <a:t>開始記号</a:t>
            </a:r>
            <a:endParaRPr kumimoji="1" lang="ja-JP" altLang="en-US" sz="24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EEAFD0C-B851-4DDC-AEA7-24E0646D1A56}"/>
              </a:ext>
            </a:extLst>
          </p:cNvPr>
          <p:cNvSpPr txBox="1"/>
          <p:nvPr/>
        </p:nvSpPr>
        <p:spPr>
          <a:xfrm>
            <a:off x="5583550" y="4863935"/>
            <a:ext cx="61494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: </a:t>
            </a:r>
            <a:r>
              <a:rPr lang="ja-JP" altLang="en-US" sz="2000" dirty="0"/>
              <a:t>次の記号で規定される原子との結合次数が</a:t>
            </a:r>
            <a:r>
              <a:rPr lang="en-US" altLang="ja-JP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ja-JP" altLang="en-US" sz="2000" dirty="0"/>
              <a:t>まで</a:t>
            </a:r>
            <a:r>
              <a:rPr lang="en-US" altLang="ja-JP" sz="2000" dirty="0"/>
              <a:t>OK</a:t>
            </a:r>
            <a:endParaRPr kumimoji="1" lang="ja-JP" altLang="en-US" sz="2400" dirty="0"/>
          </a:p>
        </p:txBody>
      </p:sp>
      <p:graphicFrame>
        <p:nvGraphicFramePr>
          <p:cNvPr id="18" name="オブジェクト 17">
            <a:extLst>
              <a:ext uri="{FF2B5EF4-FFF2-40B4-BE49-F238E27FC236}">
                <a16:creationId xmlns:a16="http://schemas.microsoft.com/office/drawing/2014/main" id="{AA3911E6-7391-43C5-8360-58F7EDBDED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943892"/>
              </p:ext>
            </p:extLst>
          </p:nvPr>
        </p:nvGraphicFramePr>
        <p:xfrm>
          <a:off x="3492500" y="5316538"/>
          <a:ext cx="609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4" name="Equation" r:id="rId20" imgW="304560" imgH="228600" progId="Equation.DSMT4">
                  <p:embed/>
                </p:oleObj>
              </mc:Choice>
              <mc:Fallback>
                <p:oleObj name="Equation" r:id="rId20" imgW="304560" imgH="228600" progId="Equation.DSMT4">
                  <p:embed/>
                  <p:pic>
                    <p:nvPicPr>
                      <p:cNvPr id="13" name="オブジェクト 12">
                        <a:extLst>
                          <a:ext uri="{FF2B5EF4-FFF2-40B4-BE49-F238E27FC236}">
                            <a16:creationId xmlns:a16="http://schemas.microsoft.com/office/drawing/2014/main" id="{AFFBA0D3-1186-441B-AB75-BD3797B9E4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492500" y="5316538"/>
                        <a:ext cx="6096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オブジェクト 18">
            <a:extLst>
              <a:ext uri="{FF2B5EF4-FFF2-40B4-BE49-F238E27FC236}">
                <a16:creationId xmlns:a16="http://schemas.microsoft.com/office/drawing/2014/main" id="{64701342-07F7-4A05-AF18-A3CD27DFA9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4780307"/>
              </p:ext>
            </p:extLst>
          </p:nvPr>
        </p:nvGraphicFramePr>
        <p:xfrm>
          <a:off x="4202113" y="5289550"/>
          <a:ext cx="13208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5" name="Equation" r:id="rId22" imgW="660240" imgH="253800" progId="Equation.DSMT4">
                  <p:embed/>
                </p:oleObj>
              </mc:Choice>
              <mc:Fallback>
                <p:oleObj name="Equation" r:id="rId22" imgW="660240" imgH="253800" progId="Equation.DSMT4">
                  <p:embed/>
                  <p:pic>
                    <p:nvPicPr>
                      <p:cNvPr id="14" name="オブジェクト 13">
                        <a:extLst>
                          <a:ext uri="{FF2B5EF4-FFF2-40B4-BE49-F238E27FC236}">
                            <a16:creationId xmlns:a16="http://schemas.microsoft.com/office/drawing/2014/main" id="{7B00DFA4-B55A-4CCC-9227-4A7E508B4F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202113" y="5289550"/>
                        <a:ext cx="1320800" cy="506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7BD1E72-5581-4E7A-884C-7EE1D9CF1E3C}"/>
              </a:ext>
            </a:extLst>
          </p:cNvPr>
          <p:cNvSpPr txBox="1"/>
          <p:nvPr/>
        </p:nvSpPr>
        <p:spPr>
          <a:xfrm>
            <a:off x="5522913" y="5338302"/>
            <a:ext cx="40975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: </a:t>
            </a:r>
            <a:r>
              <a:rPr kumimoji="1" lang="ja-JP" altLang="en-US" sz="2000" dirty="0"/>
              <a:t>枝分かれ先で結合次数が</a:t>
            </a:r>
            <a:r>
              <a:rPr kumimoji="1" lang="en-US" altLang="ja-JP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ja-JP" altLang="en-US" sz="2000" dirty="0"/>
              <a:t>まで</a:t>
            </a:r>
            <a:r>
              <a:rPr kumimoji="1" lang="en-US" altLang="ja-JP" sz="2000" dirty="0"/>
              <a:t>OK</a:t>
            </a:r>
            <a:endParaRPr kumimoji="1" lang="ja-JP" altLang="en-US" sz="2400" dirty="0"/>
          </a:p>
        </p:txBody>
      </p:sp>
      <p:graphicFrame>
        <p:nvGraphicFramePr>
          <p:cNvPr id="21" name="オブジェクト 20">
            <a:extLst>
              <a:ext uri="{FF2B5EF4-FFF2-40B4-BE49-F238E27FC236}">
                <a16:creationId xmlns:a16="http://schemas.microsoft.com/office/drawing/2014/main" id="{6C676AFD-5C3E-41C4-B294-44CA95337A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6175423"/>
              </p:ext>
            </p:extLst>
          </p:nvPr>
        </p:nvGraphicFramePr>
        <p:xfrm>
          <a:off x="3548853" y="5795963"/>
          <a:ext cx="30456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6" name="Equation" r:id="rId24" imgW="152280" imgH="203040" progId="Equation.DSMT4">
                  <p:embed/>
                </p:oleObj>
              </mc:Choice>
              <mc:Fallback>
                <p:oleObj name="Equation" r:id="rId24" imgW="152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548853" y="5795963"/>
                        <a:ext cx="304560" cy="406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F998528-58D7-45DE-9BF7-92C9DC3920B7}"/>
              </a:ext>
            </a:extLst>
          </p:cNvPr>
          <p:cNvSpPr txBox="1"/>
          <p:nvPr/>
        </p:nvSpPr>
        <p:spPr>
          <a:xfrm>
            <a:off x="3853413" y="5817370"/>
            <a:ext cx="71128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: </a:t>
            </a:r>
            <a:r>
              <a:rPr lang="ja-JP" altLang="en-US" sz="2000" dirty="0"/>
              <a:t>枝分かれ先の長さ</a:t>
            </a:r>
            <a:r>
              <a:rPr lang="en-US" altLang="ja-JP" sz="2000" dirty="0"/>
              <a:t>/</a:t>
            </a:r>
            <a:r>
              <a:rPr lang="ja-JP" altLang="en-US" sz="2000" dirty="0"/>
              <a:t>環の長さに相当する数を表すために使用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85746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3">
            <a:extLst>
              <a:ext uri="{FF2B5EF4-FFF2-40B4-BE49-F238E27FC236}">
                <a16:creationId xmlns:a16="http://schemas.microsoft.com/office/drawing/2014/main" id="{B107D615-9C83-47F4-A605-99A097DAF03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dirty="0"/>
              <a:t>SELFIES</a:t>
            </a:r>
            <a:endParaRPr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BFE47A1-9CFD-4F2D-83C7-289AE17B5CC2}"/>
              </a:ext>
            </a:extLst>
          </p:cNvPr>
          <p:cNvSpPr txBox="1"/>
          <p:nvPr/>
        </p:nvSpPr>
        <p:spPr>
          <a:xfrm>
            <a:off x="914399" y="179429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基本的な考え方</a:t>
            </a:r>
            <a:endParaRPr kumimoji="1" lang="ja-JP" altLang="en-US" sz="28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07CA0CA-A8CC-4AAF-A49C-E4E66FC3A40E}"/>
              </a:ext>
            </a:extLst>
          </p:cNvPr>
          <p:cNvSpPr txBox="1"/>
          <p:nvPr/>
        </p:nvSpPr>
        <p:spPr>
          <a:xfrm>
            <a:off x="1977585" y="2317515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文脈自由文法</a:t>
            </a:r>
            <a:endParaRPr kumimoji="1" lang="ja-JP" altLang="en-US" sz="2400" dirty="0"/>
          </a:p>
        </p:txBody>
      </p:sp>
      <p:graphicFrame>
        <p:nvGraphicFramePr>
          <p:cNvPr id="5" name="オブジェクト 4">
            <a:extLst>
              <a:ext uri="{FF2B5EF4-FFF2-40B4-BE49-F238E27FC236}">
                <a16:creationId xmlns:a16="http://schemas.microsoft.com/office/drawing/2014/main" id="{E4451122-93EA-4FBB-9AE9-E35233819C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7327142"/>
              </p:ext>
            </p:extLst>
          </p:nvPr>
        </p:nvGraphicFramePr>
        <p:xfrm>
          <a:off x="4089400" y="2317515"/>
          <a:ext cx="20066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0" name="Equation" r:id="rId3" imgW="1002960" imgH="253800" progId="Equation.DSMT4">
                  <p:embed/>
                </p:oleObj>
              </mc:Choice>
              <mc:Fallback>
                <p:oleObj name="Equation" r:id="rId3" imgW="1002960" imgH="253800" progId="Equation.DSMT4">
                  <p:embed/>
                  <p:pic>
                    <p:nvPicPr>
                      <p:cNvPr id="5" name="オブジェクト 4">
                        <a:extLst>
                          <a:ext uri="{FF2B5EF4-FFF2-40B4-BE49-F238E27FC236}">
                            <a16:creationId xmlns:a16="http://schemas.microsoft.com/office/drawing/2014/main" id="{B523AA59-ACDA-482F-8DF6-65499E37B3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89400" y="2317515"/>
                        <a:ext cx="2006600" cy="506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オブジェクト 5">
            <a:extLst>
              <a:ext uri="{FF2B5EF4-FFF2-40B4-BE49-F238E27FC236}">
                <a16:creationId xmlns:a16="http://schemas.microsoft.com/office/drawing/2014/main" id="{9D167192-654C-4EA8-8325-04556A3AFA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2064248"/>
              </p:ext>
            </p:extLst>
          </p:nvPr>
        </p:nvGraphicFramePr>
        <p:xfrm>
          <a:off x="5264150" y="2823927"/>
          <a:ext cx="279360" cy="27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1" name="Equation" r:id="rId5" imgW="139680" imgH="139680" progId="Equation.DSMT4">
                  <p:embed/>
                </p:oleObj>
              </mc:Choice>
              <mc:Fallback>
                <p:oleObj name="Equation" r:id="rId5" imgW="139680" imgH="139680" progId="Equation.DSMT4">
                  <p:embed/>
                  <p:pic>
                    <p:nvPicPr>
                      <p:cNvPr id="6" name="オブジェクト 5">
                        <a:extLst>
                          <a:ext uri="{FF2B5EF4-FFF2-40B4-BE49-F238E27FC236}">
                            <a16:creationId xmlns:a16="http://schemas.microsoft.com/office/drawing/2014/main" id="{C444C69A-91C1-4E49-9CEF-1A57A9EC9E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64150" y="2823927"/>
                        <a:ext cx="279360" cy="2793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F16063D-D0F2-48F1-9457-1CE8D047D461}"/>
              </a:ext>
            </a:extLst>
          </p:cNvPr>
          <p:cNvSpPr txBox="1"/>
          <p:nvPr/>
        </p:nvSpPr>
        <p:spPr>
          <a:xfrm>
            <a:off x="3512185" y="310040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分肢関数</a:t>
            </a:r>
            <a:endParaRPr kumimoji="1" lang="ja-JP" altLang="en-US" sz="2400" dirty="0"/>
          </a:p>
        </p:txBody>
      </p:sp>
      <p:graphicFrame>
        <p:nvGraphicFramePr>
          <p:cNvPr id="8" name="オブジェクト 7">
            <a:extLst>
              <a:ext uri="{FF2B5EF4-FFF2-40B4-BE49-F238E27FC236}">
                <a16:creationId xmlns:a16="http://schemas.microsoft.com/office/drawing/2014/main" id="{6A06A0B9-247B-4A68-9387-893EC6FF79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804071"/>
              </p:ext>
            </p:extLst>
          </p:nvPr>
        </p:nvGraphicFramePr>
        <p:xfrm>
          <a:off x="4845290" y="3145156"/>
          <a:ext cx="304560" cy="329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2" name="Equation" r:id="rId7" imgW="152280" imgH="164880" progId="Equation.DSMT4">
                  <p:embed/>
                </p:oleObj>
              </mc:Choice>
              <mc:Fallback>
                <p:oleObj name="Equation" r:id="rId7" imgW="152280" imgH="164880" progId="Equation.DSMT4">
                  <p:embed/>
                  <p:pic>
                    <p:nvPicPr>
                      <p:cNvPr id="8" name="オブジェクト 7">
                        <a:extLst>
                          <a:ext uri="{FF2B5EF4-FFF2-40B4-BE49-F238E27FC236}">
                            <a16:creationId xmlns:a16="http://schemas.microsoft.com/office/drawing/2014/main" id="{6F48D3FB-5FDD-4B20-8E55-327AAFD4F2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45290" y="3145156"/>
                        <a:ext cx="304560" cy="329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3C26843-C30E-40CE-A774-02E8CCB9F994}"/>
              </a:ext>
            </a:extLst>
          </p:cNvPr>
          <p:cNvSpPr txBox="1"/>
          <p:nvPr/>
        </p:nvSpPr>
        <p:spPr>
          <a:xfrm>
            <a:off x="5807355" y="3100409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環関数</a:t>
            </a:r>
            <a:endParaRPr kumimoji="1" lang="ja-JP" altLang="en-US" sz="2400" dirty="0"/>
          </a:p>
        </p:txBody>
      </p:sp>
      <p:graphicFrame>
        <p:nvGraphicFramePr>
          <p:cNvPr id="10" name="オブジェクト 9">
            <a:extLst>
              <a:ext uri="{FF2B5EF4-FFF2-40B4-BE49-F238E27FC236}">
                <a16:creationId xmlns:a16="http://schemas.microsoft.com/office/drawing/2014/main" id="{DB0D0621-6E5A-4578-9C30-54E9BCAB72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123268"/>
              </p:ext>
            </p:extLst>
          </p:nvPr>
        </p:nvGraphicFramePr>
        <p:xfrm>
          <a:off x="6911860" y="3145156"/>
          <a:ext cx="304560" cy="329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3" name="Equation" r:id="rId9" imgW="152280" imgH="164880" progId="Equation.DSMT4">
                  <p:embed/>
                </p:oleObj>
              </mc:Choice>
              <mc:Fallback>
                <p:oleObj name="Equation" r:id="rId9" imgW="152280" imgH="164880" progId="Equation.DSMT4">
                  <p:embed/>
                  <p:pic>
                    <p:nvPicPr>
                      <p:cNvPr id="10" name="オブジェクト 9">
                        <a:extLst>
                          <a:ext uri="{FF2B5EF4-FFF2-40B4-BE49-F238E27FC236}">
                            <a16:creationId xmlns:a16="http://schemas.microsoft.com/office/drawing/2014/main" id="{464A6F97-D9E3-4721-90A8-4A2330F835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911860" y="3145156"/>
                        <a:ext cx="304560" cy="329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7839260-7E30-4D2D-8B93-BA882AB5F455}"/>
              </a:ext>
            </a:extLst>
          </p:cNvPr>
          <p:cNvSpPr txBox="1"/>
          <p:nvPr/>
        </p:nvSpPr>
        <p:spPr>
          <a:xfrm>
            <a:off x="1977584" y="386927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終端記号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5007D60-89EB-43D1-9F74-C0AC8201D6F2}"/>
              </a:ext>
            </a:extLst>
          </p:cNvPr>
          <p:cNvSpPr txBox="1"/>
          <p:nvPr/>
        </p:nvSpPr>
        <p:spPr>
          <a:xfrm>
            <a:off x="3988435" y="386927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原子</a:t>
            </a:r>
          </a:p>
        </p:txBody>
      </p:sp>
      <p:graphicFrame>
        <p:nvGraphicFramePr>
          <p:cNvPr id="14" name="オブジェクト 13">
            <a:extLst>
              <a:ext uri="{FF2B5EF4-FFF2-40B4-BE49-F238E27FC236}">
                <a16:creationId xmlns:a16="http://schemas.microsoft.com/office/drawing/2014/main" id="{5E745AB6-78B5-49E7-8362-D178FCC8DF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9674076"/>
              </p:ext>
            </p:extLst>
          </p:nvPr>
        </p:nvGraphicFramePr>
        <p:xfrm>
          <a:off x="3326288" y="3947822"/>
          <a:ext cx="279360" cy="304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4" name="Equation" r:id="rId11" imgW="139680" imgH="152280" progId="Equation.DSMT4">
                  <p:embed/>
                </p:oleObj>
              </mc:Choice>
              <mc:Fallback>
                <p:oleObj name="Equation" r:id="rId11" imgW="13968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26288" y="3947822"/>
                        <a:ext cx="279360" cy="3045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A29CA2F-4428-464B-9475-866FD4D5C8CA}"/>
              </a:ext>
            </a:extLst>
          </p:cNvPr>
          <p:cNvSpPr txBox="1"/>
          <p:nvPr/>
        </p:nvSpPr>
        <p:spPr>
          <a:xfrm>
            <a:off x="4788654" y="386926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結合</a:t>
            </a:r>
            <a:endParaRPr kumimoji="1" lang="ja-JP" altLang="en-US" sz="24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CF4631B-6A08-40AD-9970-6F3DACBB9DE3}"/>
              </a:ext>
            </a:extLst>
          </p:cNvPr>
          <p:cNvSpPr txBox="1"/>
          <p:nvPr/>
        </p:nvSpPr>
        <p:spPr>
          <a:xfrm>
            <a:off x="3988435" y="437754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分枝関数</a:t>
            </a:r>
            <a:endParaRPr kumimoji="1" lang="ja-JP" altLang="en-US" sz="2400" dirty="0"/>
          </a:p>
        </p:txBody>
      </p:sp>
      <p:graphicFrame>
        <p:nvGraphicFramePr>
          <p:cNvPr id="17" name="オブジェクト 16">
            <a:extLst>
              <a:ext uri="{FF2B5EF4-FFF2-40B4-BE49-F238E27FC236}">
                <a16:creationId xmlns:a16="http://schemas.microsoft.com/office/drawing/2014/main" id="{5BD6C764-59BB-4239-AA6D-FFBD92ECAB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4961416"/>
              </p:ext>
            </p:extLst>
          </p:nvPr>
        </p:nvGraphicFramePr>
        <p:xfrm>
          <a:off x="5367338" y="4344988"/>
          <a:ext cx="14160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5" name="Equation" r:id="rId13" imgW="711000" imgH="253800" progId="Equation.DSMT4">
                  <p:embed/>
                </p:oleObj>
              </mc:Choice>
              <mc:Fallback>
                <p:oleObj name="Equation" r:id="rId13" imgW="711000" imgH="253800" progId="Equation.DSMT4">
                  <p:embed/>
                  <p:pic>
                    <p:nvPicPr>
                      <p:cNvPr id="8" name="オブジェクト 7">
                        <a:extLst>
                          <a:ext uri="{FF2B5EF4-FFF2-40B4-BE49-F238E27FC236}">
                            <a16:creationId xmlns:a16="http://schemas.microsoft.com/office/drawing/2014/main" id="{6A06A0B9-247B-4A68-9387-893EC6FF79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367338" y="4344988"/>
                        <a:ext cx="141605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オブジェクト 17">
            <a:extLst>
              <a:ext uri="{FF2B5EF4-FFF2-40B4-BE49-F238E27FC236}">
                <a16:creationId xmlns:a16="http://schemas.microsoft.com/office/drawing/2014/main" id="{6AE0843A-039A-4E01-9CF3-C79B0E63B9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224755"/>
              </p:ext>
            </p:extLst>
          </p:nvPr>
        </p:nvGraphicFramePr>
        <p:xfrm>
          <a:off x="6946785" y="4332797"/>
          <a:ext cx="13208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6" name="Equation" r:id="rId15" imgW="660240" imgH="253800" progId="Equation.DSMT4">
                  <p:embed/>
                </p:oleObj>
              </mc:Choice>
              <mc:Fallback>
                <p:oleObj name="Equation" r:id="rId15" imgW="660240" imgH="253800" progId="Equation.DSMT4">
                  <p:embed/>
                  <p:pic>
                    <p:nvPicPr>
                      <p:cNvPr id="19" name="オブジェクト 18">
                        <a:extLst>
                          <a:ext uri="{FF2B5EF4-FFF2-40B4-BE49-F238E27FC236}">
                            <a16:creationId xmlns:a16="http://schemas.microsoft.com/office/drawing/2014/main" id="{64701342-07F7-4A05-AF18-A3CD27DFA9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946785" y="4332797"/>
                        <a:ext cx="1320800" cy="506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5885AF9-13BC-4E3D-AF18-B10C27ECCD12}"/>
              </a:ext>
            </a:extLst>
          </p:cNvPr>
          <p:cNvSpPr txBox="1"/>
          <p:nvPr/>
        </p:nvSpPr>
        <p:spPr>
          <a:xfrm>
            <a:off x="4840600" y="4844885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枝分かれの際に使用</a:t>
            </a:r>
            <a:endParaRPr kumimoji="1" lang="ja-JP" altLang="en-US" sz="200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7068F84-0316-4CD6-A399-C21824B95E1D}"/>
              </a:ext>
            </a:extLst>
          </p:cNvPr>
          <p:cNvSpPr txBox="1"/>
          <p:nvPr/>
        </p:nvSpPr>
        <p:spPr>
          <a:xfrm>
            <a:off x="7502521" y="4852988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長さ</a:t>
            </a:r>
          </a:p>
        </p:txBody>
      </p:sp>
      <p:graphicFrame>
        <p:nvGraphicFramePr>
          <p:cNvPr id="21" name="オブジェクト 20">
            <a:extLst>
              <a:ext uri="{FF2B5EF4-FFF2-40B4-BE49-F238E27FC236}">
                <a16:creationId xmlns:a16="http://schemas.microsoft.com/office/drawing/2014/main" id="{8902B554-FB5D-452D-BB8A-3B8DDDE239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4482020"/>
              </p:ext>
            </p:extLst>
          </p:nvPr>
        </p:nvGraphicFramePr>
        <p:xfrm>
          <a:off x="8174321" y="4838595"/>
          <a:ext cx="685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7" name="Equation" r:id="rId17" imgW="342720" imgH="203040" progId="Equation.DSMT4">
                  <p:embed/>
                </p:oleObj>
              </mc:Choice>
              <mc:Fallback>
                <p:oleObj name="Equation" r:id="rId17" imgW="342720" imgH="203040" progId="Equation.DSMT4">
                  <p:embed/>
                  <p:pic>
                    <p:nvPicPr>
                      <p:cNvPr id="21" name="オブジェクト 20">
                        <a:extLst>
                          <a:ext uri="{FF2B5EF4-FFF2-40B4-BE49-F238E27FC236}">
                            <a16:creationId xmlns:a16="http://schemas.microsoft.com/office/drawing/2014/main" id="{6C676AFD-5C3E-41C4-B294-44CA95337A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174321" y="4838595"/>
                        <a:ext cx="685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685A0C3-030E-4D83-9DF9-BE6192A5CC91}"/>
              </a:ext>
            </a:extLst>
          </p:cNvPr>
          <p:cNvSpPr txBox="1"/>
          <p:nvPr/>
        </p:nvSpPr>
        <p:spPr>
          <a:xfrm>
            <a:off x="7502521" y="5244995"/>
            <a:ext cx="4031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枝分かれの最初の原子の結合次数</a:t>
            </a:r>
            <a:endParaRPr kumimoji="1" lang="ja-JP" altLang="en-US" sz="2000" dirty="0"/>
          </a:p>
        </p:txBody>
      </p:sp>
      <p:graphicFrame>
        <p:nvGraphicFramePr>
          <p:cNvPr id="23" name="オブジェクト 22">
            <a:extLst>
              <a:ext uri="{FF2B5EF4-FFF2-40B4-BE49-F238E27FC236}">
                <a16:creationId xmlns:a16="http://schemas.microsoft.com/office/drawing/2014/main" id="{4ED1B30A-8C1B-4715-A0A0-38A2623A8C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7791139"/>
              </p:ext>
            </p:extLst>
          </p:nvPr>
        </p:nvGraphicFramePr>
        <p:xfrm>
          <a:off x="11442563" y="5280025"/>
          <a:ext cx="177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8" name="Equation" r:id="rId19" imgW="88560" imgH="164880" progId="Equation.DSMT4">
                  <p:embed/>
                </p:oleObj>
              </mc:Choice>
              <mc:Fallback>
                <p:oleObj name="Equation" r:id="rId19" imgW="88560" imgH="164880" progId="Equation.DSMT4">
                  <p:embed/>
                  <p:pic>
                    <p:nvPicPr>
                      <p:cNvPr id="18" name="オブジェクト 17">
                        <a:extLst>
                          <a:ext uri="{FF2B5EF4-FFF2-40B4-BE49-F238E27FC236}">
                            <a16:creationId xmlns:a16="http://schemas.microsoft.com/office/drawing/2014/main" id="{AA3911E6-7391-43C5-8360-58F7EDBDED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442563" y="5280025"/>
                        <a:ext cx="1778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4260918-CDC5-40B0-826F-8B5235411700}"/>
              </a:ext>
            </a:extLst>
          </p:cNvPr>
          <p:cNvSpPr txBox="1"/>
          <p:nvPr/>
        </p:nvSpPr>
        <p:spPr>
          <a:xfrm>
            <a:off x="4008910" y="562116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環関数</a:t>
            </a:r>
            <a:endParaRPr kumimoji="1" lang="ja-JP" altLang="en-US" sz="2400" dirty="0"/>
          </a:p>
        </p:txBody>
      </p:sp>
      <p:graphicFrame>
        <p:nvGraphicFramePr>
          <p:cNvPr id="25" name="オブジェクト 24">
            <a:extLst>
              <a:ext uri="{FF2B5EF4-FFF2-40B4-BE49-F238E27FC236}">
                <a16:creationId xmlns:a16="http://schemas.microsoft.com/office/drawing/2014/main" id="{58D4A108-55E6-4DEA-AAAB-D8137AF266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2370473"/>
              </p:ext>
            </p:extLst>
          </p:nvPr>
        </p:nvGraphicFramePr>
        <p:xfrm>
          <a:off x="5080069" y="5596766"/>
          <a:ext cx="787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9" name="Equation" r:id="rId21" imgW="393480" imgH="253800" progId="Equation.DSMT4">
                  <p:embed/>
                </p:oleObj>
              </mc:Choice>
              <mc:Fallback>
                <p:oleObj name="Equation" r:id="rId21" imgW="393480" imgH="253800" progId="Equation.DSMT4">
                  <p:embed/>
                  <p:pic>
                    <p:nvPicPr>
                      <p:cNvPr id="10" name="オブジェクト 9">
                        <a:extLst>
                          <a:ext uri="{FF2B5EF4-FFF2-40B4-BE49-F238E27FC236}">
                            <a16:creationId xmlns:a16="http://schemas.microsoft.com/office/drawing/2014/main" id="{DB0D0621-6E5A-4578-9C30-54E9BCAB72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080069" y="5596766"/>
                        <a:ext cx="7874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EECA698-A2DD-4EDB-9426-B92BE19F1AA9}"/>
              </a:ext>
            </a:extLst>
          </p:cNvPr>
          <p:cNvSpPr txBox="1"/>
          <p:nvPr/>
        </p:nvSpPr>
        <p:spPr>
          <a:xfrm>
            <a:off x="4849505" y="6080823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環を閉じる際に使用</a:t>
            </a:r>
          </a:p>
        </p:txBody>
      </p:sp>
      <p:graphicFrame>
        <p:nvGraphicFramePr>
          <p:cNvPr id="27" name="オブジェクト 26">
            <a:extLst>
              <a:ext uri="{FF2B5EF4-FFF2-40B4-BE49-F238E27FC236}">
                <a16:creationId xmlns:a16="http://schemas.microsoft.com/office/drawing/2014/main" id="{9106BFB1-10C5-4472-82CB-14194AAA27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6114560"/>
              </p:ext>
            </p:extLst>
          </p:nvPr>
        </p:nvGraphicFramePr>
        <p:xfrm>
          <a:off x="7607185" y="6057049"/>
          <a:ext cx="6858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0" name="Equation" r:id="rId23" imgW="685523" imgH="403768" progId="Equation.DSMT4">
                  <p:embed/>
                </p:oleObj>
              </mc:Choice>
              <mc:Fallback>
                <p:oleObj name="Equation" r:id="rId23" imgW="685523" imgH="40376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607185" y="6057049"/>
                        <a:ext cx="6858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B11F911-6E44-4B66-8C6B-91AE652E8E8B}"/>
              </a:ext>
            </a:extLst>
          </p:cNvPr>
          <p:cNvSpPr txBox="1"/>
          <p:nvPr/>
        </p:nvSpPr>
        <p:spPr>
          <a:xfrm>
            <a:off x="8267585" y="6058606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個前の原子に結合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55997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3">
            <a:extLst>
              <a:ext uri="{FF2B5EF4-FFF2-40B4-BE49-F238E27FC236}">
                <a16:creationId xmlns:a16="http://schemas.microsoft.com/office/drawing/2014/main" id="{FA9766B1-EC79-4852-8ABF-A885A2E15D6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dirty="0"/>
              <a:t>SELFIES</a:t>
            </a:r>
            <a:endParaRPr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AB2CFD9-B6B2-49CE-AB10-AA087CDB8495}"/>
              </a:ext>
            </a:extLst>
          </p:cNvPr>
          <p:cNvSpPr txBox="1"/>
          <p:nvPr/>
        </p:nvSpPr>
        <p:spPr>
          <a:xfrm>
            <a:off x="914399" y="179429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生成規則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045B2B8-C071-4B43-985F-D227D0396BFC}"/>
              </a:ext>
            </a:extLst>
          </p:cNvPr>
          <p:cNvSpPr txBox="1"/>
          <p:nvPr/>
        </p:nvSpPr>
        <p:spPr>
          <a:xfrm>
            <a:off x="1977585" y="2317515"/>
            <a:ext cx="4589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1</a:t>
            </a:r>
            <a:r>
              <a:rPr lang="ja-JP" altLang="en-US" sz="2400" dirty="0"/>
              <a:t>つ</a:t>
            </a:r>
            <a:r>
              <a:rPr lang="en-US" altLang="ja-JP" sz="2400" dirty="0"/>
              <a:t>1</a:t>
            </a:r>
            <a:r>
              <a:rPr lang="ja-JP" altLang="en-US" sz="2400" dirty="0"/>
              <a:t>つのシンボルは</a:t>
            </a:r>
            <a:r>
              <a:rPr lang="en-US" altLang="ja-JP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ja-JP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・</a:t>
            </a:r>
            <a:r>
              <a:rPr lang="en-US" altLang="ja-JP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ja-JP" altLang="en-US" sz="2400" dirty="0"/>
              <a:t>で表現</a:t>
            </a:r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2C7E8D3-67EA-4299-967F-2247C0000633}"/>
              </a:ext>
            </a:extLst>
          </p:cNvPr>
          <p:cNvSpPr txBox="1"/>
          <p:nvPr/>
        </p:nvSpPr>
        <p:spPr>
          <a:xfrm>
            <a:off x="1977585" y="2779180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原子シンボル</a:t>
            </a:r>
            <a:endParaRPr lang="en-US" altLang="ja-JP" sz="2400" dirty="0"/>
          </a:p>
        </p:txBody>
      </p:sp>
      <p:graphicFrame>
        <p:nvGraphicFramePr>
          <p:cNvPr id="6" name="オブジェクト 5">
            <a:extLst>
              <a:ext uri="{FF2B5EF4-FFF2-40B4-BE49-F238E27FC236}">
                <a16:creationId xmlns:a16="http://schemas.microsoft.com/office/drawing/2014/main" id="{C117B4E4-3B61-4BFB-B1B3-3F9A800B11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5833333"/>
              </p:ext>
            </p:extLst>
          </p:nvPr>
        </p:nvGraphicFramePr>
        <p:xfrm>
          <a:off x="3551710" y="3196098"/>
          <a:ext cx="4572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1" name="Equation" r:id="rId3" imgW="228600" imgH="253800" progId="Equation.DSMT4">
                  <p:embed/>
                </p:oleObj>
              </mc:Choice>
              <mc:Fallback>
                <p:oleObj name="Equation" r:id="rId3" imgW="228600" imgH="253800" progId="Equation.DSMT4">
                  <p:embed/>
                  <p:pic>
                    <p:nvPicPr>
                      <p:cNvPr id="11" name="オブジェクト 10">
                        <a:extLst>
                          <a:ext uri="{FF2B5EF4-FFF2-40B4-BE49-F238E27FC236}">
                            <a16:creationId xmlns:a16="http://schemas.microsoft.com/office/drawing/2014/main" id="{C25DA1FE-E06F-4E57-B62D-D649BFA8C8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51710" y="3196098"/>
                        <a:ext cx="457200" cy="506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オブジェクト 6">
            <a:extLst>
              <a:ext uri="{FF2B5EF4-FFF2-40B4-BE49-F238E27FC236}">
                <a16:creationId xmlns:a16="http://schemas.microsoft.com/office/drawing/2014/main" id="{1A42B83F-3FA8-4541-81FB-D3689F6256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169822"/>
              </p:ext>
            </p:extLst>
          </p:nvPr>
        </p:nvGraphicFramePr>
        <p:xfrm>
          <a:off x="4272444" y="3175200"/>
          <a:ext cx="68544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2" name="Equation" r:id="rId5" imgW="342720" imgH="253800" progId="Equation.DSMT4">
                  <p:embed/>
                </p:oleObj>
              </mc:Choice>
              <mc:Fallback>
                <p:oleObj name="Equation" r:id="rId5" imgW="3427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72444" y="3175200"/>
                        <a:ext cx="68544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オブジェクト 7">
            <a:extLst>
              <a:ext uri="{FF2B5EF4-FFF2-40B4-BE49-F238E27FC236}">
                <a16:creationId xmlns:a16="http://schemas.microsoft.com/office/drawing/2014/main" id="{8DC3C723-E513-4E82-8F85-21B3896B9D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9398017"/>
              </p:ext>
            </p:extLst>
          </p:nvPr>
        </p:nvGraphicFramePr>
        <p:xfrm>
          <a:off x="5221418" y="3195504"/>
          <a:ext cx="63432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3" name="Equation" r:id="rId7" imgW="317160" imgH="253800" progId="Equation.DSMT4">
                  <p:embed/>
                </p:oleObj>
              </mc:Choice>
              <mc:Fallback>
                <p:oleObj name="Equation" r:id="rId7" imgW="3171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21418" y="3195504"/>
                        <a:ext cx="63432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03633DE-3161-4493-8B72-00DC2042A23D}"/>
              </a:ext>
            </a:extLst>
          </p:cNvPr>
          <p:cNvSpPr txBox="1"/>
          <p:nvPr/>
        </p:nvSpPr>
        <p:spPr>
          <a:xfrm>
            <a:off x="2721990" y="387194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一般形</a:t>
            </a:r>
            <a:endParaRPr lang="en-US" altLang="ja-JP" sz="2400" dirty="0"/>
          </a:p>
        </p:txBody>
      </p:sp>
      <p:graphicFrame>
        <p:nvGraphicFramePr>
          <p:cNvPr id="11" name="オブジェクト 10">
            <a:extLst>
              <a:ext uri="{FF2B5EF4-FFF2-40B4-BE49-F238E27FC236}">
                <a16:creationId xmlns:a16="http://schemas.microsoft.com/office/drawing/2014/main" id="{F724BFCD-A85E-44B5-9C8C-F4B1CB58D6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5388951"/>
              </p:ext>
            </p:extLst>
          </p:nvPr>
        </p:nvGraphicFramePr>
        <p:xfrm>
          <a:off x="3873150" y="3799460"/>
          <a:ext cx="1218960" cy="558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4" name="Equation" r:id="rId9" imgW="609480" imgH="279360" progId="Equation.DSMT4">
                  <p:embed/>
                </p:oleObj>
              </mc:Choice>
              <mc:Fallback>
                <p:oleObj name="Equation" r:id="rId9" imgW="6094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73150" y="3799460"/>
                        <a:ext cx="1218960" cy="5587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397C40F8-DB49-4517-9E2D-62B3A2E5B002}"/>
              </a:ext>
            </a:extLst>
          </p:cNvPr>
          <p:cNvCxnSpPr/>
          <p:nvPr/>
        </p:nvCxnSpPr>
        <p:spPr>
          <a:xfrm flipH="1">
            <a:off x="4008910" y="4333613"/>
            <a:ext cx="172565" cy="2669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8ABDA82-7029-4107-B56B-2F5387789D6D}"/>
              </a:ext>
            </a:extLst>
          </p:cNvPr>
          <p:cNvSpPr txBox="1"/>
          <p:nvPr/>
        </p:nvSpPr>
        <p:spPr>
          <a:xfrm>
            <a:off x="3430865" y="460057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結合</a:t>
            </a:r>
            <a:endParaRPr kumimoji="1" lang="ja-JP" altLang="en-US" sz="2000" dirty="0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2E426BDC-1AB1-4A37-84E9-8191717C913C}"/>
              </a:ext>
            </a:extLst>
          </p:cNvPr>
          <p:cNvCxnSpPr>
            <a:cxnSpLocks/>
          </p:cNvCxnSpPr>
          <p:nvPr/>
        </p:nvCxnSpPr>
        <p:spPr>
          <a:xfrm>
            <a:off x="4670093" y="4333613"/>
            <a:ext cx="172800" cy="2669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87E6AE7-9427-4C9A-AF88-8C213802910D}"/>
              </a:ext>
            </a:extLst>
          </p:cNvPr>
          <p:cNvSpPr txBox="1"/>
          <p:nvPr/>
        </p:nvSpPr>
        <p:spPr>
          <a:xfrm>
            <a:off x="4706537" y="4600575"/>
            <a:ext cx="15905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原子</a:t>
            </a:r>
            <a:r>
              <a:rPr kumimoji="1" lang="en-US" altLang="ja-JP" sz="2000" dirty="0"/>
              <a:t>/</a:t>
            </a:r>
            <a:r>
              <a:rPr kumimoji="1" lang="ja-JP" altLang="en-US" sz="2000" dirty="0"/>
              <a:t>イオン</a:t>
            </a:r>
          </a:p>
        </p:txBody>
      </p:sp>
      <p:graphicFrame>
        <p:nvGraphicFramePr>
          <p:cNvPr id="18" name="オブジェクト 17">
            <a:extLst>
              <a:ext uri="{FF2B5EF4-FFF2-40B4-BE49-F238E27FC236}">
                <a16:creationId xmlns:a16="http://schemas.microsoft.com/office/drawing/2014/main" id="{237ACB41-2092-49E7-B7E8-6A42C1236C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67482"/>
              </p:ext>
            </p:extLst>
          </p:nvPr>
        </p:nvGraphicFramePr>
        <p:xfrm>
          <a:off x="3375413" y="5033065"/>
          <a:ext cx="32512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5" name="Equation" r:id="rId11" imgW="1625400" imgH="507960" progId="Equation.DSMT4">
                  <p:embed/>
                </p:oleObj>
              </mc:Choice>
              <mc:Fallback>
                <p:oleObj name="Equation" r:id="rId11" imgW="1625400" imgH="507960" progId="Equation.DSMT4">
                  <p:embed/>
                  <p:pic>
                    <p:nvPicPr>
                      <p:cNvPr id="13" name="オブジェクト 12">
                        <a:extLst>
                          <a:ext uri="{FF2B5EF4-FFF2-40B4-BE49-F238E27FC236}">
                            <a16:creationId xmlns:a16="http://schemas.microsoft.com/office/drawing/2014/main" id="{AFFBA0D3-1186-441B-AB75-BD3797B9E4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75413" y="5033065"/>
                        <a:ext cx="3251200" cy="101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97E9BD8-B3DF-4EB0-A725-82EE08BE8DCF}"/>
              </a:ext>
            </a:extLst>
          </p:cNvPr>
          <p:cNvCxnSpPr>
            <a:cxnSpLocks/>
          </p:cNvCxnSpPr>
          <p:nvPr/>
        </p:nvCxnSpPr>
        <p:spPr>
          <a:xfrm flipH="1">
            <a:off x="5324475" y="5966514"/>
            <a:ext cx="158262" cy="2056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F4A81CC-A687-47E3-A206-3204A87F58B4}"/>
              </a:ext>
            </a:extLst>
          </p:cNvPr>
          <p:cNvSpPr txBox="1"/>
          <p:nvPr/>
        </p:nvSpPr>
        <p:spPr>
          <a:xfrm>
            <a:off x="4193018" y="611201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の原子価</a:t>
            </a:r>
          </a:p>
        </p:txBody>
      </p:sp>
      <p:graphicFrame>
        <p:nvGraphicFramePr>
          <p:cNvPr id="23" name="オブジェクト 22">
            <a:extLst>
              <a:ext uri="{FF2B5EF4-FFF2-40B4-BE49-F238E27FC236}">
                <a16:creationId xmlns:a16="http://schemas.microsoft.com/office/drawing/2014/main" id="{5E77B410-AD85-43E3-906F-5D80A70EBF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880123"/>
              </p:ext>
            </p:extLst>
          </p:nvPr>
        </p:nvGraphicFramePr>
        <p:xfrm>
          <a:off x="3755110" y="6027037"/>
          <a:ext cx="50760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6" name="Equation" r:id="rId13" imgW="253800" imgH="253800" progId="Equation.DSMT4">
                  <p:embed/>
                </p:oleObj>
              </mc:Choice>
              <mc:Fallback>
                <p:oleObj name="Equation" r:id="rId13" imgW="2538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55110" y="6027037"/>
                        <a:ext cx="50760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5ED244EB-0939-4F75-8901-29C3CE89E9ED}"/>
              </a:ext>
            </a:extLst>
          </p:cNvPr>
          <p:cNvCxnSpPr/>
          <p:nvPr/>
        </p:nvCxnSpPr>
        <p:spPr>
          <a:xfrm>
            <a:off x="6096000" y="5966514"/>
            <a:ext cx="133350" cy="3455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EC2EEBC-6A58-4DA2-ABA5-A6211D04E04B}"/>
              </a:ext>
            </a:extLst>
          </p:cNvPr>
          <p:cNvSpPr txBox="1"/>
          <p:nvPr/>
        </p:nvSpPr>
        <p:spPr>
          <a:xfrm>
            <a:off x="6683535" y="6372595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の</a:t>
            </a:r>
            <a:r>
              <a:rPr lang="ja-JP" altLang="en-US" sz="2000" dirty="0"/>
              <a:t>結合次数</a:t>
            </a:r>
            <a:endParaRPr kumimoji="1" lang="ja-JP" altLang="en-US" sz="2000" dirty="0"/>
          </a:p>
        </p:txBody>
      </p:sp>
      <p:graphicFrame>
        <p:nvGraphicFramePr>
          <p:cNvPr id="29" name="オブジェクト 28">
            <a:extLst>
              <a:ext uri="{FF2B5EF4-FFF2-40B4-BE49-F238E27FC236}">
                <a16:creationId xmlns:a16="http://schemas.microsoft.com/office/drawing/2014/main" id="{7072AFFC-358A-49EE-A4F4-AE7D9CFE7E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3026882"/>
              </p:ext>
            </p:extLst>
          </p:nvPr>
        </p:nvGraphicFramePr>
        <p:xfrm>
          <a:off x="6257925" y="6288088"/>
          <a:ext cx="4826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7" name="Equation" r:id="rId15" imgW="241200" imgH="253800" progId="Equation.DSMT4">
                  <p:embed/>
                </p:oleObj>
              </mc:Choice>
              <mc:Fallback>
                <p:oleObj name="Equation" r:id="rId15" imgW="241200" imgH="253800" progId="Equation.DSMT4">
                  <p:embed/>
                  <p:pic>
                    <p:nvPicPr>
                      <p:cNvPr id="23" name="オブジェクト 22">
                        <a:extLst>
                          <a:ext uri="{FF2B5EF4-FFF2-40B4-BE49-F238E27FC236}">
                            <a16:creationId xmlns:a16="http://schemas.microsoft.com/office/drawing/2014/main" id="{5E77B410-AD85-43E3-906F-5D80A70EBF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257925" y="6288088"/>
                        <a:ext cx="482600" cy="506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オブジェクト 29">
            <a:extLst>
              <a:ext uri="{FF2B5EF4-FFF2-40B4-BE49-F238E27FC236}">
                <a16:creationId xmlns:a16="http://schemas.microsoft.com/office/drawing/2014/main" id="{209052B4-21F2-497D-B9C9-743A3046BB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1730495"/>
              </p:ext>
            </p:extLst>
          </p:nvPr>
        </p:nvGraphicFramePr>
        <p:xfrm>
          <a:off x="6740525" y="5033065"/>
          <a:ext cx="2082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8" name="Equation" r:id="rId17" imgW="1041120" imgH="253800" progId="Equation.DSMT4">
                  <p:embed/>
                </p:oleObj>
              </mc:Choice>
              <mc:Fallback>
                <p:oleObj name="Equation" r:id="rId17" imgW="1041120" imgH="253800" progId="Equation.DSMT4">
                  <p:embed/>
                  <p:pic>
                    <p:nvPicPr>
                      <p:cNvPr id="21" name="オブジェクト 20">
                        <a:extLst>
                          <a:ext uri="{FF2B5EF4-FFF2-40B4-BE49-F238E27FC236}">
                            <a16:creationId xmlns:a16="http://schemas.microsoft.com/office/drawing/2014/main" id="{8902B554-FB5D-452D-BB8A-3B8DDDE239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740525" y="5033065"/>
                        <a:ext cx="20828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オブジェクト 30">
            <a:extLst>
              <a:ext uri="{FF2B5EF4-FFF2-40B4-BE49-F238E27FC236}">
                <a16:creationId xmlns:a16="http://schemas.microsoft.com/office/drawing/2014/main" id="{2E5AFA17-A7B8-4C79-80F7-DE9E6288A9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3418597"/>
              </p:ext>
            </p:extLst>
          </p:nvPr>
        </p:nvGraphicFramePr>
        <p:xfrm>
          <a:off x="6740525" y="5541465"/>
          <a:ext cx="210816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9" name="Equation" r:id="rId19" imgW="1054080" imgH="253800" progId="Equation.DSMT4">
                  <p:embed/>
                </p:oleObj>
              </mc:Choice>
              <mc:Fallback>
                <p:oleObj name="Equation" r:id="rId19" imgW="10540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740525" y="5541465"/>
                        <a:ext cx="210816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オブジェクト 31">
            <a:extLst>
              <a:ext uri="{FF2B5EF4-FFF2-40B4-BE49-F238E27FC236}">
                <a16:creationId xmlns:a16="http://schemas.microsoft.com/office/drawing/2014/main" id="{3075D2A8-2974-4813-92DB-F806D55F24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2848185"/>
              </p:ext>
            </p:extLst>
          </p:nvPr>
        </p:nvGraphicFramePr>
        <p:xfrm>
          <a:off x="9186175" y="5287065"/>
          <a:ext cx="126936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0" name="Equation" r:id="rId21" imgW="634680" imgH="253800" progId="Equation.DSMT4">
                  <p:embed/>
                </p:oleObj>
              </mc:Choice>
              <mc:Fallback>
                <p:oleObj name="Equation" r:id="rId21" imgW="6346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186175" y="5287065"/>
                        <a:ext cx="126936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D0767589-9413-4117-8191-25A7E764819A}"/>
              </a:ext>
            </a:extLst>
          </p:cNvPr>
          <p:cNvSpPr txBox="1"/>
          <p:nvPr/>
        </p:nvSpPr>
        <p:spPr>
          <a:xfrm>
            <a:off x="10362672" y="5340810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重結合の追加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71025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3">
            <a:extLst>
              <a:ext uri="{FF2B5EF4-FFF2-40B4-BE49-F238E27FC236}">
                <a16:creationId xmlns:a16="http://schemas.microsoft.com/office/drawing/2014/main" id="{8B9390D0-0B69-4FF0-B7CE-AB27E7E203E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dirty="0"/>
              <a:t>SELFIES</a:t>
            </a:r>
            <a:endParaRPr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58C7474-3B0D-45A9-8B24-AC415135C780}"/>
              </a:ext>
            </a:extLst>
          </p:cNvPr>
          <p:cNvSpPr txBox="1"/>
          <p:nvPr/>
        </p:nvSpPr>
        <p:spPr>
          <a:xfrm>
            <a:off x="914399" y="179429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生成規則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8E5077E-D916-4E76-81A2-231ED3258C23}"/>
              </a:ext>
            </a:extLst>
          </p:cNvPr>
          <p:cNvSpPr txBox="1"/>
          <p:nvPr/>
        </p:nvSpPr>
        <p:spPr>
          <a:xfrm>
            <a:off x="1977585" y="2379130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原子シンボルに関する生成規則</a:t>
            </a:r>
            <a:endParaRPr lang="en-US" altLang="ja-JP" sz="2400" dirty="0"/>
          </a:p>
        </p:txBody>
      </p:sp>
      <p:graphicFrame>
        <p:nvGraphicFramePr>
          <p:cNvPr id="5" name="オブジェクト 4">
            <a:extLst>
              <a:ext uri="{FF2B5EF4-FFF2-40B4-BE49-F238E27FC236}">
                <a16:creationId xmlns:a16="http://schemas.microsoft.com/office/drawing/2014/main" id="{AF19A80D-8F92-489F-90E8-1C34CBCD1B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3733991"/>
              </p:ext>
            </p:extLst>
          </p:nvPr>
        </p:nvGraphicFramePr>
        <p:xfrm>
          <a:off x="3365888" y="2921000"/>
          <a:ext cx="32512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2" name="Equation" r:id="rId3" imgW="1625400" imgH="507960" progId="Equation.DSMT4">
                  <p:embed/>
                </p:oleObj>
              </mc:Choice>
              <mc:Fallback>
                <p:oleObj name="Equation" r:id="rId3" imgW="1625400" imgH="507960" progId="Equation.DSMT4">
                  <p:embed/>
                  <p:pic>
                    <p:nvPicPr>
                      <p:cNvPr id="18" name="オブジェクト 17">
                        <a:extLst>
                          <a:ext uri="{FF2B5EF4-FFF2-40B4-BE49-F238E27FC236}">
                            <a16:creationId xmlns:a16="http://schemas.microsoft.com/office/drawing/2014/main" id="{237ACB41-2092-49E7-B7E8-6A42C1236C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65888" y="2921000"/>
                        <a:ext cx="3251200" cy="101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オブジェクト 5">
            <a:extLst>
              <a:ext uri="{FF2B5EF4-FFF2-40B4-BE49-F238E27FC236}">
                <a16:creationId xmlns:a16="http://schemas.microsoft.com/office/drawing/2014/main" id="{91F7DDD3-98BE-42BA-B508-57338CAA12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9819627"/>
              </p:ext>
            </p:extLst>
          </p:nvPr>
        </p:nvGraphicFramePr>
        <p:xfrm>
          <a:off x="6731000" y="2921000"/>
          <a:ext cx="2082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3" name="Equation" r:id="rId5" imgW="1041120" imgH="253800" progId="Equation.DSMT4">
                  <p:embed/>
                </p:oleObj>
              </mc:Choice>
              <mc:Fallback>
                <p:oleObj name="Equation" r:id="rId5" imgW="1041120" imgH="253800" progId="Equation.DSMT4">
                  <p:embed/>
                  <p:pic>
                    <p:nvPicPr>
                      <p:cNvPr id="30" name="オブジェクト 29">
                        <a:extLst>
                          <a:ext uri="{FF2B5EF4-FFF2-40B4-BE49-F238E27FC236}">
                            <a16:creationId xmlns:a16="http://schemas.microsoft.com/office/drawing/2014/main" id="{209052B4-21F2-497D-B9C9-743A3046BB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31000" y="2921000"/>
                        <a:ext cx="20828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オブジェクト 6">
            <a:extLst>
              <a:ext uri="{FF2B5EF4-FFF2-40B4-BE49-F238E27FC236}">
                <a16:creationId xmlns:a16="http://schemas.microsoft.com/office/drawing/2014/main" id="{31F1C635-2826-4CE9-89A9-540DEA4421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8632008"/>
              </p:ext>
            </p:extLst>
          </p:nvPr>
        </p:nvGraphicFramePr>
        <p:xfrm>
          <a:off x="6731000" y="3429400"/>
          <a:ext cx="210816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4" name="Equation" r:id="rId7" imgW="1054080" imgH="253800" progId="Equation.DSMT4">
                  <p:embed/>
                </p:oleObj>
              </mc:Choice>
              <mc:Fallback>
                <p:oleObj name="Equation" r:id="rId7" imgW="1054080" imgH="253800" progId="Equation.DSMT4">
                  <p:embed/>
                  <p:pic>
                    <p:nvPicPr>
                      <p:cNvPr id="31" name="オブジェクト 30">
                        <a:extLst>
                          <a:ext uri="{FF2B5EF4-FFF2-40B4-BE49-F238E27FC236}">
                            <a16:creationId xmlns:a16="http://schemas.microsoft.com/office/drawing/2014/main" id="{2E5AFA17-A7B8-4C79-80F7-DE9E6288A9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31000" y="3429400"/>
                        <a:ext cx="210816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45396C0-D60E-41C8-97C9-A11A158287D1}"/>
              </a:ext>
            </a:extLst>
          </p:cNvPr>
          <p:cNvSpPr txBox="1"/>
          <p:nvPr/>
        </p:nvSpPr>
        <p:spPr>
          <a:xfrm>
            <a:off x="2712465" y="4047952"/>
            <a:ext cx="675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ex. </a:t>
            </a:r>
          </a:p>
        </p:txBody>
      </p:sp>
      <p:graphicFrame>
        <p:nvGraphicFramePr>
          <p:cNvPr id="9" name="オブジェクト 8">
            <a:extLst>
              <a:ext uri="{FF2B5EF4-FFF2-40B4-BE49-F238E27FC236}">
                <a16:creationId xmlns:a16="http://schemas.microsoft.com/office/drawing/2014/main" id="{2D906C56-4F20-455E-980D-40315B57FE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934539"/>
              </p:ext>
            </p:extLst>
          </p:nvPr>
        </p:nvGraphicFramePr>
        <p:xfrm>
          <a:off x="3551722" y="4026451"/>
          <a:ext cx="22860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5" name="Equation" r:id="rId9" imgW="1143000" imgH="253800" progId="Equation.DSMT4">
                  <p:embed/>
                </p:oleObj>
              </mc:Choice>
              <mc:Fallback>
                <p:oleObj name="Equation" r:id="rId9" imgW="1143000" imgH="253800" progId="Equation.DSMT4">
                  <p:embed/>
                  <p:pic>
                    <p:nvPicPr>
                      <p:cNvPr id="6" name="オブジェクト 5">
                        <a:extLst>
                          <a:ext uri="{FF2B5EF4-FFF2-40B4-BE49-F238E27FC236}">
                            <a16:creationId xmlns:a16="http://schemas.microsoft.com/office/drawing/2014/main" id="{C117B4E4-3B61-4BFB-B1B3-3F9A800B11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51722" y="4026451"/>
                        <a:ext cx="2286000" cy="506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オブジェクト 9">
            <a:extLst>
              <a:ext uri="{FF2B5EF4-FFF2-40B4-BE49-F238E27FC236}">
                <a16:creationId xmlns:a16="http://schemas.microsoft.com/office/drawing/2014/main" id="{8A4A6985-76D9-479A-A0DC-2BD076309D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603798"/>
              </p:ext>
            </p:extLst>
          </p:nvPr>
        </p:nvGraphicFramePr>
        <p:xfrm>
          <a:off x="3365888" y="4596362"/>
          <a:ext cx="1320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6" name="Equation" r:id="rId11" imgW="660240" imgH="228600" progId="Equation.DSMT4">
                  <p:embed/>
                </p:oleObj>
              </mc:Choice>
              <mc:Fallback>
                <p:oleObj name="Equation" r:id="rId11" imgW="660240" imgH="228600" progId="Equation.DSMT4">
                  <p:embed/>
                  <p:pic>
                    <p:nvPicPr>
                      <p:cNvPr id="15" name="オブジェクト 14">
                        <a:extLst>
                          <a:ext uri="{FF2B5EF4-FFF2-40B4-BE49-F238E27FC236}">
                            <a16:creationId xmlns:a16="http://schemas.microsoft.com/office/drawing/2014/main" id="{E5132BCA-8E0D-4BD0-820D-D7281A52A8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65888" y="4596362"/>
                        <a:ext cx="13208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A74D059-C668-4C9D-A712-4CA3D5C8D2E0}"/>
              </a:ext>
            </a:extLst>
          </p:cNvPr>
          <p:cNvSpPr txBox="1"/>
          <p:nvPr/>
        </p:nvSpPr>
        <p:spPr>
          <a:xfrm>
            <a:off x="7522626" y="224437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の原子価</a:t>
            </a:r>
          </a:p>
        </p:txBody>
      </p:sp>
      <p:graphicFrame>
        <p:nvGraphicFramePr>
          <p:cNvPr id="12" name="オブジェクト 11">
            <a:extLst>
              <a:ext uri="{FF2B5EF4-FFF2-40B4-BE49-F238E27FC236}">
                <a16:creationId xmlns:a16="http://schemas.microsoft.com/office/drawing/2014/main" id="{BC00ABCF-5D20-4F9C-9D16-B8EA979B48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3015409"/>
              </p:ext>
            </p:extLst>
          </p:nvPr>
        </p:nvGraphicFramePr>
        <p:xfrm>
          <a:off x="7084718" y="2159400"/>
          <a:ext cx="50760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7" name="Equation" r:id="rId13" imgW="253800" imgH="253800" progId="Equation.DSMT4">
                  <p:embed/>
                </p:oleObj>
              </mc:Choice>
              <mc:Fallback>
                <p:oleObj name="Equation" r:id="rId13" imgW="253800" imgH="253800" progId="Equation.DSMT4">
                  <p:embed/>
                  <p:pic>
                    <p:nvPicPr>
                      <p:cNvPr id="23" name="オブジェクト 22">
                        <a:extLst>
                          <a:ext uri="{FF2B5EF4-FFF2-40B4-BE49-F238E27FC236}">
                            <a16:creationId xmlns:a16="http://schemas.microsoft.com/office/drawing/2014/main" id="{5E77B410-AD85-43E3-906F-5D80A70EBF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084718" y="2159400"/>
                        <a:ext cx="50760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9CD48D80-B4CB-4341-97CE-00880E4D0ED8}"/>
              </a:ext>
            </a:extLst>
          </p:cNvPr>
          <p:cNvCxnSpPr/>
          <p:nvPr/>
        </p:nvCxnSpPr>
        <p:spPr>
          <a:xfrm flipV="1">
            <a:off x="6957391" y="2667000"/>
            <a:ext cx="248479" cy="3346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7FF9DA4-126C-4A06-8CEA-1E42B9A1A4AF}"/>
              </a:ext>
            </a:extLst>
          </p:cNvPr>
          <p:cNvCxnSpPr>
            <a:cxnSpLocks/>
          </p:cNvCxnSpPr>
          <p:nvPr/>
        </p:nvCxnSpPr>
        <p:spPr>
          <a:xfrm flipH="1" flipV="1">
            <a:off x="8061088" y="3834019"/>
            <a:ext cx="104300" cy="2655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EFCB8AC-0669-45A9-AF6B-8F6F17A22269}"/>
              </a:ext>
            </a:extLst>
          </p:cNvPr>
          <p:cNvSpPr txBox="1"/>
          <p:nvPr/>
        </p:nvSpPr>
        <p:spPr>
          <a:xfrm>
            <a:off x="8546786" y="4174457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の</a:t>
            </a:r>
            <a:r>
              <a:rPr lang="ja-JP" altLang="en-US" sz="2000" dirty="0"/>
              <a:t>結合次数</a:t>
            </a:r>
            <a:endParaRPr kumimoji="1" lang="ja-JP" altLang="en-US" sz="2000" dirty="0"/>
          </a:p>
        </p:txBody>
      </p:sp>
      <p:graphicFrame>
        <p:nvGraphicFramePr>
          <p:cNvPr id="18" name="オブジェクト 17">
            <a:extLst>
              <a:ext uri="{FF2B5EF4-FFF2-40B4-BE49-F238E27FC236}">
                <a16:creationId xmlns:a16="http://schemas.microsoft.com/office/drawing/2014/main" id="{254F2EEE-8E59-423D-9729-89CCABB828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7912284"/>
              </p:ext>
            </p:extLst>
          </p:nvPr>
        </p:nvGraphicFramePr>
        <p:xfrm>
          <a:off x="8121176" y="4089950"/>
          <a:ext cx="4826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8" name="Equation" r:id="rId15" imgW="241200" imgH="253800" progId="Equation.DSMT4">
                  <p:embed/>
                </p:oleObj>
              </mc:Choice>
              <mc:Fallback>
                <p:oleObj name="Equation" r:id="rId15" imgW="241200" imgH="253800" progId="Equation.DSMT4">
                  <p:embed/>
                  <p:pic>
                    <p:nvPicPr>
                      <p:cNvPr id="29" name="オブジェクト 28">
                        <a:extLst>
                          <a:ext uri="{FF2B5EF4-FFF2-40B4-BE49-F238E27FC236}">
                            <a16:creationId xmlns:a16="http://schemas.microsoft.com/office/drawing/2014/main" id="{7072AFFC-358A-49EE-A4F4-AE7D9CFE7E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121176" y="4089950"/>
                        <a:ext cx="482600" cy="506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オブジェクト 18">
            <a:extLst>
              <a:ext uri="{FF2B5EF4-FFF2-40B4-BE49-F238E27FC236}">
                <a16:creationId xmlns:a16="http://schemas.microsoft.com/office/drawing/2014/main" id="{40613039-C6B2-457A-9DD7-4CDCEC55AF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4394294"/>
              </p:ext>
            </p:extLst>
          </p:nvPr>
        </p:nvGraphicFramePr>
        <p:xfrm>
          <a:off x="6564312" y="4575175"/>
          <a:ext cx="2159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9" name="Equation" r:id="rId17" imgW="1079280" imgH="253800" progId="Equation.DSMT4">
                  <p:embed/>
                </p:oleObj>
              </mc:Choice>
              <mc:Fallback>
                <p:oleObj name="Equation" r:id="rId17" imgW="1079280" imgH="253800" progId="Equation.DSMT4">
                  <p:embed/>
                  <p:pic>
                    <p:nvPicPr>
                      <p:cNvPr id="30" name="オブジェクト 29">
                        <a:extLst>
                          <a:ext uri="{FF2B5EF4-FFF2-40B4-BE49-F238E27FC236}">
                            <a16:creationId xmlns:a16="http://schemas.microsoft.com/office/drawing/2014/main" id="{209052B4-21F2-497D-B9C9-743A3046BB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564312" y="4575175"/>
                        <a:ext cx="21590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オブジェクト 19">
            <a:extLst>
              <a:ext uri="{FF2B5EF4-FFF2-40B4-BE49-F238E27FC236}">
                <a16:creationId xmlns:a16="http://schemas.microsoft.com/office/drawing/2014/main" id="{25BA1F4C-6175-47EE-AB6A-FCFC4E5D3A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8101748"/>
              </p:ext>
            </p:extLst>
          </p:nvPr>
        </p:nvGraphicFramePr>
        <p:xfrm>
          <a:off x="3805376" y="5091038"/>
          <a:ext cx="109152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0" name="Equation" r:id="rId19" imgW="545760" imgH="228600" progId="Equation.DSMT4">
                  <p:embed/>
                </p:oleObj>
              </mc:Choice>
              <mc:Fallback>
                <p:oleObj name="Equation" r:id="rId19" imgW="545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805376" y="5091038"/>
                        <a:ext cx="109152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オブジェクト 20">
            <a:extLst>
              <a:ext uri="{FF2B5EF4-FFF2-40B4-BE49-F238E27FC236}">
                <a16:creationId xmlns:a16="http://schemas.microsoft.com/office/drawing/2014/main" id="{1858618F-28F0-4742-9EED-DAFDDF328B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3481237"/>
              </p:ext>
            </p:extLst>
          </p:nvPr>
        </p:nvGraphicFramePr>
        <p:xfrm>
          <a:off x="6558170" y="5053013"/>
          <a:ext cx="2209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1" name="Equation" r:id="rId21" imgW="1104840" imgH="253800" progId="Equation.DSMT4">
                  <p:embed/>
                </p:oleObj>
              </mc:Choice>
              <mc:Fallback>
                <p:oleObj name="Equation" r:id="rId21" imgW="11048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558170" y="5053013"/>
                        <a:ext cx="22098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オブジェクト 21">
            <a:extLst>
              <a:ext uri="{FF2B5EF4-FFF2-40B4-BE49-F238E27FC236}">
                <a16:creationId xmlns:a16="http://schemas.microsoft.com/office/drawing/2014/main" id="{CA22BBCC-A335-45CE-AC4D-079893BD76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3560027"/>
              </p:ext>
            </p:extLst>
          </p:nvPr>
        </p:nvGraphicFramePr>
        <p:xfrm>
          <a:off x="3803650" y="5581650"/>
          <a:ext cx="15732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2" name="Equation" r:id="rId23" imgW="787320" imgH="228600" progId="Equation.DSMT4">
                  <p:embed/>
                </p:oleObj>
              </mc:Choice>
              <mc:Fallback>
                <p:oleObj name="Equation" r:id="rId23" imgW="787320" imgH="228600" progId="Equation.DSMT4">
                  <p:embed/>
                  <p:pic>
                    <p:nvPicPr>
                      <p:cNvPr id="20" name="オブジェクト 19">
                        <a:extLst>
                          <a:ext uri="{FF2B5EF4-FFF2-40B4-BE49-F238E27FC236}">
                            <a16:creationId xmlns:a16="http://schemas.microsoft.com/office/drawing/2014/main" id="{25BA1F4C-6175-47EE-AB6A-FCFC4E5D3A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803650" y="5581650"/>
                        <a:ext cx="1573213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オブジェクト 22">
            <a:extLst>
              <a:ext uri="{FF2B5EF4-FFF2-40B4-BE49-F238E27FC236}">
                <a16:creationId xmlns:a16="http://schemas.microsoft.com/office/drawing/2014/main" id="{892650D0-AB2B-44E6-B89D-75366B7705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245838"/>
              </p:ext>
            </p:extLst>
          </p:nvPr>
        </p:nvGraphicFramePr>
        <p:xfrm>
          <a:off x="6556375" y="5543550"/>
          <a:ext cx="2235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3" name="Equation" r:id="rId25" imgW="1117440" imgH="253800" progId="Equation.DSMT4">
                  <p:embed/>
                </p:oleObj>
              </mc:Choice>
              <mc:Fallback>
                <p:oleObj name="Equation" r:id="rId25" imgW="1117440" imgH="253800" progId="Equation.DSMT4">
                  <p:embed/>
                  <p:pic>
                    <p:nvPicPr>
                      <p:cNvPr id="21" name="オブジェクト 20">
                        <a:extLst>
                          <a:ext uri="{FF2B5EF4-FFF2-40B4-BE49-F238E27FC236}">
                            <a16:creationId xmlns:a16="http://schemas.microsoft.com/office/drawing/2014/main" id="{1858618F-28F0-4742-9EED-DAFDDF328B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556375" y="5543550"/>
                        <a:ext cx="22352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オブジェクト 23">
            <a:extLst>
              <a:ext uri="{FF2B5EF4-FFF2-40B4-BE49-F238E27FC236}">
                <a16:creationId xmlns:a16="http://schemas.microsoft.com/office/drawing/2014/main" id="{5534187A-9BA3-4F3B-A7B2-C255410572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3091256"/>
              </p:ext>
            </p:extLst>
          </p:nvPr>
        </p:nvGraphicFramePr>
        <p:xfrm>
          <a:off x="3799370" y="6148388"/>
          <a:ext cx="17256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4" name="Equation" r:id="rId27" imgW="863280" imgH="152280" progId="Equation.DSMT4">
                  <p:embed/>
                </p:oleObj>
              </mc:Choice>
              <mc:Fallback>
                <p:oleObj name="Equation" r:id="rId27" imgW="863280" imgH="152280" progId="Equation.DSMT4">
                  <p:embed/>
                  <p:pic>
                    <p:nvPicPr>
                      <p:cNvPr id="22" name="オブジェクト 21">
                        <a:extLst>
                          <a:ext uri="{FF2B5EF4-FFF2-40B4-BE49-F238E27FC236}">
                            <a16:creationId xmlns:a16="http://schemas.microsoft.com/office/drawing/2014/main" id="{CA22BBCC-A335-45CE-AC4D-079893BD76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799370" y="6148388"/>
                        <a:ext cx="1725613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オブジェクト 24">
            <a:extLst>
              <a:ext uri="{FF2B5EF4-FFF2-40B4-BE49-F238E27FC236}">
                <a16:creationId xmlns:a16="http://schemas.microsoft.com/office/drawing/2014/main" id="{A480793E-6AAE-485A-B433-C5B0AEA52C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6101718"/>
              </p:ext>
            </p:extLst>
          </p:nvPr>
        </p:nvGraphicFramePr>
        <p:xfrm>
          <a:off x="6578600" y="6034162"/>
          <a:ext cx="2235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5" name="Equation" r:id="rId29" imgW="1117440" imgH="253800" progId="Equation.DSMT4">
                  <p:embed/>
                </p:oleObj>
              </mc:Choice>
              <mc:Fallback>
                <p:oleObj name="Equation" r:id="rId29" imgW="1117440" imgH="253800" progId="Equation.DSMT4">
                  <p:embed/>
                  <p:pic>
                    <p:nvPicPr>
                      <p:cNvPr id="23" name="オブジェクト 22">
                        <a:extLst>
                          <a:ext uri="{FF2B5EF4-FFF2-40B4-BE49-F238E27FC236}">
                            <a16:creationId xmlns:a16="http://schemas.microsoft.com/office/drawing/2014/main" id="{892650D0-AB2B-44E6-B89D-75366B7705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578600" y="6034162"/>
                        <a:ext cx="22352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FD232AF-DF4A-4C4A-94CE-49E8A728F7D6}"/>
              </a:ext>
            </a:extLst>
          </p:cNvPr>
          <p:cNvSpPr/>
          <p:nvPr/>
        </p:nvSpPr>
        <p:spPr>
          <a:xfrm>
            <a:off x="5039139" y="6138449"/>
            <a:ext cx="488191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851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B412F01-6B01-47BB-BC3F-BF7B762E46C2}"/>
              </a:ext>
            </a:extLst>
          </p:cNvPr>
          <p:cNvSpPr txBox="1"/>
          <p:nvPr/>
        </p:nvSpPr>
        <p:spPr>
          <a:xfrm>
            <a:off x="914399" y="179429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生成規則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6F9A94D-44F8-420A-800B-B748441B2FCF}"/>
              </a:ext>
            </a:extLst>
          </p:cNvPr>
          <p:cNvSpPr txBox="1"/>
          <p:nvPr/>
        </p:nvSpPr>
        <p:spPr>
          <a:xfrm>
            <a:off x="1977585" y="2379130"/>
            <a:ext cx="4480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分枝シンボルに関する生成規則</a:t>
            </a:r>
            <a:endParaRPr lang="en-US" altLang="ja-JP" sz="2400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87B802B-98FA-4C9A-A7FD-D57122CE762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dirty="0"/>
              <a:t>SELFIES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3CBD854-8815-4085-9E6E-C29D9F95DF71}"/>
              </a:ext>
            </a:extLst>
          </p:cNvPr>
          <p:cNvSpPr txBox="1"/>
          <p:nvPr/>
        </p:nvSpPr>
        <p:spPr>
          <a:xfrm>
            <a:off x="2701485" y="290241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前提</a:t>
            </a:r>
            <a:endParaRPr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58552D2-18F9-4ACC-8DEE-14E8EC555830}"/>
              </a:ext>
            </a:extLst>
          </p:cNvPr>
          <p:cNvSpPr txBox="1"/>
          <p:nvPr/>
        </p:nvSpPr>
        <p:spPr>
          <a:xfrm>
            <a:off x="3387285" y="2902410"/>
            <a:ext cx="5456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: </a:t>
            </a:r>
            <a:r>
              <a:rPr lang="ja-JP" altLang="en-US" sz="2400" dirty="0"/>
              <a:t>非終端記号の結合次数が合計で</a:t>
            </a:r>
            <a:r>
              <a:rPr lang="en-US" altLang="ja-JP" sz="2400" dirty="0"/>
              <a:t>2</a:t>
            </a:r>
            <a:r>
              <a:rPr lang="ja-JP" altLang="en-US" sz="2400" dirty="0"/>
              <a:t>以上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2C0F121-ECF7-4D84-BAFB-6EEAC2F4185E}"/>
              </a:ext>
            </a:extLst>
          </p:cNvPr>
          <p:cNvSpPr txBox="1"/>
          <p:nvPr/>
        </p:nvSpPr>
        <p:spPr>
          <a:xfrm>
            <a:off x="4015935" y="3364075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側鎖のための結合次数</a:t>
            </a:r>
            <a:endParaRPr lang="en-US" altLang="ja-JP" sz="2400" dirty="0"/>
          </a:p>
        </p:txBody>
      </p:sp>
      <p:graphicFrame>
        <p:nvGraphicFramePr>
          <p:cNvPr id="8" name="オブジェクト 7">
            <a:extLst>
              <a:ext uri="{FF2B5EF4-FFF2-40B4-BE49-F238E27FC236}">
                <a16:creationId xmlns:a16="http://schemas.microsoft.com/office/drawing/2014/main" id="{7D6BBDF9-2D40-4865-BE18-141A0BC84D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8413498"/>
              </p:ext>
            </p:extLst>
          </p:nvPr>
        </p:nvGraphicFramePr>
        <p:xfrm>
          <a:off x="7381875" y="3341688"/>
          <a:ext cx="1447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5" name="Equation" r:id="rId3" imgW="723600" imgH="253800" progId="Equation.DSMT4">
                  <p:embed/>
                </p:oleObj>
              </mc:Choice>
              <mc:Fallback>
                <p:oleObj name="Equation" r:id="rId3" imgW="723600" imgH="253800" progId="Equation.DSMT4">
                  <p:embed/>
                  <p:pic>
                    <p:nvPicPr>
                      <p:cNvPr id="6" name="オブジェクト 5">
                        <a:extLst>
                          <a:ext uri="{FF2B5EF4-FFF2-40B4-BE49-F238E27FC236}">
                            <a16:creationId xmlns:a16="http://schemas.microsoft.com/office/drawing/2014/main" id="{91F7DDD3-98BE-42BA-B508-57338CAA12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81875" y="3341688"/>
                        <a:ext cx="14478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442230C-8873-40BD-B03C-38F90B48D8EB}"/>
              </a:ext>
            </a:extLst>
          </p:cNvPr>
          <p:cNvSpPr txBox="1"/>
          <p:nvPr/>
        </p:nvSpPr>
        <p:spPr>
          <a:xfrm>
            <a:off x="4015935" y="3821684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側鎖の長さを表すパラメータ</a:t>
            </a:r>
            <a:endParaRPr lang="en-US" altLang="ja-JP" sz="2400" dirty="0"/>
          </a:p>
        </p:txBody>
      </p:sp>
      <p:graphicFrame>
        <p:nvGraphicFramePr>
          <p:cNvPr id="10" name="オブジェクト 9">
            <a:extLst>
              <a:ext uri="{FF2B5EF4-FFF2-40B4-BE49-F238E27FC236}">
                <a16:creationId xmlns:a16="http://schemas.microsoft.com/office/drawing/2014/main" id="{154CE02C-B994-43B0-B77B-17B9F70787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0746444"/>
              </p:ext>
            </p:extLst>
          </p:nvPr>
        </p:nvGraphicFramePr>
        <p:xfrm>
          <a:off x="8152565" y="3775749"/>
          <a:ext cx="96480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6" name="Equation" r:id="rId5" imgW="482400" imgH="253800" progId="Equation.DSMT4">
                  <p:embed/>
                </p:oleObj>
              </mc:Choice>
              <mc:Fallback>
                <p:oleObj name="Equation" r:id="rId5" imgW="4824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52565" y="3775749"/>
                        <a:ext cx="96480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オブジェクト 10">
            <a:extLst>
              <a:ext uri="{FF2B5EF4-FFF2-40B4-BE49-F238E27FC236}">
                <a16:creationId xmlns:a16="http://schemas.microsoft.com/office/drawing/2014/main" id="{1FD26F9E-008B-41AE-A80E-8570AB37ED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0499684"/>
              </p:ext>
            </p:extLst>
          </p:nvPr>
        </p:nvGraphicFramePr>
        <p:xfrm>
          <a:off x="3216275" y="4498975"/>
          <a:ext cx="44450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7" name="Equation" r:id="rId7" imgW="2222280" imgH="558720" progId="Equation.DSMT4">
                  <p:embed/>
                </p:oleObj>
              </mc:Choice>
              <mc:Fallback>
                <p:oleObj name="Equation" r:id="rId7" imgW="2222280" imgH="558720" progId="Equation.DSMT4">
                  <p:embed/>
                  <p:pic>
                    <p:nvPicPr>
                      <p:cNvPr id="5" name="オブジェクト 4">
                        <a:extLst>
                          <a:ext uri="{FF2B5EF4-FFF2-40B4-BE49-F238E27FC236}">
                            <a16:creationId xmlns:a16="http://schemas.microsoft.com/office/drawing/2014/main" id="{AF19A80D-8F92-489F-90E8-1C34CBCD1B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16275" y="4498975"/>
                        <a:ext cx="4445000" cy="111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オブジェクト 11">
            <a:extLst>
              <a:ext uri="{FF2B5EF4-FFF2-40B4-BE49-F238E27FC236}">
                <a16:creationId xmlns:a16="http://schemas.microsoft.com/office/drawing/2014/main" id="{107D4288-108C-49BA-B78F-6F2B106C64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8637379"/>
              </p:ext>
            </p:extLst>
          </p:nvPr>
        </p:nvGraphicFramePr>
        <p:xfrm>
          <a:off x="8248650" y="4498975"/>
          <a:ext cx="83808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8" name="Equation" r:id="rId9" imgW="419040" imgH="203040" progId="Equation.DSMT4">
                  <p:embed/>
                </p:oleObj>
              </mc:Choice>
              <mc:Fallback>
                <p:oleObj name="Equation" r:id="rId9" imgW="4190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248650" y="4498975"/>
                        <a:ext cx="838080" cy="406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オブジェクト 12">
            <a:extLst>
              <a:ext uri="{FF2B5EF4-FFF2-40B4-BE49-F238E27FC236}">
                <a16:creationId xmlns:a16="http://schemas.microsoft.com/office/drawing/2014/main" id="{0B7C4D30-A552-409E-9038-E5096BCC84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6337975"/>
              </p:ext>
            </p:extLst>
          </p:nvPr>
        </p:nvGraphicFramePr>
        <p:xfrm>
          <a:off x="8248650" y="5057775"/>
          <a:ext cx="634320" cy="35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9" name="Equation" r:id="rId11" imgW="317160" imgH="177480" progId="Equation.DSMT4">
                  <p:embed/>
                </p:oleObj>
              </mc:Choice>
              <mc:Fallback>
                <p:oleObj name="Equation" r:id="rId11" imgW="3171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248650" y="5057775"/>
                        <a:ext cx="634320" cy="354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D4A22EA2-D9D2-4DA0-B67D-B4D7E386A4E3}"/>
              </a:ext>
            </a:extLst>
          </p:cNvPr>
          <p:cNvCxnSpPr/>
          <p:nvPr/>
        </p:nvCxnSpPr>
        <p:spPr>
          <a:xfrm flipH="1">
            <a:off x="4152900" y="5412735"/>
            <a:ext cx="93617" cy="4260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2762B1F-F4A9-40CD-A6C5-9F6DD1E39B1E}"/>
              </a:ext>
            </a:extLst>
          </p:cNvPr>
          <p:cNvSpPr txBox="1"/>
          <p:nvPr/>
        </p:nvSpPr>
        <p:spPr>
          <a:xfrm>
            <a:off x="3119827" y="588970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分枝関数</a:t>
            </a:r>
            <a:endParaRPr lang="en-US" altLang="ja-JP" sz="20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A7770D6-8A6D-4429-BC49-F5F90454A80A}"/>
              </a:ext>
            </a:extLst>
          </p:cNvPr>
          <p:cNvSpPr txBox="1"/>
          <p:nvPr/>
        </p:nvSpPr>
        <p:spPr>
          <a:xfrm>
            <a:off x="1977585" y="6289810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分枝シンボル</a:t>
            </a:r>
            <a:endParaRPr lang="en-US" altLang="ja-JP" sz="2400" dirty="0"/>
          </a:p>
        </p:txBody>
      </p:sp>
      <p:graphicFrame>
        <p:nvGraphicFramePr>
          <p:cNvPr id="19" name="オブジェクト 18">
            <a:extLst>
              <a:ext uri="{FF2B5EF4-FFF2-40B4-BE49-F238E27FC236}">
                <a16:creationId xmlns:a16="http://schemas.microsoft.com/office/drawing/2014/main" id="{0B4818A0-02B3-4D54-BA02-2CA5D62741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8016003"/>
              </p:ext>
            </p:extLst>
          </p:nvPr>
        </p:nvGraphicFramePr>
        <p:xfrm>
          <a:off x="4154488" y="6256338"/>
          <a:ext cx="11938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" name="Equation" r:id="rId13" imgW="596880" imgH="253800" progId="Equation.DSMT4">
                  <p:embed/>
                </p:oleObj>
              </mc:Choice>
              <mc:Fallback>
                <p:oleObj name="Equation" r:id="rId13" imgW="596880" imgH="253800" progId="Equation.DSMT4">
                  <p:embed/>
                  <p:pic>
                    <p:nvPicPr>
                      <p:cNvPr id="6" name="オブジェクト 5">
                        <a:extLst>
                          <a:ext uri="{FF2B5EF4-FFF2-40B4-BE49-F238E27FC236}">
                            <a16:creationId xmlns:a16="http://schemas.microsoft.com/office/drawing/2014/main" id="{C117B4E4-3B61-4BFB-B1B3-3F9A800B11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154488" y="6256338"/>
                        <a:ext cx="1193800" cy="506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272B0EB-74AF-4B4C-9FA5-33BE5EF3E35E}"/>
              </a:ext>
            </a:extLst>
          </p:cNvPr>
          <p:cNvSpPr txBox="1"/>
          <p:nvPr/>
        </p:nvSpPr>
        <p:spPr>
          <a:xfrm>
            <a:off x="5546327" y="6289809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側鎖の結合次数</a:t>
            </a:r>
            <a:endParaRPr lang="en-US" altLang="ja-JP" sz="2400" dirty="0"/>
          </a:p>
        </p:txBody>
      </p:sp>
      <p:graphicFrame>
        <p:nvGraphicFramePr>
          <p:cNvPr id="21" name="オブジェクト 20">
            <a:extLst>
              <a:ext uri="{FF2B5EF4-FFF2-40B4-BE49-F238E27FC236}">
                <a16:creationId xmlns:a16="http://schemas.microsoft.com/office/drawing/2014/main" id="{B81C83F4-819B-43E2-8660-FFB7A37146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2788285"/>
              </p:ext>
            </p:extLst>
          </p:nvPr>
        </p:nvGraphicFramePr>
        <p:xfrm>
          <a:off x="7874000" y="6376988"/>
          <a:ext cx="329760" cy="27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1" name="Equation" r:id="rId15" imgW="164880" imgH="139680" progId="Equation.DSMT4">
                  <p:embed/>
                </p:oleObj>
              </mc:Choice>
              <mc:Fallback>
                <p:oleObj name="Equation" r:id="rId15" imgW="16488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874000" y="6376988"/>
                        <a:ext cx="329760" cy="2793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50A8C94-2AE3-4795-9F05-63E83915FCD7}"/>
              </a:ext>
            </a:extLst>
          </p:cNvPr>
          <p:cNvSpPr txBox="1"/>
          <p:nvPr/>
        </p:nvSpPr>
        <p:spPr>
          <a:xfrm>
            <a:off x="8293653" y="629968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長さ</a:t>
            </a:r>
            <a:endParaRPr lang="en-US" altLang="ja-JP" sz="2400" dirty="0"/>
          </a:p>
        </p:txBody>
      </p:sp>
      <p:graphicFrame>
        <p:nvGraphicFramePr>
          <p:cNvPr id="23" name="オブジェクト 22">
            <a:extLst>
              <a:ext uri="{FF2B5EF4-FFF2-40B4-BE49-F238E27FC236}">
                <a16:creationId xmlns:a16="http://schemas.microsoft.com/office/drawing/2014/main" id="{A075380A-1EFA-4C51-A37A-FD03BBFD6E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4752908"/>
              </p:ext>
            </p:extLst>
          </p:nvPr>
        </p:nvGraphicFramePr>
        <p:xfrm>
          <a:off x="8997950" y="6303963"/>
          <a:ext cx="685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2" name="Equation" r:id="rId17" imgW="342720" imgH="203040" progId="Equation.DSMT4">
                  <p:embed/>
                </p:oleObj>
              </mc:Choice>
              <mc:Fallback>
                <p:oleObj name="Equation" r:id="rId17" imgW="342720" imgH="203040" progId="Equation.DSMT4">
                  <p:embed/>
                  <p:pic>
                    <p:nvPicPr>
                      <p:cNvPr id="10" name="オブジェクト 9">
                        <a:extLst>
                          <a:ext uri="{FF2B5EF4-FFF2-40B4-BE49-F238E27FC236}">
                            <a16:creationId xmlns:a16="http://schemas.microsoft.com/office/drawing/2014/main" id="{154CE02C-B994-43B0-B77B-17B9F70787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997950" y="6303963"/>
                        <a:ext cx="685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2089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E6B6F44-54EF-430B-97C4-D87C365C54E3}"/>
              </a:ext>
            </a:extLst>
          </p:cNvPr>
          <p:cNvSpPr txBox="1"/>
          <p:nvPr/>
        </p:nvSpPr>
        <p:spPr>
          <a:xfrm>
            <a:off x="914399" y="179429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生成規則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C069576-B0BA-40E4-B8EE-2273AA6879E8}"/>
              </a:ext>
            </a:extLst>
          </p:cNvPr>
          <p:cNvSpPr txBox="1"/>
          <p:nvPr/>
        </p:nvSpPr>
        <p:spPr>
          <a:xfrm>
            <a:off x="1977585" y="2379130"/>
            <a:ext cx="4480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分枝シンボルに関する生成規則</a:t>
            </a:r>
            <a:endParaRPr lang="en-US" altLang="ja-JP" sz="2400" dirty="0"/>
          </a:p>
        </p:txBody>
      </p:sp>
      <p:graphicFrame>
        <p:nvGraphicFramePr>
          <p:cNvPr id="4" name="オブジェクト 3">
            <a:extLst>
              <a:ext uri="{FF2B5EF4-FFF2-40B4-BE49-F238E27FC236}">
                <a16:creationId xmlns:a16="http://schemas.microsoft.com/office/drawing/2014/main" id="{964DCBC1-DC11-4130-86F7-586AB9F4E5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0261638"/>
              </p:ext>
            </p:extLst>
          </p:nvPr>
        </p:nvGraphicFramePr>
        <p:xfrm>
          <a:off x="3216275" y="2870200"/>
          <a:ext cx="44450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7" name="Equation" r:id="rId4" imgW="2222280" imgH="558720" progId="Equation.DSMT4">
                  <p:embed/>
                </p:oleObj>
              </mc:Choice>
              <mc:Fallback>
                <p:oleObj name="Equation" r:id="rId4" imgW="2222280" imgH="558720" progId="Equation.DSMT4">
                  <p:embed/>
                  <p:pic>
                    <p:nvPicPr>
                      <p:cNvPr id="11" name="オブジェクト 10">
                        <a:extLst>
                          <a:ext uri="{FF2B5EF4-FFF2-40B4-BE49-F238E27FC236}">
                            <a16:creationId xmlns:a16="http://schemas.microsoft.com/office/drawing/2014/main" id="{1FD26F9E-008B-41AE-A80E-8570AB37ED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16275" y="2870200"/>
                        <a:ext cx="4445000" cy="111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オブジェクト 4">
            <a:extLst>
              <a:ext uri="{FF2B5EF4-FFF2-40B4-BE49-F238E27FC236}">
                <a16:creationId xmlns:a16="http://schemas.microsoft.com/office/drawing/2014/main" id="{187232E4-071D-4F71-9BE9-B6FBEA8104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829795"/>
              </p:ext>
            </p:extLst>
          </p:nvPr>
        </p:nvGraphicFramePr>
        <p:xfrm>
          <a:off x="8248650" y="2870200"/>
          <a:ext cx="83808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8" name="Equation" r:id="rId6" imgW="419040" imgH="203040" progId="Equation.DSMT4">
                  <p:embed/>
                </p:oleObj>
              </mc:Choice>
              <mc:Fallback>
                <p:oleObj name="Equation" r:id="rId6" imgW="419040" imgH="203040" progId="Equation.DSMT4">
                  <p:embed/>
                  <p:pic>
                    <p:nvPicPr>
                      <p:cNvPr id="12" name="オブジェクト 11">
                        <a:extLst>
                          <a:ext uri="{FF2B5EF4-FFF2-40B4-BE49-F238E27FC236}">
                            <a16:creationId xmlns:a16="http://schemas.microsoft.com/office/drawing/2014/main" id="{107D4288-108C-49BA-B78F-6F2B106C64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248650" y="2870200"/>
                        <a:ext cx="838080" cy="406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オブジェクト 5">
            <a:extLst>
              <a:ext uri="{FF2B5EF4-FFF2-40B4-BE49-F238E27FC236}">
                <a16:creationId xmlns:a16="http://schemas.microsoft.com/office/drawing/2014/main" id="{73CBD2A4-664E-4372-9ECA-55A9867A25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722999"/>
              </p:ext>
            </p:extLst>
          </p:nvPr>
        </p:nvGraphicFramePr>
        <p:xfrm>
          <a:off x="8248650" y="3429000"/>
          <a:ext cx="634320" cy="35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9" name="Equation" r:id="rId8" imgW="317160" imgH="177480" progId="Equation.DSMT4">
                  <p:embed/>
                </p:oleObj>
              </mc:Choice>
              <mc:Fallback>
                <p:oleObj name="Equation" r:id="rId8" imgW="317160" imgH="177480" progId="Equation.DSMT4">
                  <p:embed/>
                  <p:pic>
                    <p:nvPicPr>
                      <p:cNvPr id="13" name="オブジェクト 12">
                        <a:extLst>
                          <a:ext uri="{FF2B5EF4-FFF2-40B4-BE49-F238E27FC236}">
                            <a16:creationId xmlns:a16="http://schemas.microsoft.com/office/drawing/2014/main" id="{0B7C4D30-A552-409E-9038-E5096BCC84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248650" y="3429000"/>
                        <a:ext cx="634320" cy="354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タイトル 3">
            <a:extLst>
              <a:ext uri="{FF2B5EF4-FFF2-40B4-BE49-F238E27FC236}">
                <a16:creationId xmlns:a16="http://schemas.microsoft.com/office/drawing/2014/main" id="{E4F67E8D-EFE8-4A37-A13F-D20D7C0C0A3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dirty="0"/>
              <a:t>SELFIES</a:t>
            </a:r>
            <a:endParaRPr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73992B4-EF3B-4733-869A-84221BAB7505}"/>
              </a:ext>
            </a:extLst>
          </p:cNvPr>
          <p:cNvSpPr txBox="1"/>
          <p:nvPr/>
        </p:nvSpPr>
        <p:spPr>
          <a:xfrm>
            <a:off x="2712465" y="4047952"/>
            <a:ext cx="675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ex. </a:t>
            </a:r>
          </a:p>
        </p:txBody>
      </p:sp>
      <p:graphicFrame>
        <p:nvGraphicFramePr>
          <p:cNvPr id="9" name="オブジェクト 8">
            <a:extLst>
              <a:ext uri="{FF2B5EF4-FFF2-40B4-BE49-F238E27FC236}">
                <a16:creationId xmlns:a16="http://schemas.microsoft.com/office/drawing/2014/main" id="{F3417F61-4828-4FBB-BF8A-05E590BEC3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6226973"/>
              </p:ext>
            </p:extLst>
          </p:nvPr>
        </p:nvGraphicFramePr>
        <p:xfrm>
          <a:off x="3475038" y="4025900"/>
          <a:ext cx="25146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0" name="Equation" r:id="rId10" imgW="1257120" imgH="253800" progId="Equation.DSMT4">
                  <p:embed/>
                </p:oleObj>
              </mc:Choice>
              <mc:Fallback>
                <p:oleObj name="Equation" r:id="rId10" imgW="1257120" imgH="253800" progId="Equation.DSMT4">
                  <p:embed/>
                  <p:pic>
                    <p:nvPicPr>
                      <p:cNvPr id="9" name="オブジェクト 8">
                        <a:extLst>
                          <a:ext uri="{FF2B5EF4-FFF2-40B4-BE49-F238E27FC236}">
                            <a16:creationId xmlns:a16="http://schemas.microsoft.com/office/drawing/2014/main" id="{2D906C56-4F20-455E-980D-40315B57FE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75038" y="4025900"/>
                        <a:ext cx="2514600" cy="506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オブジェクト 9">
            <a:extLst>
              <a:ext uri="{FF2B5EF4-FFF2-40B4-BE49-F238E27FC236}">
                <a16:creationId xmlns:a16="http://schemas.microsoft.com/office/drawing/2014/main" id="{E93C7A53-4F8E-44E2-B91C-04926CC652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750076"/>
              </p:ext>
            </p:extLst>
          </p:nvPr>
        </p:nvGraphicFramePr>
        <p:xfrm>
          <a:off x="3340100" y="4595813"/>
          <a:ext cx="1371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1" name="Equation" r:id="rId12" imgW="685800" imgH="228600" progId="Equation.DSMT4">
                  <p:embed/>
                </p:oleObj>
              </mc:Choice>
              <mc:Fallback>
                <p:oleObj name="Equation" r:id="rId12" imgW="685800" imgH="228600" progId="Equation.DSMT4">
                  <p:embed/>
                  <p:pic>
                    <p:nvPicPr>
                      <p:cNvPr id="10" name="オブジェクト 9">
                        <a:extLst>
                          <a:ext uri="{FF2B5EF4-FFF2-40B4-BE49-F238E27FC236}">
                            <a16:creationId xmlns:a16="http://schemas.microsoft.com/office/drawing/2014/main" id="{8A4A6985-76D9-479A-A0DC-2BD076309D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340100" y="4595813"/>
                        <a:ext cx="13716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オブジェクト 10">
            <a:extLst>
              <a:ext uri="{FF2B5EF4-FFF2-40B4-BE49-F238E27FC236}">
                <a16:creationId xmlns:a16="http://schemas.microsoft.com/office/drawing/2014/main" id="{36BD9ED5-089B-4D20-87C3-EA376F24A9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3508923"/>
              </p:ext>
            </p:extLst>
          </p:nvPr>
        </p:nvGraphicFramePr>
        <p:xfrm>
          <a:off x="6548438" y="4575175"/>
          <a:ext cx="2209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2" name="Equation" r:id="rId14" imgW="1104840" imgH="253800" progId="Equation.DSMT4">
                  <p:embed/>
                </p:oleObj>
              </mc:Choice>
              <mc:Fallback>
                <p:oleObj name="Equation" r:id="rId14" imgW="1104840" imgH="253800" progId="Equation.DSMT4">
                  <p:embed/>
                  <p:pic>
                    <p:nvPicPr>
                      <p:cNvPr id="19" name="オブジェクト 18">
                        <a:extLst>
                          <a:ext uri="{FF2B5EF4-FFF2-40B4-BE49-F238E27FC236}">
                            <a16:creationId xmlns:a16="http://schemas.microsoft.com/office/drawing/2014/main" id="{40613039-C6B2-457A-9DD7-4CDCEC55AF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548438" y="4575175"/>
                        <a:ext cx="22098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オブジェクト 11">
            <a:extLst>
              <a:ext uri="{FF2B5EF4-FFF2-40B4-BE49-F238E27FC236}">
                <a16:creationId xmlns:a16="http://schemas.microsoft.com/office/drawing/2014/main" id="{03F1C029-C04D-4D2B-89F7-4C0AAB8DE8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934695"/>
              </p:ext>
            </p:extLst>
          </p:nvPr>
        </p:nvGraphicFramePr>
        <p:xfrm>
          <a:off x="3760788" y="5065713"/>
          <a:ext cx="2057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3" name="Equation" r:id="rId16" imgW="1028520" imgH="253800" progId="Equation.DSMT4">
                  <p:embed/>
                </p:oleObj>
              </mc:Choice>
              <mc:Fallback>
                <p:oleObj name="Equation" r:id="rId16" imgW="1028520" imgH="253800" progId="Equation.DSMT4">
                  <p:embed/>
                  <p:pic>
                    <p:nvPicPr>
                      <p:cNvPr id="20" name="オブジェクト 19">
                        <a:extLst>
                          <a:ext uri="{FF2B5EF4-FFF2-40B4-BE49-F238E27FC236}">
                            <a16:creationId xmlns:a16="http://schemas.microsoft.com/office/drawing/2014/main" id="{25BA1F4C-6175-47EE-AB6A-FCFC4E5D3A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760788" y="5065713"/>
                        <a:ext cx="20574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オブジェクト 12">
            <a:extLst>
              <a:ext uri="{FF2B5EF4-FFF2-40B4-BE49-F238E27FC236}">
                <a16:creationId xmlns:a16="http://schemas.microsoft.com/office/drawing/2014/main" id="{4DFB521F-649C-42BC-85F5-37A5E53E10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4595716"/>
              </p:ext>
            </p:extLst>
          </p:nvPr>
        </p:nvGraphicFramePr>
        <p:xfrm>
          <a:off x="6548438" y="5066113"/>
          <a:ext cx="345384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4" name="Equation" r:id="rId18" imgW="1726920" imgH="253800" progId="Equation.DSMT4">
                  <p:embed/>
                </p:oleObj>
              </mc:Choice>
              <mc:Fallback>
                <p:oleObj name="Equation" r:id="rId18" imgW="17269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548438" y="5066113"/>
                        <a:ext cx="345384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オブジェクト 13">
            <a:extLst>
              <a:ext uri="{FF2B5EF4-FFF2-40B4-BE49-F238E27FC236}">
                <a16:creationId xmlns:a16="http://schemas.microsoft.com/office/drawing/2014/main" id="{FFA8AE83-E745-450F-A440-A6034C2DAB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7070565"/>
              </p:ext>
            </p:extLst>
          </p:nvPr>
        </p:nvGraphicFramePr>
        <p:xfrm>
          <a:off x="3760788" y="5573713"/>
          <a:ext cx="187920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5" name="Equation" r:id="rId20" imgW="939600" imgH="253800" progId="Equation.DSMT4">
                  <p:embed/>
                </p:oleObj>
              </mc:Choice>
              <mc:Fallback>
                <p:oleObj name="Equation" r:id="rId20" imgW="9396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760788" y="5573713"/>
                        <a:ext cx="187920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オブジェクト 14">
            <a:extLst>
              <a:ext uri="{FF2B5EF4-FFF2-40B4-BE49-F238E27FC236}">
                <a16:creationId xmlns:a16="http://schemas.microsoft.com/office/drawing/2014/main" id="{9DF1EFB4-3AB8-490B-8C3F-E716C9DA2E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0900915"/>
              </p:ext>
            </p:extLst>
          </p:nvPr>
        </p:nvGraphicFramePr>
        <p:xfrm>
          <a:off x="3772100" y="6030913"/>
          <a:ext cx="187920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6" name="Equation" r:id="rId22" imgW="939600" imgH="253800" progId="Equation.DSMT4">
                  <p:embed/>
                </p:oleObj>
              </mc:Choice>
              <mc:Fallback>
                <p:oleObj name="Equation" r:id="rId22" imgW="9396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772100" y="6030913"/>
                        <a:ext cx="187920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30C96ED-1B9C-4408-BF9F-3E0106C8F9C9}"/>
              </a:ext>
            </a:extLst>
          </p:cNvPr>
          <p:cNvSpPr txBox="1"/>
          <p:nvPr/>
        </p:nvSpPr>
        <p:spPr>
          <a:xfrm>
            <a:off x="6225735" y="6029646"/>
            <a:ext cx="1935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SMILES</a:t>
            </a:r>
            <a:r>
              <a:rPr lang="ja-JP" altLang="en-US" sz="2400" dirty="0"/>
              <a:t>だと</a:t>
            </a:r>
            <a:endParaRPr lang="en-US" altLang="ja-JP" sz="2400" dirty="0"/>
          </a:p>
        </p:txBody>
      </p:sp>
      <p:graphicFrame>
        <p:nvGraphicFramePr>
          <p:cNvPr id="17" name="オブジェクト 16">
            <a:extLst>
              <a:ext uri="{FF2B5EF4-FFF2-40B4-BE49-F238E27FC236}">
                <a16:creationId xmlns:a16="http://schemas.microsoft.com/office/drawing/2014/main" id="{79BA93B3-06CC-422D-8048-A24DC513D3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6393879"/>
              </p:ext>
            </p:extLst>
          </p:nvPr>
        </p:nvGraphicFramePr>
        <p:xfrm>
          <a:off x="8134530" y="6006678"/>
          <a:ext cx="106632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7" name="Equation" r:id="rId24" imgW="533160" imgH="253800" progId="Equation.DSMT4">
                  <p:embed/>
                </p:oleObj>
              </mc:Choice>
              <mc:Fallback>
                <p:oleObj name="Equation" r:id="rId24" imgW="5331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8134530" y="6006678"/>
                        <a:ext cx="106632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05699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6F3C7F1-0E0E-45A3-BA98-C1C8ADC02F9F}"/>
              </a:ext>
            </a:extLst>
          </p:cNvPr>
          <p:cNvSpPr txBox="1"/>
          <p:nvPr/>
        </p:nvSpPr>
        <p:spPr>
          <a:xfrm>
            <a:off x="914399" y="179429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生成規則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432A434-FB0F-4C71-8229-B4260B5F6CAA}"/>
              </a:ext>
            </a:extLst>
          </p:cNvPr>
          <p:cNvSpPr txBox="1"/>
          <p:nvPr/>
        </p:nvSpPr>
        <p:spPr>
          <a:xfrm>
            <a:off x="1977585" y="2379130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環シンボルに関する生成規則</a:t>
            </a:r>
            <a:endParaRPr lang="en-US" altLang="ja-JP" sz="2400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CB974125-818D-4A1E-87B0-51B96C03C71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dirty="0"/>
              <a:t>SELFIES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F5B4E2-A6C6-43AE-A93E-5D658497DB1B}"/>
              </a:ext>
            </a:extLst>
          </p:cNvPr>
          <p:cNvSpPr txBox="1"/>
          <p:nvPr/>
        </p:nvSpPr>
        <p:spPr>
          <a:xfrm>
            <a:off x="2711010" y="2868775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環を閉じるときの結合次数</a:t>
            </a:r>
            <a:endParaRPr lang="en-US" altLang="ja-JP" sz="2400" dirty="0"/>
          </a:p>
        </p:txBody>
      </p:sp>
      <p:graphicFrame>
        <p:nvGraphicFramePr>
          <p:cNvPr id="6" name="オブジェクト 5">
            <a:extLst>
              <a:ext uri="{FF2B5EF4-FFF2-40B4-BE49-F238E27FC236}">
                <a16:creationId xmlns:a16="http://schemas.microsoft.com/office/drawing/2014/main" id="{AD5D7CD2-3989-414E-B9B8-894F738A7D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4722364"/>
              </p:ext>
            </p:extLst>
          </p:nvPr>
        </p:nvGraphicFramePr>
        <p:xfrm>
          <a:off x="7105650" y="2897188"/>
          <a:ext cx="304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8" name="Equation" r:id="rId3" imgW="152280" imgH="203040" progId="Equation.DSMT4">
                  <p:embed/>
                </p:oleObj>
              </mc:Choice>
              <mc:Fallback>
                <p:oleObj name="Equation" r:id="rId3" imgW="152280" imgH="203040" progId="Equation.DSMT4">
                  <p:embed/>
                  <p:pic>
                    <p:nvPicPr>
                      <p:cNvPr id="8" name="オブジェクト 7">
                        <a:extLst>
                          <a:ext uri="{FF2B5EF4-FFF2-40B4-BE49-F238E27FC236}">
                            <a16:creationId xmlns:a16="http://schemas.microsoft.com/office/drawing/2014/main" id="{7D6BBDF9-2D40-4865-BE18-141A0BC84D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05650" y="2897188"/>
                        <a:ext cx="304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34284D2-79B1-4DB0-ABF9-9E665E0A1136}"/>
              </a:ext>
            </a:extLst>
          </p:cNvPr>
          <p:cNvSpPr txBox="1"/>
          <p:nvPr/>
        </p:nvSpPr>
        <p:spPr>
          <a:xfrm>
            <a:off x="2711010" y="3326384"/>
            <a:ext cx="3861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環の長さを表すパラメータ</a:t>
            </a:r>
            <a:endParaRPr lang="en-US" altLang="ja-JP" sz="2400" dirty="0"/>
          </a:p>
        </p:txBody>
      </p:sp>
      <p:graphicFrame>
        <p:nvGraphicFramePr>
          <p:cNvPr id="8" name="オブジェクト 7">
            <a:extLst>
              <a:ext uri="{FF2B5EF4-FFF2-40B4-BE49-F238E27FC236}">
                <a16:creationId xmlns:a16="http://schemas.microsoft.com/office/drawing/2014/main" id="{A9FFEADD-8051-4DB0-AB61-EFFBA067DD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3699835"/>
              </p:ext>
            </p:extLst>
          </p:nvPr>
        </p:nvGraphicFramePr>
        <p:xfrm>
          <a:off x="6847640" y="3280449"/>
          <a:ext cx="96480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9" name="Equation" r:id="rId5" imgW="482400" imgH="253800" progId="Equation.DSMT4">
                  <p:embed/>
                </p:oleObj>
              </mc:Choice>
              <mc:Fallback>
                <p:oleObj name="Equation" r:id="rId5" imgW="482400" imgH="253800" progId="Equation.DSMT4">
                  <p:embed/>
                  <p:pic>
                    <p:nvPicPr>
                      <p:cNvPr id="10" name="オブジェクト 9">
                        <a:extLst>
                          <a:ext uri="{FF2B5EF4-FFF2-40B4-BE49-F238E27FC236}">
                            <a16:creationId xmlns:a16="http://schemas.microsoft.com/office/drawing/2014/main" id="{154CE02C-B994-43B0-B77B-17B9F70787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47640" y="3280449"/>
                        <a:ext cx="96480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オブジェクト 10">
            <a:extLst>
              <a:ext uri="{FF2B5EF4-FFF2-40B4-BE49-F238E27FC236}">
                <a16:creationId xmlns:a16="http://schemas.microsoft.com/office/drawing/2014/main" id="{9067EC1C-1861-4DF3-AFC6-4A2734442A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2372098"/>
              </p:ext>
            </p:extLst>
          </p:nvPr>
        </p:nvGraphicFramePr>
        <p:xfrm>
          <a:off x="4016375" y="3997325"/>
          <a:ext cx="28448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0" name="Equation" r:id="rId7" imgW="1422360" imgH="507960" progId="Equation.DSMT4">
                  <p:embed/>
                </p:oleObj>
              </mc:Choice>
              <mc:Fallback>
                <p:oleObj name="Equation" r:id="rId7" imgW="1422360" imgH="507960" progId="Equation.DSMT4">
                  <p:embed/>
                  <p:pic>
                    <p:nvPicPr>
                      <p:cNvPr id="4" name="オブジェクト 3">
                        <a:extLst>
                          <a:ext uri="{FF2B5EF4-FFF2-40B4-BE49-F238E27FC236}">
                            <a16:creationId xmlns:a16="http://schemas.microsoft.com/office/drawing/2014/main" id="{964DCBC1-DC11-4130-86F7-586AB9F4E5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16375" y="3997325"/>
                        <a:ext cx="2844800" cy="101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オブジェクト 11">
            <a:extLst>
              <a:ext uri="{FF2B5EF4-FFF2-40B4-BE49-F238E27FC236}">
                <a16:creationId xmlns:a16="http://schemas.microsoft.com/office/drawing/2014/main" id="{661F3834-5FE1-4E96-95A1-5E7CD24C1D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3489415"/>
              </p:ext>
            </p:extLst>
          </p:nvPr>
        </p:nvGraphicFramePr>
        <p:xfrm>
          <a:off x="8264525" y="4038600"/>
          <a:ext cx="635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1" name="Equation" r:id="rId9" imgW="317160" imgH="177480" progId="Equation.DSMT4">
                  <p:embed/>
                </p:oleObj>
              </mc:Choice>
              <mc:Fallback>
                <p:oleObj name="Equation" r:id="rId9" imgW="317160" imgH="177480" progId="Equation.DSMT4">
                  <p:embed/>
                  <p:pic>
                    <p:nvPicPr>
                      <p:cNvPr id="5" name="オブジェクト 4">
                        <a:extLst>
                          <a:ext uri="{FF2B5EF4-FFF2-40B4-BE49-F238E27FC236}">
                            <a16:creationId xmlns:a16="http://schemas.microsoft.com/office/drawing/2014/main" id="{187232E4-071D-4F71-9BE9-B6FBEA8104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264525" y="4038600"/>
                        <a:ext cx="6350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オブジェクト 12">
            <a:extLst>
              <a:ext uri="{FF2B5EF4-FFF2-40B4-BE49-F238E27FC236}">
                <a16:creationId xmlns:a16="http://schemas.microsoft.com/office/drawing/2014/main" id="{E61B5065-B948-4884-9906-D21B0A49D0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387115"/>
              </p:ext>
            </p:extLst>
          </p:nvPr>
        </p:nvGraphicFramePr>
        <p:xfrm>
          <a:off x="8274050" y="4572000"/>
          <a:ext cx="584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2" name="Equation" r:id="rId11" imgW="291960" imgH="177480" progId="Equation.DSMT4">
                  <p:embed/>
                </p:oleObj>
              </mc:Choice>
              <mc:Fallback>
                <p:oleObj name="Equation" r:id="rId11" imgW="291960" imgH="177480" progId="Equation.DSMT4">
                  <p:embed/>
                  <p:pic>
                    <p:nvPicPr>
                      <p:cNvPr id="6" name="オブジェクト 5">
                        <a:extLst>
                          <a:ext uri="{FF2B5EF4-FFF2-40B4-BE49-F238E27FC236}">
                            <a16:creationId xmlns:a16="http://schemas.microsoft.com/office/drawing/2014/main" id="{73CBD2A4-664E-4372-9ECA-55A9867A2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274050" y="4572000"/>
                        <a:ext cx="584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1DF30B10-99D5-49EB-91FB-56C3289F1E99}"/>
              </a:ext>
            </a:extLst>
          </p:cNvPr>
          <p:cNvCxnSpPr/>
          <p:nvPr/>
        </p:nvCxnSpPr>
        <p:spPr>
          <a:xfrm flipH="1">
            <a:off x="4953000" y="4850760"/>
            <a:ext cx="93617" cy="4260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132EDDF-1E8B-4B9E-A6DA-2972BD93F400}"/>
              </a:ext>
            </a:extLst>
          </p:cNvPr>
          <p:cNvSpPr txBox="1"/>
          <p:nvPr/>
        </p:nvSpPr>
        <p:spPr>
          <a:xfrm>
            <a:off x="4081852" y="532772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環関数</a:t>
            </a:r>
            <a:endParaRPr lang="en-US" altLang="ja-JP" sz="20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C08A157-58C5-4AB1-8EC1-75773A4C1774}"/>
              </a:ext>
            </a:extLst>
          </p:cNvPr>
          <p:cNvSpPr txBox="1"/>
          <p:nvPr/>
        </p:nvSpPr>
        <p:spPr>
          <a:xfrm>
            <a:off x="2368110" y="579451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環シンボル</a:t>
            </a:r>
            <a:endParaRPr lang="en-US" altLang="ja-JP" sz="2400" dirty="0"/>
          </a:p>
        </p:txBody>
      </p:sp>
      <p:graphicFrame>
        <p:nvGraphicFramePr>
          <p:cNvPr id="17" name="オブジェクト 16">
            <a:extLst>
              <a:ext uri="{FF2B5EF4-FFF2-40B4-BE49-F238E27FC236}">
                <a16:creationId xmlns:a16="http://schemas.microsoft.com/office/drawing/2014/main" id="{517F525E-0FF8-432B-B81C-0CC8917543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4945308"/>
              </p:ext>
            </p:extLst>
          </p:nvPr>
        </p:nvGraphicFramePr>
        <p:xfrm>
          <a:off x="4122738" y="5761038"/>
          <a:ext cx="12192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3" name="Equation" r:id="rId13" imgW="609480" imgH="253800" progId="Equation.DSMT4">
                  <p:embed/>
                </p:oleObj>
              </mc:Choice>
              <mc:Fallback>
                <p:oleObj name="Equation" r:id="rId13" imgW="609480" imgH="253800" progId="Equation.DSMT4">
                  <p:embed/>
                  <p:pic>
                    <p:nvPicPr>
                      <p:cNvPr id="19" name="オブジェクト 18">
                        <a:extLst>
                          <a:ext uri="{FF2B5EF4-FFF2-40B4-BE49-F238E27FC236}">
                            <a16:creationId xmlns:a16="http://schemas.microsoft.com/office/drawing/2014/main" id="{0B4818A0-02B3-4D54-BA02-2CA5D62741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122738" y="5761038"/>
                        <a:ext cx="1219200" cy="506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DA173A6-5CFF-4370-AF2A-5A62187C0035}"/>
              </a:ext>
            </a:extLst>
          </p:cNvPr>
          <p:cNvSpPr txBox="1"/>
          <p:nvPr/>
        </p:nvSpPr>
        <p:spPr>
          <a:xfrm>
            <a:off x="5546327" y="579450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結合次数</a:t>
            </a:r>
            <a:endParaRPr lang="en-US" altLang="ja-JP" sz="2400" dirty="0"/>
          </a:p>
        </p:txBody>
      </p:sp>
      <p:graphicFrame>
        <p:nvGraphicFramePr>
          <p:cNvPr id="19" name="オブジェクト 18">
            <a:extLst>
              <a:ext uri="{FF2B5EF4-FFF2-40B4-BE49-F238E27FC236}">
                <a16:creationId xmlns:a16="http://schemas.microsoft.com/office/drawing/2014/main" id="{A0A40766-42E0-48EE-918E-24EBC10C01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2113454"/>
              </p:ext>
            </p:extLst>
          </p:nvPr>
        </p:nvGraphicFramePr>
        <p:xfrm>
          <a:off x="6877050" y="5818188"/>
          <a:ext cx="304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4" name="Equation" r:id="rId15" imgW="152280" imgH="203040" progId="Equation.DSMT4">
                  <p:embed/>
                </p:oleObj>
              </mc:Choice>
              <mc:Fallback>
                <p:oleObj name="Equation" r:id="rId15" imgW="152280" imgH="203040" progId="Equation.DSMT4">
                  <p:embed/>
                  <p:pic>
                    <p:nvPicPr>
                      <p:cNvPr id="21" name="オブジェクト 20">
                        <a:extLst>
                          <a:ext uri="{FF2B5EF4-FFF2-40B4-BE49-F238E27FC236}">
                            <a16:creationId xmlns:a16="http://schemas.microsoft.com/office/drawing/2014/main" id="{B81C83F4-819B-43E2-8660-FFB7A37146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877050" y="5818188"/>
                        <a:ext cx="304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F082D45-D36A-4CA1-ABCB-73A317235D09}"/>
              </a:ext>
            </a:extLst>
          </p:cNvPr>
          <p:cNvSpPr txBox="1"/>
          <p:nvPr/>
        </p:nvSpPr>
        <p:spPr>
          <a:xfrm>
            <a:off x="7303053" y="580438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長さ</a:t>
            </a:r>
            <a:endParaRPr lang="en-US" altLang="ja-JP" sz="2400" dirty="0"/>
          </a:p>
        </p:txBody>
      </p:sp>
      <p:graphicFrame>
        <p:nvGraphicFramePr>
          <p:cNvPr id="21" name="オブジェクト 20">
            <a:extLst>
              <a:ext uri="{FF2B5EF4-FFF2-40B4-BE49-F238E27FC236}">
                <a16:creationId xmlns:a16="http://schemas.microsoft.com/office/drawing/2014/main" id="{035CA9F6-CF62-4C10-8626-08EF8BFE17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9740991"/>
              </p:ext>
            </p:extLst>
          </p:nvPr>
        </p:nvGraphicFramePr>
        <p:xfrm>
          <a:off x="8007350" y="5808663"/>
          <a:ext cx="685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5" name="Equation" r:id="rId17" imgW="342720" imgH="203040" progId="Equation.DSMT4">
                  <p:embed/>
                </p:oleObj>
              </mc:Choice>
              <mc:Fallback>
                <p:oleObj name="Equation" r:id="rId17" imgW="342720" imgH="203040" progId="Equation.DSMT4">
                  <p:embed/>
                  <p:pic>
                    <p:nvPicPr>
                      <p:cNvPr id="23" name="オブジェクト 22">
                        <a:extLst>
                          <a:ext uri="{FF2B5EF4-FFF2-40B4-BE49-F238E27FC236}">
                            <a16:creationId xmlns:a16="http://schemas.microsoft.com/office/drawing/2014/main" id="{A075380A-1EFA-4C51-A37A-FD03BBFD6E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007350" y="5808663"/>
                        <a:ext cx="685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3489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48BDC56-4A42-4E67-81F9-C9833CBA2556}"/>
              </a:ext>
            </a:extLst>
          </p:cNvPr>
          <p:cNvSpPr txBox="1"/>
          <p:nvPr/>
        </p:nvSpPr>
        <p:spPr>
          <a:xfrm>
            <a:off x="914399" y="179429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生成規則</a:t>
            </a:r>
          </a:p>
        </p:txBody>
      </p:sp>
      <p:sp>
        <p:nvSpPr>
          <p:cNvPr id="3" name="タイトル 3">
            <a:extLst>
              <a:ext uri="{FF2B5EF4-FFF2-40B4-BE49-F238E27FC236}">
                <a16:creationId xmlns:a16="http://schemas.microsoft.com/office/drawing/2014/main" id="{9B251727-78B7-4C0A-902C-4231AAB970A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dirty="0"/>
              <a:t>SELFIES</a:t>
            </a:r>
            <a:endParaRPr lang="ja-JP" altLang="en-US" dirty="0"/>
          </a:p>
        </p:txBody>
      </p:sp>
      <p:graphicFrame>
        <p:nvGraphicFramePr>
          <p:cNvPr id="4" name="オブジェクト 3">
            <a:extLst>
              <a:ext uri="{FF2B5EF4-FFF2-40B4-BE49-F238E27FC236}">
                <a16:creationId xmlns:a16="http://schemas.microsoft.com/office/drawing/2014/main" id="{46298485-998B-4ADE-A2A7-13F25329B5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4959600"/>
              </p:ext>
            </p:extLst>
          </p:nvPr>
        </p:nvGraphicFramePr>
        <p:xfrm>
          <a:off x="4016375" y="2844800"/>
          <a:ext cx="28448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3" name="Equation" r:id="rId3" imgW="1422360" imgH="507960" progId="Equation.DSMT4">
                  <p:embed/>
                </p:oleObj>
              </mc:Choice>
              <mc:Fallback>
                <p:oleObj name="Equation" r:id="rId3" imgW="1422360" imgH="507960" progId="Equation.DSMT4">
                  <p:embed/>
                  <p:pic>
                    <p:nvPicPr>
                      <p:cNvPr id="11" name="オブジェクト 10">
                        <a:extLst>
                          <a:ext uri="{FF2B5EF4-FFF2-40B4-BE49-F238E27FC236}">
                            <a16:creationId xmlns:a16="http://schemas.microsoft.com/office/drawing/2014/main" id="{9067EC1C-1861-4DF3-AFC6-4A2734442A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16375" y="2844800"/>
                        <a:ext cx="2844800" cy="101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オブジェクト 4">
            <a:extLst>
              <a:ext uri="{FF2B5EF4-FFF2-40B4-BE49-F238E27FC236}">
                <a16:creationId xmlns:a16="http://schemas.microsoft.com/office/drawing/2014/main" id="{92B32D16-318E-46E9-8B5D-66EB8D094F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8259523"/>
              </p:ext>
            </p:extLst>
          </p:nvPr>
        </p:nvGraphicFramePr>
        <p:xfrm>
          <a:off x="8264525" y="2886075"/>
          <a:ext cx="635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4" name="Equation" r:id="rId5" imgW="317160" imgH="177480" progId="Equation.DSMT4">
                  <p:embed/>
                </p:oleObj>
              </mc:Choice>
              <mc:Fallback>
                <p:oleObj name="Equation" r:id="rId5" imgW="317160" imgH="177480" progId="Equation.DSMT4">
                  <p:embed/>
                  <p:pic>
                    <p:nvPicPr>
                      <p:cNvPr id="12" name="オブジェクト 11">
                        <a:extLst>
                          <a:ext uri="{FF2B5EF4-FFF2-40B4-BE49-F238E27FC236}">
                            <a16:creationId xmlns:a16="http://schemas.microsoft.com/office/drawing/2014/main" id="{661F3834-5FE1-4E96-95A1-5E7CD24C1D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64525" y="2886075"/>
                        <a:ext cx="6350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オブジェクト 5">
            <a:extLst>
              <a:ext uri="{FF2B5EF4-FFF2-40B4-BE49-F238E27FC236}">
                <a16:creationId xmlns:a16="http://schemas.microsoft.com/office/drawing/2014/main" id="{7AC9D3C4-FC58-43F6-BCF5-D2D98C711E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654869"/>
              </p:ext>
            </p:extLst>
          </p:nvPr>
        </p:nvGraphicFramePr>
        <p:xfrm>
          <a:off x="8274050" y="3419475"/>
          <a:ext cx="584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5" name="Equation" r:id="rId7" imgW="291960" imgH="177480" progId="Equation.DSMT4">
                  <p:embed/>
                </p:oleObj>
              </mc:Choice>
              <mc:Fallback>
                <p:oleObj name="Equation" r:id="rId7" imgW="291960" imgH="177480" progId="Equation.DSMT4">
                  <p:embed/>
                  <p:pic>
                    <p:nvPicPr>
                      <p:cNvPr id="13" name="オブジェクト 12">
                        <a:extLst>
                          <a:ext uri="{FF2B5EF4-FFF2-40B4-BE49-F238E27FC236}">
                            <a16:creationId xmlns:a16="http://schemas.microsoft.com/office/drawing/2014/main" id="{E61B5065-B948-4884-9906-D21B0A49D0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74050" y="3419475"/>
                        <a:ext cx="584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F5282C5-B587-452C-BA7F-6B9046E993DD}"/>
              </a:ext>
            </a:extLst>
          </p:cNvPr>
          <p:cNvSpPr txBox="1"/>
          <p:nvPr/>
        </p:nvSpPr>
        <p:spPr>
          <a:xfrm>
            <a:off x="1977585" y="2379130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環シンボルに関する生成規則</a:t>
            </a:r>
            <a:endParaRPr lang="en-US" altLang="ja-JP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FB5A4D3-62B2-4994-BE9B-EC59028D86D9}"/>
              </a:ext>
            </a:extLst>
          </p:cNvPr>
          <p:cNvSpPr txBox="1"/>
          <p:nvPr/>
        </p:nvSpPr>
        <p:spPr>
          <a:xfrm>
            <a:off x="2712465" y="3886027"/>
            <a:ext cx="675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ex. </a:t>
            </a:r>
          </a:p>
        </p:txBody>
      </p:sp>
      <p:graphicFrame>
        <p:nvGraphicFramePr>
          <p:cNvPr id="9" name="オブジェクト 8">
            <a:extLst>
              <a:ext uri="{FF2B5EF4-FFF2-40B4-BE49-F238E27FC236}">
                <a16:creationId xmlns:a16="http://schemas.microsoft.com/office/drawing/2014/main" id="{9424F7E8-31FA-419F-AB1A-02C4499D7C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4710799"/>
              </p:ext>
            </p:extLst>
          </p:nvPr>
        </p:nvGraphicFramePr>
        <p:xfrm>
          <a:off x="3348038" y="3863975"/>
          <a:ext cx="29972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6" name="Equation" r:id="rId9" imgW="1498320" imgH="253800" progId="Equation.DSMT4">
                  <p:embed/>
                </p:oleObj>
              </mc:Choice>
              <mc:Fallback>
                <p:oleObj name="Equation" r:id="rId9" imgW="1498320" imgH="253800" progId="Equation.DSMT4">
                  <p:embed/>
                  <p:pic>
                    <p:nvPicPr>
                      <p:cNvPr id="9" name="オブジェクト 8">
                        <a:extLst>
                          <a:ext uri="{FF2B5EF4-FFF2-40B4-BE49-F238E27FC236}">
                            <a16:creationId xmlns:a16="http://schemas.microsoft.com/office/drawing/2014/main" id="{F3417F61-4828-4FBB-BF8A-05E590BEC3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48038" y="3863975"/>
                        <a:ext cx="2997200" cy="506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オブジェクト 9">
            <a:extLst>
              <a:ext uri="{FF2B5EF4-FFF2-40B4-BE49-F238E27FC236}">
                <a16:creationId xmlns:a16="http://schemas.microsoft.com/office/drawing/2014/main" id="{56CFF75C-4DF3-486D-AEC7-9C5A259321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747720"/>
              </p:ext>
            </p:extLst>
          </p:nvPr>
        </p:nvGraphicFramePr>
        <p:xfrm>
          <a:off x="3892550" y="4443413"/>
          <a:ext cx="1371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7" name="Equation" r:id="rId11" imgW="685800" imgH="228600" progId="Equation.DSMT4">
                  <p:embed/>
                </p:oleObj>
              </mc:Choice>
              <mc:Fallback>
                <p:oleObj name="Equation" r:id="rId11" imgW="685800" imgH="228600" progId="Equation.DSMT4">
                  <p:embed/>
                  <p:pic>
                    <p:nvPicPr>
                      <p:cNvPr id="10" name="オブジェクト 9">
                        <a:extLst>
                          <a:ext uri="{FF2B5EF4-FFF2-40B4-BE49-F238E27FC236}">
                            <a16:creationId xmlns:a16="http://schemas.microsoft.com/office/drawing/2014/main" id="{E93C7A53-4F8E-44E2-B91C-04926CC652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92550" y="4443413"/>
                        <a:ext cx="13716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オブジェクト 10">
            <a:extLst>
              <a:ext uri="{FF2B5EF4-FFF2-40B4-BE49-F238E27FC236}">
                <a16:creationId xmlns:a16="http://schemas.microsoft.com/office/drawing/2014/main" id="{3B5F3E33-CB45-4539-98E5-29A0F5382F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0019679"/>
              </p:ext>
            </p:extLst>
          </p:nvPr>
        </p:nvGraphicFramePr>
        <p:xfrm>
          <a:off x="7100888" y="4422775"/>
          <a:ext cx="2209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8" name="Equation" r:id="rId13" imgW="1104840" imgH="253800" progId="Equation.DSMT4">
                  <p:embed/>
                </p:oleObj>
              </mc:Choice>
              <mc:Fallback>
                <p:oleObj name="Equation" r:id="rId13" imgW="1104840" imgH="253800" progId="Equation.DSMT4">
                  <p:embed/>
                  <p:pic>
                    <p:nvPicPr>
                      <p:cNvPr id="11" name="オブジェクト 10">
                        <a:extLst>
                          <a:ext uri="{FF2B5EF4-FFF2-40B4-BE49-F238E27FC236}">
                            <a16:creationId xmlns:a16="http://schemas.microsoft.com/office/drawing/2014/main" id="{36BD9ED5-089B-4D20-87C3-EA376F24A9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100888" y="4422775"/>
                        <a:ext cx="22098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オブジェクト 11">
            <a:extLst>
              <a:ext uri="{FF2B5EF4-FFF2-40B4-BE49-F238E27FC236}">
                <a16:creationId xmlns:a16="http://schemas.microsoft.com/office/drawing/2014/main" id="{31E9ED33-2801-46C2-B4D0-6426238FA8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6871467"/>
              </p:ext>
            </p:extLst>
          </p:nvPr>
        </p:nvGraphicFramePr>
        <p:xfrm>
          <a:off x="4295775" y="4937125"/>
          <a:ext cx="1117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9" name="Equation" r:id="rId15" imgW="558720" imgH="228600" progId="Equation.DSMT4">
                  <p:embed/>
                </p:oleObj>
              </mc:Choice>
              <mc:Fallback>
                <p:oleObj name="Equation" r:id="rId15" imgW="558720" imgH="228600" progId="Equation.DSMT4">
                  <p:embed/>
                  <p:pic>
                    <p:nvPicPr>
                      <p:cNvPr id="10" name="オブジェクト 9">
                        <a:extLst>
                          <a:ext uri="{FF2B5EF4-FFF2-40B4-BE49-F238E27FC236}">
                            <a16:creationId xmlns:a16="http://schemas.microsoft.com/office/drawing/2014/main" id="{56CFF75C-4DF3-486D-AEC7-9C5A259321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95775" y="4937125"/>
                        <a:ext cx="11176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オブジェクト 12">
            <a:extLst>
              <a:ext uri="{FF2B5EF4-FFF2-40B4-BE49-F238E27FC236}">
                <a16:creationId xmlns:a16="http://schemas.microsoft.com/office/drawing/2014/main" id="{0209BECC-47E9-4E49-B385-6A3060DCAB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2914572"/>
              </p:ext>
            </p:extLst>
          </p:nvPr>
        </p:nvGraphicFramePr>
        <p:xfrm>
          <a:off x="7100888" y="4916488"/>
          <a:ext cx="2209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0" name="Equation" r:id="rId17" imgW="1104840" imgH="253800" progId="Equation.DSMT4">
                  <p:embed/>
                </p:oleObj>
              </mc:Choice>
              <mc:Fallback>
                <p:oleObj name="Equation" r:id="rId17" imgW="1104840" imgH="253800" progId="Equation.DSMT4">
                  <p:embed/>
                  <p:pic>
                    <p:nvPicPr>
                      <p:cNvPr id="11" name="オブジェクト 10">
                        <a:extLst>
                          <a:ext uri="{FF2B5EF4-FFF2-40B4-BE49-F238E27FC236}">
                            <a16:creationId xmlns:a16="http://schemas.microsoft.com/office/drawing/2014/main" id="{3B5F3E33-CB45-4539-98E5-29A0F5382F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100888" y="4916488"/>
                        <a:ext cx="22098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オブジェクト 13">
            <a:extLst>
              <a:ext uri="{FF2B5EF4-FFF2-40B4-BE49-F238E27FC236}">
                <a16:creationId xmlns:a16="http://schemas.microsoft.com/office/drawing/2014/main" id="{B1914331-1ECC-4AFE-AF9C-054908680E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3919375"/>
              </p:ext>
            </p:extLst>
          </p:nvPr>
        </p:nvGraphicFramePr>
        <p:xfrm>
          <a:off x="4273550" y="5402263"/>
          <a:ext cx="1295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1" name="Equation" r:id="rId19" imgW="647640" imgH="228600" progId="Equation.DSMT4">
                  <p:embed/>
                </p:oleObj>
              </mc:Choice>
              <mc:Fallback>
                <p:oleObj name="Equation" r:id="rId19" imgW="647640" imgH="228600" progId="Equation.DSMT4">
                  <p:embed/>
                  <p:pic>
                    <p:nvPicPr>
                      <p:cNvPr id="12" name="オブジェクト 11">
                        <a:extLst>
                          <a:ext uri="{FF2B5EF4-FFF2-40B4-BE49-F238E27FC236}">
                            <a16:creationId xmlns:a16="http://schemas.microsoft.com/office/drawing/2014/main" id="{31E9ED33-2801-46C2-B4D0-6426238FA8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273550" y="5402263"/>
                        <a:ext cx="12954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オブジェクト 14">
            <a:extLst>
              <a:ext uri="{FF2B5EF4-FFF2-40B4-BE49-F238E27FC236}">
                <a16:creationId xmlns:a16="http://schemas.microsoft.com/office/drawing/2014/main" id="{5C8BD6F0-F8DD-4020-A67C-7B28A3CC2A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631154"/>
              </p:ext>
            </p:extLst>
          </p:nvPr>
        </p:nvGraphicFramePr>
        <p:xfrm>
          <a:off x="7113588" y="5381625"/>
          <a:ext cx="2184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2" name="Equation" r:id="rId21" imgW="1091880" imgH="253800" progId="Equation.DSMT4">
                  <p:embed/>
                </p:oleObj>
              </mc:Choice>
              <mc:Fallback>
                <p:oleObj name="Equation" r:id="rId21" imgW="1091880" imgH="253800" progId="Equation.DSMT4">
                  <p:embed/>
                  <p:pic>
                    <p:nvPicPr>
                      <p:cNvPr id="13" name="オブジェクト 12">
                        <a:extLst>
                          <a:ext uri="{FF2B5EF4-FFF2-40B4-BE49-F238E27FC236}">
                            <a16:creationId xmlns:a16="http://schemas.microsoft.com/office/drawing/2014/main" id="{0209BECC-47E9-4E49-B385-6A3060DCAB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113588" y="5381625"/>
                        <a:ext cx="21844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オブジェクト 15">
            <a:extLst>
              <a:ext uri="{FF2B5EF4-FFF2-40B4-BE49-F238E27FC236}">
                <a16:creationId xmlns:a16="http://schemas.microsoft.com/office/drawing/2014/main" id="{3954F49C-CF8D-4325-AF52-AA6F26CFE0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536557"/>
              </p:ext>
            </p:extLst>
          </p:nvPr>
        </p:nvGraphicFramePr>
        <p:xfrm>
          <a:off x="4295775" y="5867401"/>
          <a:ext cx="215856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3" name="Equation" r:id="rId23" imgW="1079280" imgH="253800" progId="Equation.DSMT4">
                  <p:embed/>
                </p:oleObj>
              </mc:Choice>
              <mc:Fallback>
                <p:oleObj name="Equation" r:id="rId23" imgW="10792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295775" y="5867401"/>
                        <a:ext cx="215856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オブジェクト 16">
            <a:extLst>
              <a:ext uri="{FF2B5EF4-FFF2-40B4-BE49-F238E27FC236}">
                <a16:creationId xmlns:a16="http://schemas.microsoft.com/office/drawing/2014/main" id="{5DDF8ECA-87E5-405F-AA0A-86B019219D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8395809"/>
              </p:ext>
            </p:extLst>
          </p:nvPr>
        </p:nvGraphicFramePr>
        <p:xfrm>
          <a:off x="4295775" y="6350400"/>
          <a:ext cx="200592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4" name="Equation" r:id="rId25" imgW="1002960" imgH="253800" progId="Equation.DSMT4">
                  <p:embed/>
                </p:oleObj>
              </mc:Choice>
              <mc:Fallback>
                <p:oleObj name="Equation" r:id="rId25" imgW="10029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295775" y="6350400"/>
                        <a:ext cx="200592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オブジェクト 17">
            <a:extLst>
              <a:ext uri="{FF2B5EF4-FFF2-40B4-BE49-F238E27FC236}">
                <a16:creationId xmlns:a16="http://schemas.microsoft.com/office/drawing/2014/main" id="{4DA6C6D2-321C-4C43-9B55-22B0623C08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5680550"/>
              </p:ext>
            </p:extLst>
          </p:nvPr>
        </p:nvGraphicFramePr>
        <p:xfrm>
          <a:off x="7126288" y="6340475"/>
          <a:ext cx="2209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5" name="Equation" r:id="rId27" imgW="1104840" imgH="253800" progId="Equation.DSMT4">
                  <p:embed/>
                </p:oleObj>
              </mc:Choice>
              <mc:Fallback>
                <p:oleObj name="Equation" r:id="rId27" imgW="11048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126288" y="6340475"/>
                        <a:ext cx="22098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92E4419-0C93-4432-A776-CBC1DBE4AAA9}"/>
              </a:ext>
            </a:extLst>
          </p:cNvPr>
          <p:cNvSpPr txBox="1"/>
          <p:nvPr/>
        </p:nvSpPr>
        <p:spPr>
          <a:xfrm>
            <a:off x="9418655" y="5739909"/>
            <a:ext cx="1935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SMILES</a:t>
            </a:r>
            <a:r>
              <a:rPr lang="ja-JP" altLang="en-US" sz="2400" dirty="0"/>
              <a:t>だと</a:t>
            </a:r>
            <a:endParaRPr lang="en-US" altLang="ja-JP" sz="2400" dirty="0"/>
          </a:p>
        </p:txBody>
      </p:sp>
      <p:graphicFrame>
        <p:nvGraphicFramePr>
          <p:cNvPr id="20" name="オブジェクト 19">
            <a:extLst>
              <a:ext uri="{FF2B5EF4-FFF2-40B4-BE49-F238E27FC236}">
                <a16:creationId xmlns:a16="http://schemas.microsoft.com/office/drawing/2014/main" id="{8F782FF0-2B1B-45ED-8E96-A2BD83040E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9053957"/>
              </p:ext>
            </p:extLst>
          </p:nvPr>
        </p:nvGraphicFramePr>
        <p:xfrm>
          <a:off x="10080625" y="6172200"/>
          <a:ext cx="1701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6" name="Equation" r:id="rId29" imgW="850680" imgH="164880" progId="Equation.DSMT4">
                  <p:embed/>
                </p:oleObj>
              </mc:Choice>
              <mc:Fallback>
                <p:oleObj name="Equation" r:id="rId29" imgW="850680" imgH="164880" progId="Equation.DSMT4">
                  <p:embed/>
                  <p:pic>
                    <p:nvPicPr>
                      <p:cNvPr id="17" name="オブジェクト 16">
                        <a:extLst>
                          <a:ext uri="{FF2B5EF4-FFF2-40B4-BE49-F238E27FC236}">
                            <a16:creationId xmlns:a16="http://schemas.microsoft.com/office/drawing/2014/main" id="{79BA93B3-06CC-422D-8048-A24DC513D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0080625" y="6172200"/>
                        <a:ext cx="17018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オブジェクト 22">
            <a:extLst>
              <a:ext uri="{FF2B5EF4-FFF2-40B4-BE49-F238E27FC236}">
                <a16:creationId xmlns:a16="http://schemas.microsoft.com/office/drawing/2014/main" id="{BDB51D6D-4F73-4EF9-9630-C3CA8DDAAA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4058908"/>
              </p:ext>
            </p:extLst>
          </p:nvPr>
        </p:nvGraphicFramePr>
        <p:xfrm>
          <a:off x="7435970" y="5826525"/>
          <a:ext cx="167616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7" name="Equation" r:id="rId31" imgW="838080" imgH="253800" progId="Equation.DSMT4">
                  <p:embed/>
                </p:oleObj>
              </mc:Choice>
              <mc:Fallback>
                <p:oleObj name="Equation" r:id="rId31" imgW="8380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435970" y="5826525"/>
                        <a:ext cx="167616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82176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AAB04AC-A823-414F-BA42-A8B6BB4DF28D}"/>
              </a:ext>
            </a:extLst>
          </p:cNvPr>
          <p:cNvSpPr txBox="1"/>
          <p:nvPr/>
        </p:nvSpPr>
        <p:spPr>
          <a:xfrm>
            <a:off x="914399" y="1794295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分子の特徴を量で表現</a:t>
            </a:r>
            <a:endParaRPr kumimoji="1" lang="ja-JP" altLang="en-US" sz="2800" dirty="0"/>
          </a:p>
        </p:txBody>
      </p:sp>
      <p:sp>
        <p:nvSpPr>
          <p:cNvPr id="3" name="タイトル 3">
            <a:extLst>
              <a:ext uri="{FF2B5EF4-FFF2-40B4-BE49-F238E27FC236}">
                <a16:creationId xmlns:a16="http://schemas.microsoft.com/office/drawing/2014/main" id="{9576BA17-0A04-462F-A641-650C3F97F5A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dirty="0"/>
              <a:t>分子記述子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142DBEF-40F5-47EC-B5DD-78B9675D1D34}"/>
              </a:ext>
            </a:extLst>
          </p:cNvPr>
          <p:cNvSpPr txBox="1"/>
          <p:nvPr/>
        </p:nvSpPr>
        <p:spPr>
          <a:xfrm>
            <a:off x="1977585" y="2379130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ベクトル化して表現するために必要</a:t>
            </a:r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9B7694E-9598-4C88-848B-AE887F5712AF}"/>
              </a:ext>
            </a:extLst>
          </p:cNvPr>
          <p:cNvSpPr txBox="1"/>
          <p:nvPr/>
        </p:nvSpPr>
        <p:spPr>
          <a:xfrm>
            <a:off x="1977584" y="2840795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分子量 </a:t>
            </a:r>
            <a:r>
              <a:rPr lang="en-US" altLang="ja-JP" sz="2000" dirty="0"/>
              <a:t>(molecular weight)</a:t>
            </a:r>
            <a:endParaRPr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E34AEDF-A178-41D5-A10B-D21CDD007FBF}"/>
              </a:ext>
            </a:extLst>
          </p:cNvPr>
          <p:cNvSpPr txBox="1"/>
          <p:nvPr/>
        </p:nvSpPr>
        <p:spPr>
          <a:xfrm>
            <a:off x="5997134" y="2840794"/>
            <a:ext cx="3259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環の数 </a:t>
            </a:r>
            <a:r>
              <a:rPr lang="en-US" altLang="ja-JP" sz="2000" dirty="0"/>
              <a:t>(number of rings)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8375176-BCB9-462E-8B6B-5B245B61BC36}"/>
              </a:ext>
            </a:extLst>
          </p:cNvPr>
          <p:cNvSpPr txBox="1"/>
          <p:nvPr/>
        </p:nvSpPr>
        <p:spPr>
          <a:xfrm>
            <a:off x="1977583" y="3302460"/>
            <a:ext cx="80409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オクタノール</a:t>
            </a:r>
            <a:r>
              <a:rPr lang="en-US" altLang="ja-JP" sz="2400" dirty="0"/>
              <a:t>/</a:t>
            </a:r>
            <a:r>
              <a:rPr lang="ja-JP" altLang="en-US" sz="2400" dirty="0"/>
              <a:t>水分解係数 </a:t>
            </a:r>
            <a:r>
              <a:rPr lang="en-US" altLang="ja-JP" sz="2000" dirty="0"/>
              <a:t>(octanol-water partition coefficient)</a:t>
            </a:r>
            <a:endParaRPr lang="en-US" altLang="ja-JP" sz="2400" dirty="0"/>
          </a:p>
        </p:txBody>
      </p:sp>
      <p:graphicFrame>
        <p:nvGraphicFramePr>
          <p:cNvPr id="8" name="オブジェクト 7">
            <a:extLst>
              <a:ext uri="{FF2B5EF4-FFF2-40B4-BE49-F238E27FC236}">
                <a16:creationId xmlns:a16="http://schemas.microsoft.com/office/drawing/2014/main" id="{7A34E75E-EE8B-4D24-B1CC-030CA4423C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231118"/>
              </p:ext>
            </p:extLst>
          </p:nvPr>
        </p:nvGraphicFramePr>
        <p:xfrm>
          <a:off x="3032125" y="3754600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Equation" r:id="rId3" imgW="368280" imgH="203040" progId="Equation.DSMT4">
                  <p:embed/>
                </p:oleObj>
              </mc:Choice>
              <mc:Fallback>
                <p:oleObj name="Equation" r:id="rId3" imgW="368280" imgH="203040" progId="Equation.DSMT4">
                  <p:embed/>
                  <p:pic>
                    <p:nvPicPr>
                      <p:cNvPr id="5" name="オブジェクト 4">
                        <a:extLst>
                          <a:ext uri="{FF2B5EF4-FFF2-40B4-BE49-F238E27FC236}">
                            <a16:creationId xmlns:a16="http://schemas.microsoft.com/office/drawing/2014/main" id="{92B32D16-318E-46E9-8B5D-66EB8D094F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32125" y="3754600"/>
                        <a:ext cx="736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F3D671C-FEE8-4043-81BF-5C85482C648D}"/>
              </a:ext>
            </a:extLst>
          </p:cNvPr>
          <p:cNvSpPr txBox="1"/>
          <p:nvPr/>
        </p:nvSpPr>
        <p:spPr>
          <a:xfrm>
            <a:off x="3734982" y="376264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の形で計算</a:t>
            </a:r>
            <a:endParaRPr lang="en-US" altLang="ja-JP" sz="20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CD791D1-53D3-42E9-A1D1-CE519978C6E6}"/>
              </a:ext>
            </a:extLst>
          </p:cNvPr>
          <p:cNvSpPr txBox="1"/>
          <p:nvPr/>
        </p:nvSpPr>
        <p:spPr>
          <a:xfrm>
            <a:off x="3001448" y="4211205"/>
            <a:ext cx="86485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オクタノールと水を混ぜた液体に対象部室を溶かしたときの濃度比の対数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2080633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7479D16-AE16-487B-8593-B86827BC61CD}"/>
              </a:ext>
            </a:extLst>
          </p:cNvPr>
          <p:cNvSpPr txBox="1"/>
          <p:nvPr/>
        </p:nvSpPr>
        <p:spPr>
          <a:xfrm>
            <a:off x="914399" y="1794295"/>
            <a:ext cx="4493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分子を特徴付ける別の手法</a:t>
            </a:r>
          </a:p>
        </p:txBody>
      </p:sp>
      <p:sp>
        <p:nvSpPr>
          <p:cNvPr id="3" name="タイトル 3">
            <a:extLst>
              <a:ext uri="{FF2B5EF4-FFF2-40B4-BE49-F238E27FC236}">
                <a16:creationId xmlns:a16="http://schemas.microsoft.com/office/drawing/2014/main" id="{4432B8D1-FB88-43B6-9C3E-BED6716CF08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dirty="0"/>
              <a:t>フィンガープリント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7C61494-3AB9-4071-9C7A-002933324766}"/>
              </a:ext>
            </a:extLst>
          </p:cNvPr>
          <p:cNvSpPr txBox="1"/>
          <p:nvPr/>
        </p:nvSpPr>
        <p:spPr>
          <a:xfrm>
            <a:off x="1977585" y="2379130"/>
            <a:ext cx="5346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各原子に対して識別子</a:t>
            </a:r>
            <a:r>
              <a:rPr lang="en-US" altLang="ja-JP" sz="2400" dirty="0"/>
              <a:t>(</a:t>
            </a:r>
            <a:r>
              <a:rPr lang="ja-JP" altLang="en-US" sz="2400" dirty="0"/>
              <a:t>整数値</a:t>
            </a:r>
            <a:r>
              <a:rPr lang="en-US" altLang="ja-JP" sz="2400" dirty="0"/>
              <a:t>)</a:t>
            </a:r>
            <a:r>
              <a:rPr lang="ja-JP" altLang="en-US" sz="2400" dirty="0"/>
              <a:t>を割当</a:t>
            </a:r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3837CF6-6763-4D13-B533-180C31C774F7}"/>
              </a:ext>
            </a:extLst>
          </p:cNvPr>
          <p:cNvSpPr txBox="1"/>
          <p:nvPr/>
        </p:nvSpPr>
        <p:spPr>
          <a:xfrm>
            <a:off x="8894087" y="856426"/>
            <a:ext cx="16129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(fingerprint)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CD299A2-4330-4D71-B531-8FC9365DC18B}"/>
              </a:ext>
            </a:extLst>
          </p:cNvPr>
          <p:cNvSpPr txBox="1"/>
          <p:nvPr/>
        </p:nvSpPr>
        <p:spPr>
          <a:xfrm>
            <a:off x="1977585" y="2840795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隣接する原子の識別子を用いて更新</a:t>
            </a:r>
            <a:endParaRPr lang="en-US" altLang="ja-JP" sz="2400" dirty="0"/>
          </a:p>
        </p:txBody>
      </p:sp>
      <p:sp>
        <p:nvSpPr>
          <p:cNvPr id="7" name="矢印: 下 6">
            <a:extLst>
              <a:ext uri="{FF2B5EF4-FFF2-40B4-BE49-F238E27FC236}">
                <a16:creationId xmlns:a16="http://schemas.microsoft.com/office/drawing/2014/main" id="{ED7749D7-807B-486D-98F7-ABC816054F2F}"/>
              </a:ext>
            </a:extLst>
          </p:cNvPr>
          <p:cNvSpPr/>
          <p:nvPr/>
        </p:nvSpPr>
        <p:spPr>
          <a:xfrm>
            <a:off x="4579755" y="3302460"/>
            <a:ext cx="344670" cy="593265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5BBE508-9711-4D26-91D6-54243F1FC7CD}"/>
              </a:ext>
            </a:extLst>
          </p:cNvPr>
          <p:cNvSpPr txBox="1"/>
          <p:nvPr/>
        </p:nvSpPr>
        <p:spPr>
          <a:xfrm>
            <a:off x="4924425" y="335548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繰り返し</a:t>
            </a:r>
            <a:endParaRPr lang="en-US" altLang="ja-JP" sz="20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2DD97ED-2AAF-46CE-A095-B847E6FC50B6}"/>
              </a:ext>
            </a:extLst>
          </p:cNvPr>
          <p:cNvSpPr txBox="1"/>
          <p:nvPr/>
        </p:nvSpPr>
        <p:spPr>
          <a:xfrm>
            <a:off x="2730059" y="4021895"/>
            <a:ext cx="4062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構造を</a:t>
            </a:r>
            <a:r>
              <a:rPr lang="en-US" altLang="ja-JP" sz="2400" dirty="0"/>
              <a:t>0/1</a:t>
            </a:r>
            <a:r>
              <a:rPr lang="ja-JP" altLang="en-US" sz="2400" dirty="0"/>
              <a:t>のベクトルで表現</a:t>
            </a:r>
            <a:endParaRPr lang="en-US" altLang="ja-JP" sz="2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F6DCF56-1CD0-4031-A4E0-2E3F3B7C76B3}"/>
              </a:ext>
            </a:extLst>
          </p:cNvPr>
          <p:cNvSpPr txBox="1"/>
          <p:nvPr/>
        </p:nvSpPr>
        <p:spPr>
          <a:xfrm>
            <a:off x="6408062" y="4483560"/>
            <a:ext cx="3382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(cf. [Rogers &amp; </a:t>
            </a:r>
            <a:r>
              <a:rPr lang="en-US" altLang="ja-JP" sz="2000" dirty="0" err="1"/>
              <a:t>Harn</a:t>
            </a:r>
            <a:r>
              <a:rPr lang="en-US" altLang="ja-JP" sz="2000" dirty="0"/>
              <a:t>, 2010])</a:t>
            </a:r>
          </a:p>
        </p:txBody>
      </p:sp>
    </p:spTree>
    <p:extLst>
      <p:ext uri="{BB962C8B-B14F-4D97-AF65-F5344CB8AC3E}">
        <p14:creationId xmlns:p14="http://schemas.microsoft.com/office/powerpoint/2010/main" val="1942310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1FECF46-9856-4F21-A57F-F37173C93A3C}"/>
              </a:ext>
            </a:extLst>
          </p:cNvPr>
          <p:cNvSpPr txBox="1"/>
          <p:nvPr/>
        </p:nvSpPr>
        <p:spPr>
          <a:xfrm>
            <a:off x="914399" y="1794295"/>
            <a:ext cx="45480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谷本類似度 </a:t>
            </a:r>
            <a:r>
              <a:rPr lang="en-US" altLang="ja-JP" sz="2000" dirty="0"/>
              <a:t>(</a:t>
            </a:r>
            <a:r>
              <a:rPr lang="en-US" altLang="ja-JP" sz="2000" dirty="0" err="1"/>
              <a:t>Tanimoto</a:t>
            </a:r>
            <a:r>
              <a:rPr lang="en-US" altLang="ja-JP" sz="2000" dirty="0"/>
              <a:t> similarity)</a:t>
            </a:r>
            <a:endParaRPr kumimoji="1" lang="ja-JP" altLang="en-US" sz="2800" dirty="0"/>
          </a:p>
        </p:txBody>
      </p:sp>
      <p:sp>
        <p:nvSpPr>
          <p:cNvPr id="3" name="タイトル 3">
            <a:extLst>
              <a:ext uri="{FF2B5EF4-FFF2-40B4-BE49-F238E27FC236}">
                <a16:creationId xmlns:a16="http://schemas.microsoft.com/office/drawing/2014/main" id="{55CC1029-B46B-4665-A2F7-8339EFCAAF7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dirty="0"/>
              <a:t>分子間類似度</a:t>
            </a:r>
          </a:p>
        </p:txBody>
      </p:sp>
      <p:graphicFrame>
        <p:nvGraphicFramePr>
          <p:cNvPr id="4" name="オブジェクト 3">
            <a:extLst>
              <a:ext uri="{FF2B5EF4-FFF2-40B4-BE49-F238E27FC236}">
                <a16:creationId xmlns:a16="http://schemas.microsoft.com/office/drawing/2014/main" id="{9DE8488D-6424-42AD-85B9-9CA3F0BB2D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6593929"/>
              </p:ext>
            </p:extLst>
          </p:nvPr>
        </p:nvGraphicFramePr>
        <p:xfrm>
          <a:off x="3267075" y="2730500"/>
          <a:ext cx="12954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name="Equation" r:id="rId3" imgW="647640" imgH="279360" progId="Equation.DSMT4">
                  <p:embed/>
                </p:oleObj>
              </mc:Choice>
              <mc:Fallback>
                <p:oleObj name="Equation" r:id="rId3" imgW="647640" imgH="279360" progId="Equation.DSMT4">
                  <p:embed/>
                  <p:pic>
                    <p:nvPicPr>
                      <p:cNvPr id="4" name="オブジェクト 3">
                        <a:extLst>
                          <a:ext uri="{FF2B5EF4-FFF2-40B4-BE49-F238E27FC236}">
                            <a16:creationId xmlns:a16="http://schemas.microsoft.com/office/drawing/2014/main" id="{46298485-998B-4ADE-A2A7-13F25329B5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67075" y="2730500"/>
                        <a:ext cx="1295400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2AEAD09-9694-408A-9BFC-12CA96BD8DF7}"/>
              </a:ext>
            </a:extLst>
          </p:cNvPr>
          <p:cNvCxnSpPr/>
          <p:nvPr/>
        </p:nvCxnSpPr>
        <p:spPr>
          <a:xfrm flipV="1">
            <a:off x="4524375" y="2686050"/>
            <a:ext cx="428625" cy="1714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97E789B-B891-47BA-85A7-C1D8843C6879}"/>
              </a:ext>
            </a:extLst>
          </p:cNvPr>
          <p:cNvSpPr txBox="1"/>
          <p:nvPr/>
        </p:nvSpPr>
        <p:spPr>
          <a:xfrm>
            <a:off x="4953000" y="2421122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ベクトルの次元</a:t>
            </a:r>
            <a:endParaRPr lang="en-US" altLang="ja-JP" sz="2000" dirty="0"/>
          </a:p>
        </p:txBody>
      </p:sp>
      <p:graphicFrame>
        <p:nvGraphicFramePr>
          <p:cNvPr id="8" name="オブジェクト 7">
            <a:extLst>
              <a:ext uri="{FF2B5EF4-FFF2-40B4-BE49-F238E27FC236}">
                <a16:creationId xmlns:a16="http://schemas.microsoft.com/office/drawing/2014/main" id="{F647AC0E-BD6D-49AF-A0CF-9F1ED273F5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5421697"/>
              </p:ext>
            </p:extLst>
          </p:nvPr>
        </p:nvGraphicFramePr>
        <p:xfrm>
          <a:off x="7239002" y="2730580"/>
          <a:ext cx="1295280" cy="558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name="Equation" r:id="rId5" imgW="647640" imgH="279360" progId="Equation.DSMT4">
                  <p:embed/>
                </p:oleObj>
              </mc:Choice>
              <mc:Fallback>
                <p:oleObj name="Equation" r:id="rId5" imgW="6476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39002" y="2730580"/>
                        <a:ext cx="1295280" cy="5587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オブジェクト 8">
            <a:extLst>
              <a:ext uri="{FF2B5EF4-FFF2-40B4-BE49-F238E27FC236}">
                <a16:creationId xmlns:a16="http://schemas.microsoft.com/office/drawing/2014/main" id="{6D3E6CBF-812D-4999-B995-062570A5C1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0222636"/>
              </p:ext>
            </p:extLst>
          </p:nvPr>
        </p:nvGraphicFramePr>
        <p:xfrm>
          <a:off x="3267075" y="3548105"/>
          <a:ext cx="3827736" cy="977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Equation" r:id="rId7" imgW="1739880" imgH="444240" progId="Equation.DSMT4">
                  <p:embed/>
                </p:oleObj>
              </mc:Choice>
              <mc:Fallback>
                <p:oleObj name="Equation" r:id="rId7" imgW="17398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67075" y="3548105"/>
                        <a:ext cx="3827736" cy="9773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22CF8167-88E0-4E34-AFDB-743E6871F365}"/>
              </a:ext>
            </a:extLst>
          </p:cNvPr>
          <p:cNvCxnSpPr/>
          <p:nvPr/>
        </p:nvCxnSpPr>
        <p:spPr>
          <a:xfrm flipV="1">
            <a:off x="6255438" y="3511837"/>
            <a:ext cx="857252" cy="2476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F7FD8EB-69A9-4218-B9D6-7928FB44DB69}"/>
              </a:ext>
            </a:extLst>
          </p:cNvPr>
          <p:cNvSpPr txBox="1"/>
          <p:nvPr/>
        </p:nvSpPr>
        <p:spPr>
          <a:xfrm>
            <a:off x="7181852" y="3315956"/>
            <a:ext cx="15824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intersection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CDA5639E-2BE1-4E82-B707-6C664BD64652}"/>
              </a:ext>
            </a:extLst>
          </p:cNvPr>
          <p:cNvCxnSpPr/>
          <p:nvPr/>
        </p:nvCxnSpPr>
        <p:spPr>
          <a:xfrm>
            <a:off x="4800600" y="4506383"/>
            <a:ext cx="22549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C4B47C5-9284-4C54-863E-7A71685D9C73}"/>
              </a:ext>
            </a:extLst>
          </p:cNvPr>
          <p:cNvSpPr txBox="1"/>
          <p:nvPr/>
        </p:nvSpPr>
        <p:spPr>
          <a:xfrm>
            <a:off x="5589184" y="4540822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sum</a:t>
            </a:r>
          </a:p>
        </p:txBody>
      </p:sp>
    </p:spTree>
    <p:extLst>
      <p:ext uri="{BB962C8B-B14F-4D97-AF65-F5344CB8AC3E}">
        <p14:creationId xmlns:p14="http://schemas.microsoft.com/office/powerpoint/2010/main" val="3913320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4524</TotalTime>
  <Words>851</Words>
  <Application>Microsoft Office PowerPoint</Application>
  <PresentationFormat>ワイド画面</PresentationFormat>
  <Paragraphs>210</Paragraphs>
  <Slides>25</Slides>
  <Notes>4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25</vt:i4>
      </vt:variant>
    </vt:vector>
  </HeadingPairs>
  <TitlesOfParts>
    <vt:vector size="32" baseType="lpstr">
      <vt:lpstr>游ゴシック</vt:lpstr>
      <vt:lpstr>游ゴシック Light</vt:lpstr>
      <vt:lpstr>Arial</vt:lpstr>
      <vt:lpstr>Courier New</vt:lpstr>
      <vt:lpstr>Times New Roman</vt:lpstr>
      <vt:lpstr>Office テーマ</vt:lpstr>
      <vt:lpstr>Equation</vt:lpstr>
      <vt:lpstr>人工知能特論 #12 分子データの表現</vt:lpstr>
      <vt:lpstr>分子生成モデル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ソフトウェア工学 #01 ソフトウェア工学と情報社会</dc:title>
  <dc:creator>Kouki Yonezawa</dc:creator>
  <cp:lastModifiedBy>Kouki Yonezawa</cp:lastModifiedBy>
  <cp:revision>308</cp:revision>
  <dcterms:created xsi:type="dcterms:W3CDTF">2020-04-16T16:34:06Z</dcterms:created>
  <dcterms:modified xsi:type="dcterms:W3CDTF">2025-05-16T16:55:04Z</dcterms:modified>
</cp:coreProperties>
</file>